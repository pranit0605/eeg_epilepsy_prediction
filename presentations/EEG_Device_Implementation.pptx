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7" r:id="rId2"/>
    <p:sldId id="259" r:id="rId3"/>
    <p:sldId id="260" r:id="rId4"/>
    <p:sldId id="261" r:id="rId5"/>
    <p:sldId id="262" r:id="rId6"/>
    <p:sldId id="272" r:id="rId7"/>
    <p:sldId id="263" r:id="rId8"/>
    <p:sldId id="264" r:id="rId9"/>
    <p:sldId id="273" r:id="rId10"/>
    <p:sldId id="265" r:id="rId11"/>
    <p:sldId id="266" r:id="rId12"/>
    <p:sldId id="268" r:id="rId13"/>
    <p:sldId id="275" r:id="rId14"/>
    <p:sldId id="274" r:id="rId15"/>
    <p:sldId id="270" r:id="rId16"/>
  </p:sldIdLst>
  <p:sldSz cx="18288000" cy="10287000"/>
  <p:notesSz cx="6858000" cy="9144000"/>
  <p:embeddedFontLst>
    <p:embeddedFont>
      <p:font typeface="Bitter" panose="020B0604020202020204" charset="0"/>
      <p:regular r:id="rId18"/>
    </p:embeddedFont>
    <p:embeddedFont>
      <p:font typeface="Calibri (MS)" panose="020B0604020202020204" charset="0"/>
      <p:regular r:id="rId19"/>
    </p:embeddedFont>
    <p:embeddedFont>
      <p:font typeface="Public Sans"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04" autoAdjust="0"/>
    <p:restoredTop sz="94058" autoAdjust="0"/>
  </p:normalViewPr>
  <p:slideViewPr>
    <p:cSldViewPr>
      <p:cViewPr varScale="1">
        <p:scale>
          <a:sx n="52" d="100"/>
          <a:sy n="52" d="100"/>
        </p:scale>
        <p:origin x="859"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CC0C5F-370A-4CC3-9415-7AF3D9EB43B6}" type="datetimeFigureOut">
              <a:rPr lang="en-IN" smtClean="0"/>
              <a:t>31-03-26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E86618-4FE0-44B1-B9CC-9296B1A8F94A}" type="slidenum">
              <a:rPr lang="en-IN" smtClean="0"/>
              <a:t>‹#›</a:t>
            </a:fld>
            <a:endParaRPr lang="en-IN"/>
          </a:p>
        </p:txBody>
      </p:sp>
    </p:spTree>
    <p:extLst>
      <p:ext uri="{BB962C8B-B14F-4D97-AF65-F5344CB8AC3E}">
        <p14:creationId xmlns:p14="http://schemas.microsoft.com/office/powerpoint/2010/main" val="3861736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hyperlink" Target="http://www.gov.uk.in/"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8.png"/><Relationship Id="rId5" Type="http://schemas.openxmlformats.org/officeDocument/2006/relationships/image" Target="../media/image5.svg"/><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2.png"/><Relationship Id="rId7" Type="http://schemas.openxmlformats.org/officeDocument/2006/relationships/image" Target="../media/image19.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1.jpe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epileptologie-bonn.de/"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1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27.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636" y="-2424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endParaRPr lang="en-IN"/>
          </a:p>
        </p:txBody>
      </p:sp>
      <p:grpSp>
        <p:nvGrpSpPr>
          <p:cNvPr id="3" name="Group 3"/>
          <p:cNvGrpSpPr/>
          <p:nvPr/>
        </p:nvGrpSpPr>
        <p:grpSpPr>
          <a:xfrm>
            <a:off x="1946196" y="1351923"/>
            <a:ext cx="14395608" cy="7583153"/>
            <a:chOff x="0" y="0"/>
            <a:chExt cx="2230256" cy="1174829"/>
          </a:xfrm>
        </p:grpSpPr>
        <p:sp>
          <p:nvSpPr>
            <p:cNvPr id="4" name="Freeform 4"/>
            <p:cNvSpPr/>
            <p:nvPr/>
          </p:nvSpPr>
          <p:spPr>
            <a:xfrm>
              <a:off x="0" y="0"/>
              <a:ext cx="2230256" cy="1174829"/>
            </a:xfrm>
            <a:custGeom>
              <a:avLst/>
              <a:gdLst/>
              <a:ahLst/>
              <a:cxnLst/>
              <a:rect l="l" t="t" r="r" b="b"/>
              <a:pathLst>
                <a:path w="2230256" h="1174829">
                  <a:moveTo>
                    <a:pt x="10218" y="0"/>
                  </a:moveTo>
                  <a:lnTo>
                    <a:pt x="2220038" y="0"/>
                  </a:lnTo>
                  <a:cubicBezTo>
                    <a:pt x="2225681" y="0"/>
                    <a:pt x="2230256" y="4575"/>
                    <a:pt x="2230256" y="10218"/>
                  </a:cubicBezTo>
                  <a:lnTo>
                    <a:pt x="2230256" y="1164611"/>
                  </a:lnTo>
                  <a:cubicBezTo>
                    <a:pt x="2230256" y="1167321"/>
                    <a:pt x="2229180" y="1169920"/>
                    <a:pt x="2227263" y="1171836"/>
                  </a:cubicBezTo>
                  <a:cubicBezTo>
                    <a:pt x="2225347" y="1173752"/>
                    <a:pt x="2222748" y="1174829"/>
                    <a:pt x="2220038" y="1174829"/>
                  </a:cubicBezTo>
                  <a:lnTo>
                    <a:pt x="10218" y="1174829"/>
                  </a:lnTo>
                  <a:cubicBezTo>
                    <a:pt x="4575" y="1174829"/>
                    <a:pt x="0" y="1170254"/>
                    <a:pt x="0" y="1164611"/>
                  </a:cubicBezTo>
                  <a:lnTo>
                    <a:pt x="0" y="10218"/>
                  </a:lnTo>
                  <a:cubicBezTo>
                    <a:pt x="0" y="4575"/>
                    <a:pt x="4575" y="0"/>
                    <a:pt x="10218" y="0"/>
                  </a:cubicBezTo>
                  <a:close/>
                </a:path>
              </a:pathLst>
            </a:custGeom>
            <a:blipFill>
              <a:blip r:embed="rId3">
                <a:alphaModFix amt="54000"/>
              </a:blip>
              <a:stretch>
                <a:fillRect t="-13025" b="-13025"/>
              </a:stretch>
            </a:blipFill>
          </p:spPr>
          <p:txBody>
            <a:bodyPr/>
            <a:lstStyle/>
            <a:p>
              <a:endParaRPr lang="en-IN"/>
            </a:p>
          </p:txBody>
        </p:sp>
      </p:grpSp>
      <p:sp>
        <p:nvSpPr>
          <p:cNvPr id="5" name="Freeform 5"/>
          <p:cNvSpPr/>
          <p:nvPr/>
        </p:nvSpPr>
        <p:spPr>
          <a:xfrm>
            <a:off x="1980832" y="1351922"/>
            <a:ext cx="14395608" cy="7583153"/>
          </a:xfrm>
          <a:custGeom>
            <a:avLst/>
            <a:gdLst/>
            <a:ahLst/>
            <a:cxnLst/>
            <a:rect l="l" t="t" r="r" b="b"/>
            <a:pathLst>
              <a:path w="14395608" h="7583153">
                <a:moveTo>
                  <a:pt x="0" y="0"/>
                </a:moveTo>
                <a:lnTo>
                  <a:pt x="14395608" y="0"/>
                </a:lnTo>
                <a:lnTo>
                  <a:pt x="14395608" y="7583153"/>
                </a:lnTo>
                <a:lnTo>
                  <a:pt x="0" y="7583153"/>
                </a:lnTo>
                <a:lnTo>
                  <a:pt x="0" y="0"/>
                </a:lnTo>
                <a:close/>
              </a:path>
            </a:pathLst>
          </a:custGeom>
          <a:blipFill>
            <a:blip>
              <a:alphaModFix amt="91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TextBox 6"/>
          <p:cNvSpPr txBox="1"/>
          <p:nvPr/>
        </p:nvSpPr>
        <p:spPr>
          <a:xfrm>
            <a:off x="3048000" y="4076700"/>
            <a:ext cx="13106915" cy="2428229"/>
          </a:xfrm>
          <a:prstGeom prst="rect">
            <a:avLst/>
          </a:prstGeom>
        </p:spPr>
        <p:txBody>
          <a:bodyPr wrap="square" lIns="0" tIns="0" rIns="0" bIns="0" rtlCol="0" anchor="t">
            <a:spAutoFit/>
          </a:bodyPr>
          <a:lstStyle/>
          <a:p>
            <a:pPr>
              <a:lnSpc>
                <a:spcPts val="6533"/>
              </a:lnSpc>
            </a:pPr>
            <a:r>
              <a:rPr lang="en-US" sz="6806" dirty="0">
                <a:solidFill>
                  <a:srgbClr val="F1F0EC"/>
                </a:solidFill>
                <a:latin typeface="Bitter"/>
                <a:ea typeface="Bitter"/>
                <a:cs typeface="Bitter"/>
                <a:sym typeface="Bitter"/>
              </a:rPr>
              <a:t>IDEA TITLE: </a:t>
            </a:r>
          </a:p>
          <a:p>
            <a:pPr>
              <a:lnSpc>
                <a:spcPts val="6533"/>
              </a:lnSpc>
            </a:pPr>
            <a:r>
              <a:rPr lang="en-US" sz="4000" b="1" dirty="0">
                <a:solidFill>
                  <a:schemeClr val="bg1"/>
                </a:solidFill>
                <a:latin typeface="Bitter" panose="020B0604020202020204" charset="0"/>
              </a:rPr>
              <a:t>Portable EEG-Based Device for Real-Time Epileptic Seizure Detection and Prediction</a:t>
            </a:r>
            <a:endParaRPr lang="en-US" sz="4000" b="1" dirty="0">
              <a:solidFill>
                <a:schemeClr val="bg1"/>
              </a:solidFill>
              <a:latin typeface="Bitter" panose="020B0604020202020204" charset="0"/>
              <a:ea typeface="Bitter"/>
              <a:cs typeface="Bitter"/>
              <a:sym typeface="Bit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00199" y="0"/>
            <a:ext cx="15011401"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algn="just"/>
            <a:endParaRPr lang="en-US" sz="2400" dirty="0">
              <a:latin typeface="Public Sans" panose="020B0604020202020204" charset="0"/>
            </a:endParaRPr>
          </a:p>
          <a:p>
            <a:pPr algn="just"/>
            <a:endParaRPr lang="en-US" sz="2400" dirty="0">
              <a:latin typeface="Public Sans" panose="020B0604020202020204" charset="0"/>
            </a:endParaRPr>
          </a:p>
          <a:p>
            <a:pPr marL="285750" indent="-28575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Epilepsy is a long-term, noncommunicable brain disease that affects people of all ages. </a:t>
            </a:r>
          </a:p>
          <a:p>
            <a:pPr marL="285750" indent="-28575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According to the World Health Organization, about 50 million people around the world have epilepsy.</a:t>
            </a:r>
          </a:p>
          <a:p>
            <a:pPr marL="285750" indent="-28575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estimated that up to 70% of those living with epilepsy could be free of seizures if they receive the right diagnosis and treatment.</a:t>
            </a:r>
          </a:p>
          <a:p>
            <a:pPr marL="285750" indent="-28575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latest global data from 2021 suggests that idiopathic epilepsy caused around 140,000 deaths worldwide that year. </a:t>
            </a:r>
          </a:p>
          <a:p>
            <a:pPr marL="285750" indent="-28575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Neurology Center for Epilepsy and Seizures reports that the costs specifically related to epilepsy range from $1,022 to $19,749 per year for general epilepsy populations.</a:t>
            </a:r>
          </a:p>
          <a:p>
            <a:pPr marL="285750" indent="-28575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Interpreting EEG data is difficult and lacks real-time seizure prediction, which makes it hard for patients to trust the results. It also takes neurologists a long time to make immediate interpretations.</a:t>
            </a:r>
          </a:p>
          <a:p>
            <a:pPr marL="285750" indent="-28575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Our inspiration for this project came from a conversation with a faculty member whose son faces severe epilepsy; the need for real-time monitoring became personally important to us.</a:t>
            </a:r>
            <a:endParaRPr lang="en-IN" dirty="0"/>
          </a:p>
        </p:txBody>
      </p:sp>
      <p:sp>
        <p:nvSpPr>
          <p:cNvPr id="3" name="TextBox 3"/>
          <p:cNvSpPr txBox="1"/>
          <p:nvPr/>
        </p:nvSpPr>
        <p:spPr>
          <a:xfrm>
            <a:off x="3836176" y="723900"/>
            <a:ext cx="10615648" cy="1051570"/>
          </a:xfrm>
          <a:prstGeom prst="rect">
            <a:avLst/>
          </a:prstGeom>
        </p:spPr>
        <p:txBody>
          <a:bodyPr wrap="square" lIns="0" tIns="0" rIns="0" bIns="0" rtlCol="0" anchor="t">
            <a:spAutoFit/>
          </a:bodyPr>
          <a:lstStyle/>
          <a:p>
            <a:pPr algn="ctr">
              <a:lnSpc>
                <a:spcPts val="8158"/>
              </a:lnSpc>
            </a:pPr>
            <a:r>
              <a:rPr lang="en-US" sz="8499" spc="-696" dirty="0">
                <a:solidFill>
                  <a:srgbClr val="0B4357"/>
                </a:solidFill>
                <a:latin typeface="Public Sans"/>
                <a:ea typeface="Public Sans"/>
                <a:cs typeface="Public Sans"/>
                <a:sym typeface="Public Sans"/>
              </a:rPr>
              <a:t>PROBLEM STATEMENT </a:t>
            </a:r>
          </a:p>
        </p:txBody>
      </p:sp>
      <p:grpSp>
        <p:nvGrpSpPr>
          <p:cNvPr id="6" name="Group 6"/>
          <p:cNvGrpSpPr/>
          <p:nvPr/>
        </p:nvGrpSpPr>
        <p:grpSpPr>
          <a:xfrm>
            <a:off x="-6401101" y="9334500"/>
            <a:ext cx="12802201" cy="6166777"/>
            <a:chOff x="0" y="0"/>
            <a:chExt cx="1338446" cy="644725"/>
          </a:xfrm>
        </p:grpSpPr>
        <p:sp>
          <p:nvSpPr>
            <p:cNvPr id="7" name="Freeform 7"/>
            <p:cNvSpPr/>
            <p:nvPr/>
          </p:nvSpPr>
          <p:spPr>
            <a:xfrm>
              <a:off x="0" y="0"/>
              <a:ext cx="1338447" cy="644725"/>
            </a:xfrm>
            <a:custGeom>
              <a:avLst/>
              <a:gdLst/>
              <a:ahLst/>
              <a:cxnLst/>
              <a:rect l="l" t="t" r="r" b="b"/>
              <a:pathLst>
                <a:path w="1338447" h="644725">
                  <a:moveTo>
                    <a:pt x="1338447" y="322363"/>
                  </a:moveTo>
                  <a:lnTo>
                    <a:pt x="1135247" y="644725"/>
                  </a:lnTo>
                  <a:lnTo>
                    <a:pt x="203200" y="644725"/>
                  </a:lnTo>
                  <a:lnTo>
                    <a:pt x="0" y="322363"/>
                  </a:lnTo>
                  <a:lnTo>
                    <a:pt x="203200" y="0"/>
                  </a:lnTo>
                  <a:lnTo>
                    <a:pt x="1135247" y="0"/>
                  </a:lnTo>
                  <a:lnTo>
                    <a:pt x="1338447" y="322363"/>
                  </a:lnTo>
                  <a:close/>
                </a:path>
              </a:pathLst>
            </a:custGeom>
            <a:solidFill>
              <a:srgbClr val="0A4A61"/>
            </a:solidFill>
            <a:ln w="466725" cap="sq">
              <a:solidFill>
                <a:srgbClr val="155C75"/>
              </a:solidFill>
              <a:prstDash val="solid"/>
              <a:miter/>
            </a:ln>
          </p:spPr>
          <p:txBody>
            <a:bodyPr/>
            <a:lstStyle/>
            <a:p>
              <a:endParaRPr lang="en-IN"/>
            </a:p>
          </p:txBody>
        </p:sp>
        <p:sp>
          <p:nvSpPr>
            <p:cNvPr id="8" name="TextBox 8"/>
            <p:cNvSpPr txBox="1"/>
            <p:nvPr/>
          </p:nvSpPr>
          <p:spPr>
            <a:xfrm>
              <a:off x="114300" y="-57150"/>
              <a:ext cx="1109846" cy="701875"/>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5169283" y="-3617793"/>
            <a:ext cx="6705577" cy="5017483"/>
            <a:chOff x="0" y="0"/>
            <a:chExt cx="933505" cy="698500"/>
          </a:xfrm>
        </p:grpSpPr>
        <p:sp>
          <p:nvSpPr>
            <p:cNvPr id="10" name="Freeform 10"/>
            <p:cNvSpPr/>
            <p:nvPr/>
          </p:nvSpPr>
          <p:spPr>
            <a:xfrm>
              <a:off x="0" y="0"/>
              <a:ext cx="933505" cy="698500"/>
            </a:xfrm>
            <a:custGeom>
              <a:avLst/>
              <a:gdLst/>
              <a:ahLst/>
              <a:cxnLst/>
              <a:rect l="l" t="t" r="r" b="b"/>
              <a:pathLst>
                <a:path w="933505" h="698500">
                  <a:moveTo>
                    <a:pt x="933505" y="349250"/>
                  </a:moveTo>
                  <a:lnTo>
                    <a:pt x="730305" y="698500"/>
                  </a:lnTo>
                  <a:lnTo>
                    <a:pt x="203200" y="698500"/>
                  </a:lnTo>
                  <a:lnTo>
                    <a:pt x="0" y="349250"/>
                  </a:lnTo>
                  <a:lnTo>
                    <a:pt x="203200" y="0"/>
                  </a:lnTo>
                  <a:lnTo>
                    <a:pt x="730305" y="0"/>
                  </a:lnTo>
                  <a:lnTo>
                    <a:pt x="933505" y="349250"/>
                  </a:lnTo>
                  <a:close/>
                </a:path>
              </a:pathLst>
            </a:custGeom>
            <a:solidFill>
              <a:srgbClr val="000000">
                <a:alpha val="0"/>
              </a:srgbClr>
            </a:solidFill>
            <a:ln w="114300" cap="sq">
              <a:solidFill>
                <a:srgbClr val="0A4A61"/>
              </a:solidFill>
              <a:prstDash val="solid"/>
              <a:miter/>
            </a:ln>
          </p:spPr>
          <p:txBody>
            <a:bodyPr/>
            <a:lstStyle/>
            <a:p>
              <a:endParaRPr lang="en-IN"/>
            </a:p>
          </p:txBody>
        </p:sp>
        <p:sp>
          <p:nvSpPr>
            <p:cNvPr id="11" name="TextBox 11"/>
            <p:cNvSpPr txBox="1"/>
            <p:nvPr/>
          </p:nvSpPr>
          <p:spPr>
            <a:xfrm>
              <a:off x="114300" y="-57150"/>
              <a:ext cx="704905" cy="75565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66800" y="0"/>
            <a:ext cx="15351921"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endParaRPr lang="en-US"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Over the past twenty years, research in epileptic seizure detection has shifted from traditional EEG interpretation to automated AI-based analysis. Early studies (Thurman et al., WHO) highlighted the global impact of epilepsy and the need for real-time diagnostic tools. Classical signal processing methods, such as Fourier Transform (Welch, 1967), Wavelet Transform (Subasi, 2006), and time-frequency analysis (</a:t>
            </a:r>
            <a:r>
              <a:rPr lang="en-US" sz="2200" dirty="0" err="1">
                <a:latin typeface="Times New Roman" panose="02020603050405020304" pitchFamily="18" charset="0"/>
                <a:cs typeface="Times New Roman" panose="02020603050405020304" pitchFamily="18" charset="0"/>
              </a:rPr>
              <a:t>Tzallas</a:t>
            </a:r>
            <a:r>
              <a:rPr lang="en-US" sz="2200" dirty="0">
                <a:latin typeface="Times New Roman" panose="02020603050405020304" pitchFamily="18" charset="0"/>
                <a:cs typeface="Times New Roman" panose="02020603050405020304" pitchFamily="18" charset="0"/>
              </a:rPr>
              <a:t>, 2009), provided important insights into EEG characteristics but were not adaptable for different patients.</a:t>
            </a: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Recent research (Tanveer, 2018; Sharan, 2023; Reddy, 2020) has centered on feature optimization, Hjorth parameters, and higher-order statistics to improve understanding and efficiency. Despite significant advances in algorithms, most studies still rely on offline datasets like the Bonn EEG Database. This limited clinical use, points out to a significant gap between research and practical application, which our project aims to address.</a:t>
            </a:r>
            <a:endParaRPr lang="en-IN" sz="2200" dirty="0">
              <a:latin typeface="Times New Roman" panose="02020603050405020304" pitchFamily="18" charset="0"/>
              <a:cs typeface="Times New Roman" panose="02020603050405020304" pitchFamily="18" charset="0"/>
            </a:endParaRPr>
          </a:p>
        </p:txBody>
      </p:sp>
      <p:grpSp>
        <p:nvGrpSpPr>
          <p:cNvPr id="3" name="Group 3"/>
          <p:cNvGrpSpPr/>
          <p:nvPr/>
        </p:nvGrpSpPr>
        <p:grpSpPr>
          <a:xfrm>
            <a:off x="1635937" y="-2653692"/>
            <a:ext cx="14985225" cy="4212851"/>
            <a:chOff x="0" y="0"/>
            <a:chExt cx="2484583" cy="698500"/>
          </a:xfrm>
        </p:grpSpPr>
        <p:sp>
          <p:nvSpPr>
            <p:cNvPr id="4" name="Freeform 4"/>
            <p:cNvSpPr/>
            <p:nvPr/>
          </p:nvSpPr>
          <p:spPr>
            <a:xfrm>
              <a:off x="0" y="0"/>
              <a:ext cx="2484583" cy="698500"/>
            </a:xfrm>
            <a:custGeom>
              <a:avLst/>
              <a:gdLst/>
              <a:ahLst/>
              <a:cxnLst/>
              <a:rect l="l" t="t" r="r" b="b"/>
              <a:pathLst>
                <a:path w="2484583" h="698500">
                  <a:moveTo>
                    <a:pt x="2484583" y="349250"/>
                  </a:moveTo>
                  <a:lnTo>
                    <a:pt x="2281383" y="698500"/>
                  </a:lnTo>
                  <a:lnTo>
                    <a:pt x="203200" y="698500"/>
                  </a:lnTo>
                  <a:lnTo>
                    <a:pt x="0" y="349250"/>
                  </a:lnTo>
                  <a:lnTo>
                    <a:pt x="203200" y="0"/>
                  </a:lnTo>
                  <a:lnTo>
                    <a:pt x="2281383" y="0"/>
                  </a:lnTo>
                  <a:lnTo>
                    <a:pt x="2484583" y="349250"/>
                  </a:lnTo>
                  <a:close/>
                </a:path>
              </a:pathLst>
            </a:custGeom>
            <a:solidFill>
              <a:srgbClr val="000000">
                <a:alpha val="0"/>
              </a:srgbClr>
            </a:solidFill>
            <a:ln w="114300" cap="sq">
              <a:solidFill>
                <a:srgbClr val="094256"/>
              </a:solidFill>
              <a:prstDash val="solid"/>
              <a:miter/>
            </a:ln>
          </p:spPr>
          <p:txBody>
            <a:bodyPr/>
            <a:lstStyle/>
            <a:p>
              <a:endParaRPr lang="en-IN"/>
            </a:p>
          </p:txBody>
        </p:sp>
        <p:sp>
          <p:nvSpPr>
            <p:cNvPr id="5" name="TextBox 5"/>
            <p:cNvSpPr txBox="1"/>
            <p:nvPr/>
          </p:nvSpPr>
          <p:spPr>
            <a:xfrm>
              <a:off x="114300" y="-66675"/>
              <a:ext cx="2255983" cy="765175"/>
            </a:xfrm>
            <a:prstGeom prst="rect">
              <a:avLst/>
            </a:prstGeom>
          </p:spPr>
          <p:txBody>
            <a:bodyPr lIns="50800" tIns="50800" rIns="50800" bIns="50800" rtlCol="0" anchor="ctr"/>
            <a:lstStyle/>
            <a:p>
              <a:pPr algn="ctr">
                <a:lnSpc>
                  <a:spcPts val="3359"/>
                </a:lnSpc>
              </a:pPr>
              <a:endParaRPr/>
            </a:p>
          </p:txBody>
        </p:sp>
      </p:grpSp>
      <p:grpSp>
        <p:nvGrpSpPr>
          <p:cNvPr id="6" name="Group 6"/>
          <p:cNvGrpSpPr/>
          <p:nvPr/>
        </p:nvGrpSpPr>
        <p:grpSpPr>
          <a:xfrm>
            <a:off x="3251470" y="978914"/>
            <a:ext cx="11785059" cy="1052250"/>
            <a:chOff x="0" y="0"/>
            <a:chExt cx="7823109" cy="698500"/>
          </a:xfrm>
        </p:grpSpPr>
        <p:sp>
          <p:nvSpPr>
            <p:cNvPr id="7" name="Freeform 7"/>
            <p:cNvSpPr/>
            <p:nvPr/>
          </p:nvSpPr>
          <p:spPr>
            <a:xfrm>
              <a:off x="0" y="0"/>
              <a:ext cx="7823109" cy="698500"/>
            </a:xfrm>
            <a:custGeom>
              <a:avLst/>
              <a:gdLst/>
              <a:ahLst/>
              <a:cxnLst/>
              <a:rect l="l" t="t" r="r" b="b"/>
              <a:pathLst>
                <a:path w="7823109" h="698500">
                  <a:moveTo>
                    <a:pt x="7823109" y="349250"/>
                  </a:moveTo>
                  <a:lnTo>
                    <a:pt x="7619909" y="698500"/>
                  </a:lnTo>
                  <a:lnTo>
                    <a:pt x="203200" y="698500"/>
                  </a:lnTo>
                  <a:lnTo>
                    <a:pt x="0" y="349250"/>
                  </a:lnTo>
                  <a:lnTo>
                    <a:pt x="203200" y="0"/>
                  </a:lnTo>
                  <a:lnTo>
                    <a:pt x="7619909" y="0"/>
                  </a:lnTo>
                  <a:lnTo>
                    <a:pt x="7823109" y="349250"/>
                  </a:lnTo>
                  <a:close/>
                </a:path>
              </a:pathLst>
            </a:custGeom>
            <a:solidFill>
              <a:srgbClr val="0A4A61"/>
            </a:solidFill>
          </p:spPr>
          <p:txBody>
            <a:bodyPr/>
            <a:lstStyle/>
            <a:p>
              <a:endParaRPr lang="en-IN"/>
            </a:p>
          </p:txBody>
        </p:sp>
        <p:sp>
          <p:nvSpPr>
            <p:cNvPr id="8" name="TextBox 8"/>
            <p:cNvSpPr txBox="1"/>
            <p:nvPr/>
          </p:nvSpPr>
          <p:spPr>
            <a:xfrm>
              <a:off x="114300" y="-66675"/>
              <a:ext cx="7594509" cy="765175"/>
            </a:xfrm>
            <a:prstGeom prst="rect">
              <a:avLst/>
            </a:prstGeom>
          </p:spPr>
          <p:txBody>
            <a:bodyPr lIns="50800" tIns="50800" rIns="50800" bIns="50800" rtlCol="0" anchor="ctr"/>
            <a:lstStyle/>
            <a:p>
              <a:pPr algn="ctr">
                <a:lnSpc>
                  <a:spcPts val="3359"/>
                </a:lnSpc>
              </a:pPr>
              <a:endParaRPr/>
            </a:p>
          </p:txBody>
        </p:sp>
      </p:grpSp>
      <p:sp>
        <p:nvSpPr>
          <p:cNvPr id="9" name="TextBox 9"/>
          <p:cNvSpPr txBox="1"/>
          <p:nvPr/>
        </p:nvSpPr>
        <p:spPr>
          <a:xfrm>
            <a:off x="4364611" y="1213875"/>
            <a:ext cx="9558778" cy="654025"/>
          </a:xfrm>
          <a:prstGeom prst="rect">
            <a:avLst/>
          </a:prstGeom>
        </p:spPr>
        <p:txBody>
          <a:bodyPr lIns="0" tIns="0" rIns="0" bIns="0" rtlCol="0" anchor="t">
            <a:spAutoFit/>
          </a:bodyPr>
          <a:lstStyle/>
          <a:p>
            <a:pPr algn="ctr">
              <a:lnSpc>
                <a:spcPts val="5142"/>
              </a:lnSpc>
            </a:pPr>
            <a:r>
              <a:rPr lang="en-US" sz="4400" spc="-439" dirty="0">
                <a:solidFill>
                  <a:srgbClr val="FFFFFF"/>
                </a:solidFill>
                <a:latin typeface="Public Sans"/>
                <a:ea typeface="Public Sans"/>
                <a:cs typeface="Public Sans"/>
                <a:sym typeface="Public Sans"/>
              </a:rPr>
              <a:t>LITERATURE SURVEY /  STATICS /  GRAPHS</a:t>
            </a:r>
          </a:p>
        </p:txBody>
      </p:sp>
      <p:grpSp>
        <p:nvGrpSpPr>
          <p:cNvPr id="12" name="Group 12"/>
          <p:cNvGrpSpPr/>
          <p:nvPr/>
        </p:nvGrpSpPr>
        <p:grpSpPr>
          <a:xfrm>
            <a:off x="0" y="10005872"/>
            <a:ext cx="6838016" cy="1191534"/>
            <a:chOff x="0" y="0"/>
            <a:chExt cx="4008575" cy="698500"/>
          </a:xfrm>
        </p:grpSpPr>
        <p:sp>
          <p:nvSpPr>
            <p:cNvPr id="13" name="Freeform 13"/>
            <p:cNvSpPr/>
            <p:nvPr/>
          </p:nvSpPr>
          <p:spPr>
            <a:xfrm>
              <a:off x="0" y="0"/>
              <a:ext cx="4008575" cy="698500"/>
            </a:xfrm>
            <a:custGeom>
              <a:avLst/>
              <a:gdLst/>
              <a:ahLst/>
              <a:cxnLst/>
              <a:rect l="l" t="t" r="r" b="b"/>
              <a:pathLst>
                <a:path w="4008575" h="698500">
                  <a:moveTo>
                    <a:pt x="4008575" y="349250"/>
                  </a:moveTo>
                  <a:lnTo>
                    <a:pt x="3805375" y="698500"/>
                  </a:lnTo>
                  <a:lnTo>
                    <a:pt x="203200" y="698500"/>
                  </a:lnTo>
                  <a:lnTo>
                    <a:pt x="0" y="349250"/>
                  </a:lnTo>
                  <a:lnTo>
                    <a:pt x="203200" y="0"/>
                  </a:lnTo>
                  <a:lnTo>
                    <a:pt x="3805375" y="0"/>
                  </a:lnTo>
                  <a:lnTo>
                    <a:pt x="4008575" y="349250"/>
                  </a:lnTo>
                  <a:close/>
                </a:path>
              </a:pathLst>
            </a:custGeom>
            <a:solidFill>
              <a:srgbClr val="155C75"/>
            </a:solidFill>
          </p:spPr>
          <p:txBody>
            <a:bodyPr/>
            <a:lstStyle/>
            <a:p>
              <a:endParaRPr lang="en-IN"/>
            </a:p>
          </p:txBody>
        </p:sp>
        <p:sp>
          <p:nvSpPr>
            <p:cNvPr id="14" name="TextBox 14"/>
            <p:cNvSpPr txBox="1"/>
            <p:nvPr/>
          </p:nvSpPr>
          <p:spPr>
            <a:xfrm>
              <a:off x="114300" y="-66675"/>
              <a:ext cx="3779975" cy="765175"/>
            </a:xfrm>
            <a:prstGeom prst="rect">
              <a:avLst/>
            </a:prstGeom>
          </p:spPr>
          <p:txBody>
            <a:bodyPr lIns="50800" tIns="50800" rIns="50800" bIns="50800" rtlCol="0" anchor="ctr"/>
            <a:lstStyle/>
            <a:p>
              <a:pPr algn="ctr">
                <a:lnSpc>
                  <a:spcPts val="3359"/>
                </a:lnSpc>
              </a:pPr>
              <a:endParaRPr/>
            </a:p>
          </p:txBody>
        </p:sp>
      </p:grpSp>
      <p:grpSp>
        <p:nvGrpSpPr>
          <p:cNvPr id="15" name="Group 15"/>
          <p:cNvGrpSpPr/>
          <p:nvPr/>
        </p:nvGrpSpPr>
        <p:grpSpPr>
          <a:xfrm>
            <a:off x="-2487856" y="9491521"/>
            <a:ext cx="5420981" cy="4880967"/>
            <a:chOff x="0" y="0"/>
            <a:chExt cx="775780" cy="698500"/>
          </a:xfrm>
        </p:grpSpPr>
        <p:sp>
          <p:nvSpPr>
            <p:cNvPr id="16" name="Freeform 16"/>
            <p:cNvSpPr/>
            <p:nvPr/>
          </p:nvSpPr>
          <p:spPr>
            <a:xfrm>
              <a:off x="0" y="0"/>
              <a:ext cx="775780" cy="698500"/>
            </a:xfrm>
            <a:custGeom>
              <a:avLst/>
              <a:gdLst/>
              <a:ahLst/>
              <a:cxnLst/>
              <a:rect l="l" t="t" r="r" b="b"/>
              <a:pathLst>
                <a:path w="775780" h="698500">
                  <a:moveTo>
                    <a:pt x="775780" y="349250"/>
                  </a:moveTo>
                  <a:lnTo>
                    <a:pt x="572580" y="698500"/>
                  </a:lnTo>
                  <a:lnTo>
                    <a:pt x="203200" y="698500"/>
                  </a:lnTo>
                  <a:lnTo>
                    <a:pt x="0" y="349250"/>
                  </a:lnTo>
                  <a:lnTo>
                    <a:pt x="203200" y="0"/>
                  </a:lnTo>
                  <a:lnTo>
                    <a:pt x="572580" y="0"/>
                  </a:lnTo>
                  <a:lnTo>
                    <a:pt x="775780" y="349250"/>
                  </a:lnTo>
                  <a:close/>
                </a:path>
              </a:pathLst>
            </a:custGeom>
            <a:solidFill>
              <a:srgbClr val="094256"/>
            </a:solidFill>
          </p:spPr>
          <p:txBody>
            <a:bodyPr/>
            <a:lstStyle/>
            <a:p>
              <a:endParaRPr lang="en-IN"/>
            </a:p>
          </p:txBody>
        </p:sp>
        <p:sp>
          <p:nvSpPr>
            <p:cNvPr id="17" name="TextBox 17"/>
            <p:cNvSpPr txBox="1"/>
            <p:nvPr/>
          </p:nvSpPr>
          <p:spPr>
            <a:xfrm>
              <a:off x="114300" y="-66675"/>
              <a:ext cx="547180" cy="765175"/>
            </a:xfrm>
            <a:prstGeom prst="rect">
              <a:avLst/>
            </a:prstGeom>
          </p:spPr>
          <p:txBody>
            <a:bodyPr lIns="50800" tIns="50800" rIns="50800" bIns="50800" rtlCol="0" anchor="ctr"/>
            <a:lstStyle/>
            <a:p>
              <a:pPr algn="ctr">
                <a:lnSpc>
                  <a:spcPts val="3359"/>
                </a:lnSpc>
              </a:pPr>
              <a:endParaRPr/>
            </a:p>
          </p:txBody>
        </p:sp>
      </p:grpSp>
      <p:grpSp>
        <p:nvGrpSpPr>
          <p:cNvPr id="18" name="Group 18"/>
          <p:cNvGrpSpPr/>
          <p:nvPr/>
        </p:nvGrpSpPr>
        <p:grpSpPr>
          <a:xfrm>
            <a:off x="11354628" y="10005872"/>
            <a:ext cx="6933372" cy="1191534"/>
            <a:chOff x="0" y="0"/>
            <a:chExt cx="4064474" cy="698500"/>
          </a:xfrm>
        </p:grpSpPr>
        <p:sp>
          <p:nvSpPr>
            <p:cNvPr id="19" name="Freeform 19"/>
            <p:cNvSpPr/>
            <p:nvPr/>
          </p:nvSpPr>
          <p:spPr>
            <a:xfrm>
              <a:off x="0" y="0"/>
              <a:ext cx="4064474" cy="698500"/>
            </a:xfrm>
            <a:custGeom>
              <a:avLst/>
              <a:gdLst/>
              <a:ahLst/>
              <a:cxnLst/>
              <a:rect l="l" t="t" r="r" b="b"/>
              <a:pathLst>
                <a:path w="4064474" h="698500">
                  <a:moveTo>
                    <a:pt x="4064474" y="349250"/>
                  </a:moveTo>
                  <a:lnTo>
                    <a:pt x="3861274" y="698500"/>
                  </a:lnTo>
                  <a:lnTo>
                    <a:pt x="203200" y="698500"/>
                  </a:lnTo>
                  <a:lnTo>
                    <a:pt x="0" y="349250"/>
                  </a:lnTo>
                  <a:lnTo>
                    <a:pt x="203200" y="0"/>
                  </a:lnTo>
                  <a:lnTo>
                    <a:pt x="3861274" y="0"/>
                  </a:lnTo>
                  <a:lnTo>
                    <a:pt x="4064474" y="349250"/>
                  </a:lnTo>
                  <a:close/>
                </a:path>
              </a:pathLst>
            </a:custGeom>
            <a:solidFill>
              <a:srgbClr val="0A4A61"/>
            </a:solidFill>
          </p:spPr>
          <p:txBody>
            <a:bodyPr/>
            <a:lstStyle/>
            <a:p>
              <a:endParaRPr lang="en-IN"/>
            </a:p>
          </p:txBody>
        </p:sp>
        <p:sp>
          <p:nvSpPr>
            <p:cNvPr id="20" name="TextBox 20"/>
            <p:cNvSpPr txBox="1"/>
            <p:nvPr/>
          </p:nvSpPr>
          <p:spPr>
            <a:xfrm>
              <a:off x="114300" y="-66675"/>
              <a:ext cx="3835874" cy="765175"/>
            </a:xfrm>
            <a:prstGeom prst="rect">
              <a:avLst/>
            </a:prstGeom>
          </p:spPr>
          <p:txBody>
            <a:bodyPr lIns="50800" tIns="50800" rIns="50800" bIns="50800" rtlCol="0" anchor="ctr"/>
            <a:lstStyle/>
            <a:p>
              <a:pPr algn="ctr">
                <a:lnSpc>
                  <a:spcPts val="3359"/>
                </a:lnSpc>
              </a:pPr>
              <a:endParaRPr/>
            </a:p>
          </p:txBody>
        </p:sp>
      </p:grpSp>
      <p:grpSp>
        <p:nvGrpSpPr>
          <p:cNvPr id="21" name="Group 21"/>
          <p:cNvGrpSpPr/>
          <p:nvPr/>
        </p:nvGrpSpPr>
        <p:grpSpPr>
          <a:xfrm>
            <a:off x="14821314" y="9491522"/>
            <a:ext cx="5420981" cy="4880967"/>
            <a:chOff x="0" y="0"/>
            <a:chExt cx="775780" cy="698500"/>
          </a:xfrm>
        </p:grpSpPr>
        <p:sp>
          <p:nvSpPr>
            <p:cNvPr id="22" name="Freeform 22"/>
            <p:cNvSpPr/>
            <p:nvPr/>
          </p:nvSpPr>
          <p:spPr>
            <a:xfrm>
              <a:off x="0" y="0"/>
              <a:ext cx="775780" cy="698500"/>
            </a:xfrm>
            <a:custGeom>
              <a:avLst/>
              <a:gdLst/>
              <a:ahLst/>
              <a:cxnLst/>
              <a:rect l="l" t="t" r="r" b="b"/>
              <a:pathLst>
                <a:path w="775780" h="698500">
                  <a:moveTo>
                    <a:pt x="775780" y="349250"/>
                  </a:moveTo>
                  <a:lnTo>
                    <a:pt x="572580" y="698500"/>
                  </a:lnTo>
                  <a:lnTo>
                    <a:pt x="203200" y="698500"/>
                  </a:lnTo>
                  <a:lnTo>
                    <a:pt x="0" y="349250"/>
                  </a:lnTo>
                  <a:lnTo>
                    <a:pt x="203200" y="0"/>
                  </a:lnTo>
                  <a:lnTo>
                    <a:pt x="572580" y="0"/>
                  </a:lnTo>
                  <a:lnTo>
                    <a:pt x="775780" y="349250"/>
                  </a:lnTo>
                  <a:close/>
                </a:path>
              </a:pathLst>
            </a:custGeom>
            <a:solidFill>
              <a:srgbClr val="155C75"/>
            </a:solidFill>
          </p:spPr>
          <p:txBody>
            <a:bodyPr/>
            <a:lstStyle/>
            <a:p>
              <a:endParaRPr lang="en-IN"/>
            </a:p>
          </p:txBody>
        </p:sp>
        <p:sp>
          <p:nvSpPr>
            <p:cNvPr id="23" name="TextBox 23"/>
            <p:cNvSpPr txBox="1"/>
            <p:nvPr/>
          </p:nvSpPr>
          <p:spPr>
            <a:xfrm>
              <a:off x="114300" y="-66675"/>
              <a:ext cx="547180" cy="765175"/>
            </a:xfrm>
            <a:prstGeom prst="rect">
              <a:avLst/>
            </a:prstGeom>
          </p:spPr>
          <p:txBody>
            <a:bodyPr lIns="50800" tIns="50800" rIns="50800" bIns="50800" rtlCol="0" anchor="ctr"/>
            <a:lstStyle/>
            <a:p>
              <a:pPr algn="ctr">
                <a:lnSpc>
                  <a:spcPts val="3359"/>
                </a:lnSpc>
              </a:pPr>
              <a:endParaRPr/>
            </a:p>
          </p:txBody>
        </p:sp>
      </p:grpSp>
      <p:graphicFrame>
        <p:nvGraphicFramePr>
          <p:cNvPr id="24" name="Table 23">
            <a:extLst>
              <a:ext uri="{FF2B5EF4-FFF2-40B4-BE49-F238E27FC236}">
                <a16:creationId xmlns:a16="http://schemas.microsoft.com/office/drawing/2014/main" id="{5D2637B7-CF2D-6296-138B-2892D7C8C0C2}"/>
              </a:ext>
            </a:extLst>
          </p:cNvPr>
          <p:cNvGraphicFramePr>
            <a:graphicFrameLocks noGrp="1"/>
          </p:cNvGraphicFramePr>
          <p:nvPr>
            <p:extLst>
              <p:ext uri="{D42A27DB-BD31-4B8C-83A1-F6EECF244321}">
                <p14:modId xmlns:p14="http://schemas.microsoft.com/office/powerpoint/2010/main" val="178738310"/>
              </p:ext>
            </p:extLst>
          </p:nvPr>
        </p:nvGraphicFramePr>
        <p:xfrm>
          <a:off x="1219200" y="5722546"/>
          <a:ext cx="12315165" cy="3866190"/>
        </p:xfrm>
        <a:graphic>
          <a:graphicData uri="http://schemas.openxmlformats.org/drawingml/2006/table">
            <a:tbl>
              <a:tblPr firstRow="1" bandRow="1">
                <a:tableStyleId>{5C22544A-7EE6-4342-B048-85BDC9FD1C3A}</a:tableStyleId>
              </a:tblPr>
              <a:tblGrid>
                <a:gridCol w="2908167">
                  <a:extLst>
                    <a:ext uri="{9D8B030D-6E8A-4147-A177-3AD203B41FA5}">
                      <a16:colId xmlns:a16="http://schemas.microsoft.com/office/drawing/2014/main" val="1964744368"/>
                    </a:ext>
                  </a:extLst>
                </a:gridCol>
                <a:gridCol w="3135666">
                  <a:extLst>
                    <a:ext uri="{9D8B030D-6E8A-4147-A177-3AD203B41FA5}">
                      <a16:colId xmlns:a16="http://schemas.microsoft.com/office/drawing/2014/main" val="3076585174"/>
                    </a:ext>
                  </a:extLst>
                </a:gridCol>
                <a:gridCol w="3135666">
                  <a:extLst>
                    <a:ext uri="{9D8B030D-6E8A-4147-A177-3AD203B41FA5}">
                      <a16:colId xmlns:a16="http://schemas.microsoft.com/office/drawing/2014/main" val="3351639852"/>
                    </a:ext>
                  </a:extLst>
                </a:gridCol>
                <a:gridCol w="3135666">
                  <a:extLst>
                    <a:ext uri="{9D8B030D-6E8A-4147-A177-3AD203B41FA5}">
                      <a16:colId xmlns:a16="http://schemas.microsoft.com/office/drawing/2014/main" val="2728324132"/>
                    </a:ext>
                  </a:extLst>
                </a:gridCol>
              </a:tblGrid>
              <a:tr h="535494">
                <a:tc>
                  <a:txBody>
                    <a:bodyPr/>
                    <a:lstStyle/>
                    <a:p>
                      <a:r>
                        <a:rPr lang="en-US" sz="2400" dirty="0">
                          <a:latin typeface="Times New Roman" panose="02020603050405020304" pitchFamily="18" charset="0"/>
                          <a:cs typeface="Times New Roman" panose="02020603050405020304" pitchFamily="18" charset="0"/>
                        </a:rPr>
                        <a:t>Method</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Core Technique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Avg. Accuracy</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Reference</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38794498"/>
                  </a:ext>
                </a:extLst>
              </a:tr>
              <a:tr h="535494">
                <a:tc>
                  <a:txBody>
                    <a:bodyPr/>
                    <a:lstStyle/>
                    <a:p>
                      <a:r>
                        <a:rPr lang="en-IN" dirty="0">
                          <a:latin typeface="Times New Roman" panose="02020603050405020304" pitchFamily="18" charset="0"/>
                          <a:cs typeface="Times New Roman" panose="02020603050405020304" pitchFamily="18" charset="0"/>
                        </a:rPr>
                        <a:t>FFT (Spectral)</a:t>
                      </a:r>
                    </a:p>
                  </a:txBody>
                  <a:tcPr/>
                </a:tc>
                <a:tc>
                  <a:txBody>
                    <a:bodyPr/>
                    <a:lstStyle/>
                    <a:p>
                      <a:r>
                        <a:rPr lang="en-IN" dirty="0">
                          <a:latin typeface="Times New Roman" panose="02020603050405020304" pitchFamily="18" charset="0"/>
                          <a:cs typeface="Times New Roman" panose="02020603050405020304" pitchFamily="18" charset="0"/>
                        </a:rPr>
                        <a:t>Frequency domain analysis</a:t>
                      </a:r>
                    </a:p>
                  </a:txBody>
                  <a:tcPr/>
                </a:tc>
                <a:tc>
                  <a:txBody>
                    <a:bodyPr/>
                    <a:lstStyle/>
                    <a:p>
                      <a:r>
                        <a:rPr lang="en-IN" dirty="0">
                          <a:latin typeface="Times New Roman" panose="02020603050405020304" pitchFamily="18" charset="0"/>
                          <a:cs typeface="Times New Roman" panose="02020603050405020304" pitchFamily="18" charset="0"/>
                        </a:rPr>
                        <a:t>80–85%</a:t>
                      </a:r>
                    </a:p>
                  </a:txBody>
                  <a:tcPr/>
                </a:tc>
                <a:tc>
                  <a:txBody>
                    <a:bodyPr/>
                    <a:lstStyle/>
                    <a:p>
                      <a:r>
                        <a:rPr lang="en-IN" dirty="0">
                          <a:latin typeface="Times New Roman" panose="02020603050405020304" pitchFamily="18" charset="0"/>
                          <a:cs typeface="Times New Roman" panose="02020603050405020304" pitchFamily="18" charset="0"/>
                        </a:rPr>
                        <a:t>Welch, 1967</a:t>
                      </a:r>
                    </a:p>
                  </a:txBody>
                  <a:tcPr/>
                </a:tc>
                <a:extLst>
                  <a:ext uri="{0D108BD9-81ED-4DB2-BD59-A6C34878D82A}">
                    <a16:rowId xmlns:a16="http://schemas.microsoft.com/office/drawing/2014/main" val="582445356"/>
                  </a:ext>
                </a:extLst>
              </a:tr>
              <a:tr h="535494">
                <a:tc>
                  <a:txBody>
                    <a:bodyPr/>
                    <a:lstStyle/>
                    <a:p>
                      <a:r>
                        <a:rPr lang="en-IN" dirty="0">
                          <a:latin typeface="Times New Roman" panose="02020603050405020304" pitchFamily="18" charset="0"/>
                          <a:cs typeface="Times New Roman" panose="02020603050405020304" pitchFamily="18" charset="0"/>
                        </a:rPr>
                        <a:t>Wavelet Transform + SVM</a:t>
                      </a:r>
                    </a:p>
                  </a:txBody>
                  <a:tcPr/>
                </a:tc>
                <a:tc>
                  <a:txBody>
                    <a:bodyPr/>
                    <a:lstStyle/>
                    <a:p>
                      <a:r>
                        <a:rPr lang="en-IN" dirty="0">
                          <a:latin typeface="Times New Roman" panose="02020603050405020304" pitchFamily="18" charset="0"/>
                          <a:cs typeface="Times New Roman" panose="02020603050405020304" pitchFamily="18" charset="0"/>
                        </a:rPr>
                        <a:t>Multiresolution analysis</a:t>
                      </a:r>
                    </a:p>
                  </a:txBody>
                  <a:tcPr/>
                </a:tc>
                <a:tc>
                  <a:txBody>
                    <a:bodyPr/>
                    <a:lstStyle/>
                    <a:p>
                      <a:r>
                        <a:rPr lang="en-IN" dirty="0">
                          <a:latin typeface="Times New Roman" panose="02020603050405020304" pitchFamily="18" charset="0"/>
                          <a:cs typeface="Times New Roman" panose="02020603050405020304" pitchFamily="18" charset="0"/>
                        </a:rPr>
                        <a:t>90%</a:t>
                      </a:r>
                    </a:p>
                  </a:txBody>
                  <a:tcPr/>
                </a:tc>
                <a:tc>
                  <a:txBody>
                    <a:bodyPr/>
                    <a:lstStyle/>
                    <a:p>
                      <a:r>
                        <a:rPr lang="en-IN" dirty="0">
                          <a:latin typeface="Times New Roman" panose="02020603050405020304" pitchFamily="18" charset="0"/>
                          <a:cs typeface="Times New Roman" panose="02020603050405020304" pitchFamily="18" charset="0"/>
                        </a:rPr>
                        <a:t>Subasi, 2006</a:t>
                      </a:r>
                    </a:p>
                  </a:txBody>
                  <a:tcPr/>
                </a:tc>
                <a:extLst>
                  <a:ext uri="{0D108BD9-81ED-4DB2-BD59-A6C34878D82A}">
                    <a16:rowId xmlns:a16="http://schemas.microsoft.com/office/drawing/2014/main" val="1954985166"/>
                  </a:ext>
                </a:extLst>
              </a:tr>
              <a:tr h="535494">
                <a:tc>
                  <a:txBody>
                    <a:bodyPr/>
                    <a:lstStyle/>
                    <a:p>
                      <a:r>
                        <a:rPr lang="en-IN" dirty="0">
                          <a:latin typeface="Times New Roman" panose="02020603050405020304" pitchFamily="18" charset="0"/>
                          <a:cs typeface="Times New Roman" panose="02020603050405020304" pitchFamily="18" charset="0"/>
                        </a:rPr>
                        <a:t>CNN-LSTM Hybrid</a:t>
                      </a:r>
                    </a:p>
                  </a:txBody>
                  <a:tcPr/>
                </a:tc>
                <a:tc>
                  <a:txBody>
                    <a:bodyPr/>
                    <a:lstStyle/>
                    <a:p>
                      <a:r>
                        <a:rPr lang="en-IN" dirty="0">
                          <a:latin typeface="Times New Roman" panose="02020603050405020304" pitchFamily="18" charset="0"/>
                          <a:cs typeface="Times New Roman" panose="02020603050405020304" pitchFamily="18" charset="0"/>
                        </a:rPr>
                        <a:t>Deep learning</a:t>
                      </a:r>
                    </a:p>
                  </a:txBody>
                  <a:tcPr/>
                </a:tc>
                <a:tc>
                  <a:txBody>
                    <a:bodyPr/>
                    <a:lstStyle/>
                    <a:p>
                      <a:r>
                        <a:rPr lang="en-IN" dirty="0">
                          <a:latin typeface="Times New Roman" panose="02020603050405020304" pitchFamily="18" charset="0"/>
                          <a:cs typeface="Times New Roman" panose="02020603050405020304" pitchFamily="18" charset="0"/>
                        </a:rPr>
                        <a:t>95-96%</a:t>
                      </a:r>
                    </a:p>
                  </a:txBody>
                  <a:tcPr/>
                </a:tc>
                <a:tc>
                  <a:txBody>
                    <a:bodyPr/>
                    <a:lstStyle/>
                    <a:p>
                      <a:r>
                        <a:rPr lang="en-IN" dirty="0">
                          <a:latin typeface="Times New Roman" panose="02020603050405020304" pitchFamily="18" charset="0"/>
                          <a:cs typeface="Times New Roman" panose="02020603050405020304" pitchFamily="18" charset="0"/>
                        </a:rPr>
                        <a:t>Ullah, 2018; Shoeibi, 2021</a:t>
                      </a:r>
                    </a:p>
                  </a:txBody>
                  <a:tcPr/>
                </a:tc>
                <a:extLst>
                  <a:ext uri="{0D108BD9-81ED-4DB2-BD59-A6C34878D82A}">
                    <a16:rowId xmlns:a16="http://schemas.microsoft.com/office/drawing/2014/main" val="1209126486"/>
                  </a:ext>
                </a:extLst>
              </a:tr>
              <a:tr h="535494">
                <a:tc>
                  <a:txBody>
                    <a:bodyPr/>
                    <a:lstStyle/>
                    <a:p>
                      <a:r>
                        <a:rPr lang="en-IN" dirty="0">
                          <a:latin typeface="Times New Roman" panose="02020603050405020304" pitchFamily="18" charset="0"/>
                          <a:cs typeface="Times New Roman" panose="02020603050405020304" pitchFamily="18" charset="0"/>
                        </a:rPr>
                        <a:t>Hjorth + Entropy Features</a:t>
                      </a:r>
                    </a:p>
                  </a:txBody>
                  <a:tcPr/>
                </a:tc>
                <a:tc>
                  <a:txBody>
                    <a:bodyPr/>
                    <a:lstStyle/>
                    <a:p>
                      <a:r>
                        <a:rPr lang="en-IN" dirty="0">
                          <a:latin typeface="Times New Roman" panose="02020603050405020304" pitchFamily="18" charset="0"/>
                          <a:cs typeface="Times New Roman" panose="02020603050405020304" pitchFamily="18" charset="0"/>
                        </a:rPr>
                        <a:t>Statistical learning</a:t>
                      </a:r>
                    </a:p>
                  </a:txBody>
                  <a:tcPr/>
                </a:tc>
                <a:tc>
                  <a:txBody>
                    <a:bodyPr/>
                    <a:lstStyle/>
                    <a:p>
                      <a:r>
                        <a:rPr lang="en-IN" dirty="0">
                          <a:latin typeface="Times New Roman" panose="02020603050405020304" pitchFamily="18" charset="0"/>
                          <a:cs typeface="Times New Roman" panose="02020603050405020304" pitchFamily="18" charset="0"/>
                        </a:rPr>
                        <a:t>92–95%</a:t>
                      </a:r>
                    </a:p>
                  </a:txBody>
                  <a:tcPr/>
                </a:tc>
                <a:tc>
                  <a:txBody>
                    <a:bodyPr/>
                    <a:lstStyle/>
                    <a:p>
                      <a:r>
                        <a:rPr lang="en-IN" dirty="0">
                          <a:latin typeface="Times New Roman" panose="02020603050405020304" pitchFamily="18" charset="0"/>
                          <a:cs typeface="Times New Roman" panose="02020603050405020304" pitchFamily="18" charset="0"/>
                        </a:rPr>
                        <a:t>Tanveer, 2018</a:t>
                      </a:r>
                    </a:p>
                  </a:txBody>
                  <a:tcPr/>
                </a:tc>
                <a:extLst>
                  <a:ext uri="{0D108BD9-81ED-4DB2-BD59-A6C34878D82A}">
                    <a16:rowId xmlns:a16="http://schemas.microsoft.com/office/drawing/2014/main" val="1349953983"/>
                  </a:ext>
                </a:extLst>
              </a:tr>
              <a:tr h="1133851">
                <a:tc>
                  <a:txBody>
                    <a:bodyPr/>
                    <a:lstStyle/>
                    <a:p>
                      <a:r>
                        <a:rPr lang="en-IN" dirty="0" err="1">
                          <a:latin typeface="Times New Roman" panose="02020603050405020304" pitchFamily="18" charset="0"/>
                          <a:cs typeface="Times New Roman" panose="02020603050405020304" pitchFamily="18" charset="0"/>
                        </a:rPr>
                        <a:t>NeuroPulse</a:t>
                      </a:r>
                      <a:r>
                        <a:rPr lang="en-IN" dirty="0">
                          <a:latin typeface="Times New Roman" panose="02020603050405020304" pitchFamily="18" charset="0"/>
                          <a:cs typeface="Times New Roman" panose="02020603050405020304" pitchFamily="18" charset="0"/>
                        </a:rPr>
                        <a:t> Ensemble (Ours)</a:t>
                      </a:r>
                    </a:p>
                  </a:txBody>
                  <a:tcPr/>
                </a:tc>
                <a:tc>
                  <a:txBody>
                    <a:bodyPr/>
                    <a:lstStyle/>
                    <a:p>
                      <a:pPr marL="342900" indent="-342900">
                        <a:buAutoNum type="arabicPeriod"/>
                      </a:pPr>
                      <a:r>
                        <a:rPr lang="en-US" dirty="0">
                          <a:latin typeface="Times New Roman" panose="02020603050405020304" pitchFamily="18" charset="0"/>
                          <a:cs typeface="Times New Roman" panose="02020603050405020304" pitchFamily="18" charset="0"/>
                        </a:rPr>
                        <a:t>13 Statistical features</a:t>
                      </a:r>
                    </a:p>
                    <a:p>
                      <a:pPr marL="342900" indent="-342900">
                        <a:buAutoNum type="arabicPeriod"/>
                      </a:pPr>
                      <a:r>
                        <a:rPr lang="en-US" dirty="0">
                          <a:latin typeface="Times New Roman" panose="02020603050405020304" pitchFamily="18" charset="0"/>
                          <a:cs typeface="Times New Roman" panose="02020603050405020304" pitchFamily="18" charset="0"/>
                        </a:rPr>
                        <a:t>Wavelet &amp; Lyapunov</a:t>
                      </a:r>
                    </a:p>
                    <a:p>
                      <a:pPr marL="342900" indent="-342900">
                        <a:buAutoNum type="arabicPeriod"/>
                      </a:pPr>
                      <a:r>
                        <a:rPr lang="en-US" dirty="0">
                          <a:latin typeface="Times New Roman" panose="02020603050405020304" pitchFamily="18" charset="0"/>
                          <a:cs typeface="Times New Roman" panose="02020603050405020304" pitchFamily="18" charset="0"/>
                        </a:rPr>
                        <a:t>FFT &amp; STFT</a:t>
                      </a:r>
                    </a:p>
                    <a:p>
                      <a:pPr marL="342900" indent="-342900">
                        <a:buAutoNum type="arabicPeriod"/>
                      </a:pP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97%+</a:t>
                      </a:r>
                    </a:p>
                  </a:txBody>
                  <a:tcPr/>
                </a:tc>
                <a:tc>
                  <a:txBody>
                    <a:bodyPr/>
                    <a:lstStyle/>
                    <a:p>
                      <a:r>
                        <a:rPr lang="en-IN" dirty="0">
                          <a:latin typeface="Times New Roman" panose="02020603050405020304" pitchFamily="18" charset="0"/>
                          <a:cs typeface="Times New Roman" panose="02020603050405020304" pitchFamily="18" charset="0"/>
                        </a:rPr>
                        <a:t>Present Study</a:t>
                      </a:r>
                    </a:p>
                  </a:txBody>
                  <a:tcPr/>
                </a:tc>
                <a:extLst>
                  <a:ext uri="{0D108BD9-81ED-4DB2-BD59-A6C34878D82A}">
                    <a16:rowId xmlns:a16="http://schemas.microsoft.com/office/drawing/2014/main" val="2848166985"/>
                  </a:ext>
                </a:extLst>
              </a:tr>
            </a:tbl>
          </a:graphicData>
        </a:graphic>
      </p:graphicFrame>
      <p:sp>
        <p:nvSpPr>
          <p:cNvPr id="26" name="TextBox 25">
            <a:extLst>
              <a:ext uri="{FF2B5EF4-FFF2-40B4-BE49-F238E27FC236}">
                <a16:creationId xmlns:a16="http://schemas.microsoft.com/office/drawing/2014/main" id="{3EC4C8BF-762F-C451-F716-6C80F7781F09}"/>
              </a:ext>
            </a:extLst>
          </p:cNvPr>
          <p:cNvSpPr txBox="1"/>
          <p:nvPr/>
        </p:nvSpPr>
        <p:spPr>
          <a:xfrm>
            <a:off x="14020000" y="5887633"/>
            <a:ext cx="3823574" cy="2677656"/>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Despite rapid advancements in AI-driven EEG analysis, real-time, portable, and affordable clinical systems are still missing, forming the core motivation for our company’s mission!</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74" y="-2650345"/>
            <a:ext cx="18302702" cy="12899245"/>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r>
              <a:rPr lang="en-US"/>
              <a:t>Accuracy, Precision, Recall, F1-Score, ROC-AUC, Log Loss, MCC, and Cohen’s Kappa.</a:t>
            </a:r>
            <a:endParaRPr lang="en-IN" dirty="0"/>
          </a:p>
        </p:txBody>
      </p:sp>
      <p:sp>
        <p:nvSpPr>
          <p:cNvPr id="3" name="TextBox 3"/>
          <p:cNvSpPr txBox="1"/>
          <p:nvPr/>
        </p:nvSpPr>
        <p:spPr>
          <a:xfrm>
            <a:off x="2093445" y="361119"/>
            <a:ext cx="14101109" cy="983154"/>
          </a:xfrm>
          <a:prstGeom prst="rect">
            <a:avLst/>
          </a:prstGeom>
        </p:spPr>
        <p:txBody>
          <a:bodyPr lIns="0" tIns="0" rIns="0" bIns="0" rtlCol="0" anchor="t">
            <a:spAutoFit/>
          </a:bodyPr>
          <a:lstStyle/>
          <a:p>
            <a:pPr algn="ctr">
              <a:lnSpc>
                <a:spcPts val="8158"/>
              </a:lnSpc>
            </a:pPr>
            <a:r>
              <a:rPr lang="en-US" sz="6000" spc="-696" dirty="0">
                <a:solidFill>
                  <a:srgbClr val="0B4357"/>
                </a:solidFill>
                <a:latin typeface="Public Sans"/>
                <a:ea typeface="Public Sans"/>
                <a:cs typeface="Public Sans"/>
                <a:sym typeface="Public Sans"/>
              </a:rPr>
              <a:t>CRITICAL  OBSERVATIONS  AND  FINDINGS</a:t>
            </a:r>
          </a:p>
        </p:txBody>
      </p:sp>
      <p:grpSp>
        <p:nvGrpSpPr>
          <p:cNvPr id="6" name="Group 6"/>
          <p:cNvGrpSpPr/>
          <p:nvPr/>
        </p:nvGrpSpPr>
        <p:grpSpPr>
          <a:xfrm>
            <a:off x="-5867400" y="-2899537"/>
            <a:ext cx="8999067" cy="3879627"/>
            <a:chOff x="0" y="0"/>
            <a:chExt cx="1620220" cy="698500"/>
          </a:xfrm>
        </p:grpSpPr>
        <p:sp>
          <p:nvSpPr>
            <p:cNvPr id="7" name="Freeform 7"/>
            <p:cNvSpPr/>
            <p:nvPr/>
          </p:nvSpPr>
          <p:spPr>
            <a:xfrm>
              <a:off x="0" y="0"/>
              <a:ext cx="1620220" cy="698500"/>
            </a:xfrm>
            <a:custGeom>
              <a:avLst/>
              <a:gdLst/>
              <a:ahLst/>
              <a:cxnLst/>
              <a:rect l="l" t="t" r="r" b="b"/>
              <a:pathLst>
                <a:path w="1620220" h="698500">
                  <a:moveTo>
                    <a:pt x="1620220" y="349250"/>
                  </a:moveTo>
                  <a:lnTo>
                    <a:pt x="1417020" y="698500"/>
                  </a:lnTo>
                  <a:lnTo>
                    <a:pt x="203200" y="698500"/>
                  </a:lnTo>
                  <a:lnTo>
                    <a:pt x="0" y="349250"/>
                  </a:lnTo>
                  <a:lnTo>
                    <a:pt x="203200" y="0"/>
                  </a:lnTo>
                  <a:lnTo>
                    <a:pt x="1417020" y="0"/>
                  </a:lnTo>
                  <a:lnTo>
                    <a:pt x="1620220" y="349250"/>
                  </a:lnTo>
                  <a:close/>
                </a:path>
              </a:pathLst>
            </a:custGeom>
            <a:solidFill>
              <a:srgbClr val="094256"/>
            </a:solidFill>
            <a:ln w="504825" cap="sq">
              <a:solidFill>
                <a:srgbClr val="155C75"/>
              </a:solidFill>
              <a:prstDash val="solid"/>
              <a:miter/>
            </a:ln>
          </p:spPr>
          <p:txBody>
            <a:bodyPr/>
            <a:lstStyle/>
            <a:p>
              <a:endParaRPr lang="en-IN"/>
            </a:p>
          </p:txBody>
        </p:sp>
        <p:sp>
          <p:nvSpPr>
            <p:cNvPr id="8" name="TextBox 8"/>
            <p:cNvSpPr txBox="1"/>
            <p:nvPr/>
          </p:nvSpPr>
          <p:spPr>
            <a:xfrm>
              <a:off x="114300" y="-66675"/>
              <a:ext cx="1391620" cy="765175"/>
            </a:xfrm>
            <a:prstGeom prst="rect">
              <a:avLst/>
            </a:prstGeom>
          </p:spPr>
          <p:txBody>
            <a:bodyPr lIns="50800" tIns="50800" rIns="50800" bIns="50800" rtlCol="0" anchor="ctr"/>
            <a:lstStyle/>
            <a:p>
              <a:pPr algn="ctr">
                <a:lnSpc>
                  <a:spcPts val="3359"/>
                </a:lnSpc>
              </a:pPr>
              <a:endParaRPr/>
            </a:p>
          </p:txBody>
        </p:sp>
      </p:grpSp>
      <p:grpSp>
        <p:nvGrpSpPr>
          <p:cNvPr id="9" name="Group 9"/>
          <p:cNvGrpSpPr/>
          <p:nvPr/>
        </p:nvGrpSpPr>
        <p:grpSpPr>
          <a:xfrm>
            <a:off x="15445408" y="-2905682"/>
            <a:ext cx="8999067" cy="3879627"/>
            <a:chOff x="0" y="0"/>
            <a:chExt cx="1620220" cy="698500"/>
          </a:xfrm>
        </p:grpSpPr>
        <p:sp>
          <p:nvSpPr>
            <p:cNvPr id="10" name="Freeform 10"/>
            <p:cNvSpPr/>
            <p:nvPr/>
          </p:nvSpPr>
          <p:spPr>
            <a:xfrm>
              <a:off x="0" y="0"/>
              <a:ext cx="1620220" cy="698500"/>
            </a:xfrm>
            <a:custGeom>
              <a:avLst/>
              <a:gdLst/>
              <a:ahLst/>
              <a:cxnLst/>
              <a:rect l="l" t="t" r="r" b="b"/>
              <a:pathLst>
                <a:path w="1620220" h="698500">
                  <a:moveTo>
                    <a:pt x="1620220" y="349250"/>
                  </a:moveTo>
                  <a:lnTo>
                    <a:pt x="1417020" y="698500"/>
                  </a:lnTo>
                  <a:lnTo>
                    <a:pt x="203200" y="698500"/>
                  </a:lnTo>
                  <a:lnTo>
                    <a:pt x="0" y="349250"/>
                  </a:lnTo>
                  <a:lnTo>
                    <a:pt x="203200" y="0"/>
                  </a:lnTo>
                  <a:lnTo>
                    <a:pt x="1417020" y="0"/>
                  </a:lnTo>
                  <a:lnTo>
                    <a:pt x="1620220" y="349250"/>
                  </a:lnTo>
                  <a:close/>
                </a:path>
              </a:pathLst>
            </a:custGeom>
            <a:solidFill>
              <a:srgbClr val="094256"/>
            </a:solidFill>
            <a:ln w="504825" cap="sq">
              <a:solidFill>
                <a:srgbClr val="155C75"/>
              </a:solidFill>
              <a:prstDash val="solid"/>
              <a:miter/>
            </a:ln>
          </p:spPr>
          <p:txBody>
            <a:bodyPr/>
            <a:lstStyle/>
            <a:p>
              <a:endParaRPr lang="en-IN"/>
            </a:p>
          </p:txBody>
        </p:sp>
        <p:sp>
          <p:nvSpPr>
            <p:cNvPr id="11" name="TextBox 11"/>
            <p:cNvSpPr txBox="1"/>
            <p:nvPr/>
          </p:nvSpPr>
          <p:spPr>
            <a:xfrm>
              <a:off x="114300" y="-66675"/>
              <a:ext cx="1391620" cy="765175"/>
            </a:xfrm>
            <a:prstGeom prst="rect">
              <a:avLst/>
            </a:prstGeom>
          </p:spPr>
          <p:txBody>
            <a:bodyPr lIns="50800" tIns="50800" rIns="50800" bIns="50800" rtlCol="0" anchor="ctr"/>
            <a:lstStyle/>
            <a:p>
              <a:pPr algn="ctr">
                <a:lnSpc>
                  <a:spcPts val="3359"/>
                </a:lnSpc>
              </a:pPr>
              <a:endParaRPr/>
            </a:p>
          </p:txBody>
        </p:sp>
      </p:grpSp>
      <p:pic>
        <p:nvPicPr>
          <p:cNvPr id="13" name="Picture 12">
            <a:extLst>
              <a:ext uri="{FF2B5EF4-FFF2-40B4-BE49-F238E27FC236}">
                <a16:creationId xmlns:a16="http://schemas.microsoft.com/office/drawing/2014/main" id="{CD26253A-6BE9-E753-3377-D5757F1FF8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5352" y="1424676"/>
            <a:ext cx="1545799" cy="8671824"/>
          </a:xfrm>
          <a:prstGeom prst="rect">
            <a:avLst/>
          </a:prstGeom>
        </p:spPr>
      </p:pic>
      <p:sp>
        <p:nvSpPr>
          <p:cNvPr id="14" name="Arrow: Right 13">
            <a:extLst>
              <a:ext uri="{FF2B5EF4-FFF2-40B4-BE49-F238E27FC236}">
                <a16:creationId xmlns:a16="http://schemas.microsoft.com/office/drawing/2014/main" id="{32D36C8E-8225-285C-C25D-9E02C2A2BEBA}"/>
              </a:ext>
            </a:extLst>
          </p:cNvPr>
          <p:cNvSpPr/>
          <p:nvPr/>
        </p:nvSpPr>
        <p:spPr>
          <a:xfrm>
            <a:off x="2819400" y="1866900"/>
            <a:ext cx="1143000" cy="38100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15" name="Arrow: Right 14">
            <a:extLst>
              <a:ext uri="{FF2B5EF4-FFF2-40B4-BE49-F238E27FC236}">
                <a16:creationId xmlns:a16="http://schemas.microsoft.com/office/drawing/2014/main" id="{D9D13AA8-7D21-798D-DEB3-676A9CFD2646}"/>
              </a:ext>
            </a:extLst>
          </p:cNvPr>
          <p:cNvSpPr/>
          <p:nvPr/>
        </p:nvSpPr>
        <p:spPr>
          <a:xfrm>
            <a:off x="2810798" y="3224074"/>
            <a:ext cx="1143000" cy="381000"/>
          </a:xfrm>
          <a:prstGeom prst="rightArrow">
            <a:avLst/>
          </a:prstGeom>
          <a:solidFill>
            <a:schemeClr val="accent6">
              <a:lumMod val="75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
        <p:nvSpPr>
          <p:cNvPr id="16" name="Arrow: Right 15">
            <a:extLst>
              <a:ext uri="{FF2B5EF4-FFF2-40B4-BE49-F238E27FC236}">
                <a16:creationId xmlns:a16="http://schemas.microsoft.com/office/drawing/2014/main" id="{52D60E06-8173-291F-45BE-62A0D014005B}"/>
              </a:ext>
            </a:extLst>
          </p:cNvPr>
          <p:cNvSpPr/>
          <p:nvPr/>
        </p:nvSpPr>
        <p:spPr>
          <a:xfrm>
            <a:off x="2810798" y="4683641"/>
            <a:ext cx="1143000" cy="38100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7" name="Arrow: Right 16">
            <a:extLst>
              <a:ext uri="{FF2B5EF4-FFF2-40B4-BE49-F238E27FC236}">
                <a16:creationId xmlns:a16="http://schemas.microsoft.com/office/drawing/2014/main" id="{22A018A0-376B-FD9C-CD2A-E823899E1CEE}"/>
              </a:ext>
            </a:extLst>
          </p:cNvPr>
          <p:cNvSpPr/>
          <p:nvPr/>
        </p:nvSpPr>
        <p:spPr>
          <a:xfrm>
            <a:off x="2693906" y="6205728"/>
            <a:ext cx="1143000" cy="381000"/>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8" name="Arrow: Right 17">
            <a:extLst>
              <a:ext uri="{FF2B5EF4-FFF2-40B4-BE49-F238E27FC236}">
                <a16:creationId xmlns:a16="http://schemas.microsoft.com/office/drawing/2014/main" id="{F4969148-D7E2-1927-F1DA-86A9A61C56AF}"/>
              </a:ext>
            </a:extLst>
          </p:cNvPr>
          <p:cNvSpPr/>
          <p:nvPr/>
        </p:nvSpPr>
        <p:spPr>
          <a:xfrm>
            <a:off x="2723403" y="7645500"/>
            <a:ext cx="1143000" cy="381000"/>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0" name="Flowchart: Process 19">
            <a:extLst>
              <a:ext uri="{FF2B5EF4-FFF2-40B4-BE49-F238E27FC236}">
                <a16:creationId xmlns:a16="http://schemas.microsoft.com/office/drawing/2014/main" id="{82A18B78-A4F8-E931-782D-B52F23DED513}"/>
              </a:ext>
            </a:extLst>
          </p:cNvPr>
          <p:cNvSpPr/>
          <p:nvPr/>
        </p:nvSpPr>
        <p:spPr>
          <a:xfrm>
            <a:off x="4270649" y="1327203"/>
            <a:ext cx="9158703" cy="1143000"/>
          </a:xfrm>
          <a:prstGeom prst="flowChartProcess">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sz="2800" dirty="0">
                <a:latin typeface="Times New Roman" panose="02020603050405020304" pitchFamily="18" charset="0"/>
                <a:cs typeface="Times New Roman" panose="02020603050405020304" pitchFamily="18" charset="0"/>
              </a:rPr>
              <a:t>Statistical Features, STFT, FFT, Wavelet &amp; Lyapunov Exponents</a:t>
            </a:r>
          </a:p>
        </p:txBody>
      </p:sp>
      <p:sp>
        <p:nvSpPr>
          <p:cNvPr id="21" name="Flowchart: Process 20">
            <a:extLst>
              <a:ext uri="{FF2B5EF4-FFF2-40B4-BE49-F238E27FC236}">
                <a16:creationId xmlns:a16="http://schemas.microsoft.com/office/drawing/2014/main" id="{C2699E2F-10A0-2366-200F-307D6EBC8B9C}"/>
              </a:ext>
            </a:extLst>
          </p:cNvPr>
          <p:cNvSpPr/>
          <p:nvPr/>
        </p:nvSpPr>
        <p:spPr>
          <a:xfrm>
            <a:off x="4341733" y="4170811"/>
            <a:ext cx="10203403" cy="1143000"/>
          </a:xfrm>
          <a:prstGeom prst="flowChart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600" dirty="0">
                <a:latin typeface="Times New Roman" panose="02020603050405020304" pitchFamily="18" charset="0"/>
                <a:cs typeface="Times New Roman" panose="02020603050405020304" pitchFamily="18" charset="0"/>
              </a:rPr>
              <a:t>Mean, Variance, Line Length, Delta Power, Theta Power, Alpha Power, Beta Power, Sample Entropy, Activity, Mobility, Complexity, Skewness, and Kurtosis.</a:t>
            </a:r>
          </a:p>
        </p:txBody>
      </p:sp>
      <p:sp>
        <p:nvSpPr>
          <p:cNvPr id="22" name="Flowchart: Process 21">
            <a:extLst>
              <a:ext uri="{FF2B5EF4-FFF2-40B4-BE49-F238E27FC236}">
                <a16:creationId xmlns:a16="http://schemas.microsoft.com/office/drawing/2014/main" id="{20F0163E-B429-83C2-84D1-A1D0F8A16D41}"/>
              </a:ext>
            </a:extLst>
          </p:cNvPr>
          <p:cNvSpPr/>
          <p:nvPr/>
        </p:nvSpPr>
        <p:spPr>
          <a:xfrm>
            <a:off x="4319610" y="2713865"/>
            <a:ext cx="9158702" cy="1143000"/>
          </a:xfrm>
          <a:prstGeom prst="flowChartProcess">
            <a:avLst/>
          </a:prstGeom>
          <a:gradFill flip="none" rotWithShape="1">
            <a:gsLst>
              <a:gs pos="0">
                <a:schemeClr val="accent6">
                  <a:lumMod val="0"/>
                  <a:lumOff val="100000"/>
                </a:schemeClr>
              </a:gs>
              <a:gs pos="1000">
                <a:schemeClr val="accent6">
                  <a:lumMod val="0"/>
                  <a:lumOff val="100000"/>
                </a:schemeClr>
              </a:gs>
              <a:gs pos="100000">
                <a:schemeClr val="accent6">
                  <a:lumMod val="100000"/>
                </a:schemeClr>
              </a:gs>
            </a:gsLst>
            <a:path path="circle">
              <a:fillToRect l="50000" t="-80000" r="50000" b="180000"/>
            </a:path>
            <a:tileRect/>
          </a:gra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600" dirty="0">
                <a:latin typeface="Times New Roman" panose="02020603050405020304" pitchFamily="18" charset="0"/>
                <a:cs typeface="Times New Roman" panose="02020603050405020304" pitchFamily="18" charset="0"/>
              </a:rPr>
              <a:t>Random Forest, Extra Trees, SVM, Logistic Regression, Decision Tree, Naïve Bayes, KNN, Gradient Boosting, XGBoost, MLP Classifier, Voting Ensemble, and QDA.</a:t>
            </a:r>
          </a:p>
        </p:txBody>
      </p:sp>
      <p:sp>
        <p:nvSpPr>
          <p:cNvPr id="23" name="Flowchart: Process 22">
            <a:extLst>
              <a:ext uri="{FF2B5EF4-FFF2-40B4-BE49-F238E27FC236}">
                <a16:creationId xmlns:a16="http://schemas.microsoft.com/office/drawing/2014/main" id="{3F92326C-82D1-01E6-BB0B-C1ADB1C88293}"/>
              </a:ext>
            </a:extLst>
          </p:cNvPr>
          <p:cNvSpPr/>
          <p:nvPr/>
        </p:nvSpPr>
        <p:spPr>
          <a:xfrm>
            <a:off x="4319635" y="5530005"/>
            <a:ext cx="10225501" cy="1143000"/>
          </a:xfrm>
          <a:prstGeom prst="flowChart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2600" dirty="0">
                <a:latin typeface="Times New Roman" panose="02020603050405020304" pitchFamily="18" charset="0"/>
                <a:cs typeface="Times New Roman" panose="02020603050405020304" pitchFamily="18" charset="0"/>
              </a:rPr>
              <a:t>Z/N/O/F/S,  Z/ALL, N/ALL, O/ALL, F/ALL, S/ALL,  Z/S, ZO/S, and ZO/NF/S.</a:t>
            </a:r>
          </a:p>
        </p:txBody>
      </p:sp>
      <p:sp>
        <p:nvSpPr>
          <p:cNvPr id="24" name="Flowchart: Process 23">
            <a:extLst>
              <a:ext uri="{FF2B5EF4-FFF2-40B4-BE49-F238E27FC236}">
                <a16:creationId xmlns:a16="http://schemas.microsoft.com/office/drawing/2014/main" id="{2D7988EA-4DAC-71CF-182F-13AAA5683481}"/>
              </a:ext>
            </a:extLst>
          </p:cNvPr>
          <p:cNvSpPr/>
          <p:nvPr/>
        </p:nvSpPr>
        <p:spPr>
          <a:xfrm>
            <a:off x="4284870" y="6932448"/>
            <a:ext cx="10260266" cy="1143000"/>
          </a:xfrm>
          <a:prstGeom prst="flowChart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600" dirty="0"/>
              <a:t>Accuracy, Precision, Recall, F1-Score, ROC-AUC, Log Loss, MCC, and Cohen’s Kappa.</a:t>
            </a:r>
            <a:endParaRPr lang="en-IN" sz="2600" dirty="0">
              <a:latin typeface="Times New Roman" panose="02020603050405020304" pitchFamily="18" charset="0"/>
              <a:cs typeface="Times New Roman" panose="02020603050405020304" pitchFamily="18" charset="0"/>
            </a:endParaRPr>
          </a:p>
        </p:txBody>
      </p:sp>
      <p:sp>
        <p:nvSpPr>
          <p:cNvPr id="25" name="Arrow: Right 24">
            <a:extLst>
              <a:ext uri="{FF2B5EF4-FFF2-40B4-BE49-F238E27FC236}">
                <a16:creationId xmlns:a16="http://schemas.microsoft.com/office/drawing/2014/main" id="{4C0024E1-3FE5-0F57-0F04-30222159BD89}"/>
              </a:ext>
            </a:extLst>
          </p:cNvPr>
          <p:cNvSpPr/>
          <p:nvPr/>
        </p:nvSpPr>
        <p:spPr>
          <a:xfrm>
            <a:off x="13938893" y="3128773"/>
            <a:ext cx="1143000" cy="381000"/>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u="sng" dirty="0"/>
          </a:p>
        </p:txBody>
      </p:sp>
      <p:sp>
        <p:nvSpPr>
          <p:cNvPr id="26" name="Flowchart: Process 25">
            <a:extLst>
              <a:ext uri="{FF2B5EF4-FFF2-40B4-BE49-F238E27FC236}">
                <a16:creationId xmlns:a16="http://schemas.microsoft.com/office/drawing/2014/main" id="{89F785BB-4B00-8DD1-AF77-61C21745F23B}"/>
              </a:ext>
            </a:extLst>
          </p:cNvPr>
          <p:cNvSpPr/>
          <p:nvPr/>
        </p:nvSpPr>
        <p:spPr>
          <a:xfrm>
            <a:off x="15303977" y="2324100"/>
            <a:ext cx="2842546" cy="2166886"/>
          </a:xfrm>
          <a:prstGeom prst="flowChart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t>Best Selected Performer:</a:t>
            </a:r>
            <a:r>
              <a:rPr lang="en-US" sz="2800" dirty="0"/>
              <a:t> </a:t>
            </a:r>
          </a:p>
          <a:p>
            <a:pPr algn="ctr"/>
            <a:r>
              <a:rPr lang="en-US" sz="2800" dirty="0" err="1"/>
              <a:t>XGBoost</a:t>
            </a:r>
            <a:r>
              <a:rPr lang="en-US" sz="2800" dirty="0"/>
              <a:t> (97%+)</a:t>
            </a:r>
            <a:endParaRPr lang="en-IN" sz="2800" dirty="0">
              <a:latin typeface="Times New Roman" panose="02020603050405020304" pitchFamily="18" charset="0"/>
              <a:cs typeface="Times New Roman" panose="02020603050405020304" pitchFamily="18" charset="0"/>
            </a:endParaRPr>
          </a:p>
        </p:txBody>
      </p:sp>
      <p:sp>
        <p:nvSpPr>
          <p:cNvPr id="12" name="Flowchart: Process 11">
            <a:extLst>
              <a:ext uri="{FF2B5EF4-FFF2-40B4-BE49-F238E27FC236}">
                <a16:creationId xmlns:a16="http://schemas.microsoft.com/office/drawing/2014/main" id="{E5E02F64-9FC9-777A-8E82-30FCC0904F9C}"/>
              </a:ext>
            </a:extLst>
          </p:cNvPr>
          <p:cNvSpPr/>
          <p:nvPr/>
        </p:nvSpPr>
        <p:spPr>
          <a:xfrm>
            <a:off x="15274480" y="5291264"/>
            <a:ext cx="2842546" cy="2859975"/>
          </a:xfrm>
          <a:prstGeom prst="flowChartProcess">
            <a:avLst/>
          </a:prstGeom>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path path="circle">
              <a:fillToRect l="50000" t="130000" r="50000" b="-30000"/>
            </a:path>
            <a:tileRect/>
          </a:gra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We’ve done deep experimentation, validated results, and have quantifiable evidence for our innovation</a:t>
            </a:r>
            <a:r>
              <a:rPr lang="en-US" sz="2400" b="1" dirty="0">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p:txBody>
      </p:sp>
      <p:sp>
        <p:nvSpPr>
          <p:cNvPr id="29" name="Flowchart: Process 28">
            <a:extLst>
              <a:ext uri="{FF2B5EF4-FFF2-40B4-BE49-F238E27FC236}">
                <a16:creationId xmlns:a16="http://schemas.microsoft.com/office/drawing/2014/main" id="{ED9B285C-1856-964F-096D-493862002815}"/>
              </a:ext>
            </a:extLst>
          </p:cNvPr>
          <p:cNvSpPr/>
          <p:nvPr/>
        </p:nvSpPr>
        <p:spPr>
          <a:xfrm>
            <a:off x="4068152" y="8278908"/>
            <a:ext cx="2713648" cy="1969992"/>
          </a:xfrm>
          <a:prstGeom prst="flowChart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a:latin typeface="Times New Roman" panose="02020603050405020304" pitchFamily="18" charset="0"/>
                <a:cs typeface="Times New Roman" panose="02020603050405020304" pitchFamily="18" charset="0"/>
              </a:rPr>
              <a:t>STASTICAL FEATURES:</a:t>
            </a:r>
          </a:p>
          <a:p>
            <a:pPr algn="ctr"/>
            <a:r>
              <a:rPr lang="en-IN" sz="2800" dirty="0">
                <a:latin typeface="Times New Roman" panose="02020603050405020304" pitchFamily="18" charset="0"/>
                <a:cs typeface="Times New Roman" panose="02020603050405020304" pitchFamily="18" charset="0"/>
              </a:rPr>
              <a:t>Extra Trees (98.8%)</a:t>
            </a:r>
          </a:p>
        </p:txBody>
      </p:sp>
      <p:sp>
        <p:nvSpPr>
          <p:cNvPr id="30" name="Flowchart: Process 29">
            <a:extLst>
              <a:ext uri="{FF2B5EF4-FFF2-40B4-BE49-F238E27FC236}">
                <a16:creationId xmlns:a16="http://schemas.microsoft.com/office/drawing/2014/main" id="{E94DC4A6-D790-AC15-6EFC-6D648F598127}"/>
              </a:ext>
            </a:extLst>
          </p:cNvPr>
          <p:cNvSpPr/>
          <p:nvPr/>
        </p:nvSpPr>
        <p:spPr>
          <a:xfrm>
            <a:off x="6920754" y="8283646"/>
            <a:ext cx="2820423" cy="1994422"/>
          </a:xfrm>
          <a:prstGeom prst="flowChart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STFT:</a:t>
            </a:r>
          </a:p>
          <a:p>
            <a:pPr algn="ctr"/>
            <a:r>
              <a:rPr lang="en-US" sz="2800" dirty="0">
                <a:latin typeface="Times New Roman" panose="02020603050405020304" pitchFamily="18" charset="0"/>
                <a:cs typeface="Times New Roman" panose="02020603050405020304" pitchFamily="18" charset="0"/>
              </a:rPr>
              <a:t>Voting Ensemble-Random Forest (99.7%)</a:t>
            </a:r>
            <a:endParaRPr lang="en-IN" sz="2800" dirty="0">
              <a:latin typeface="Times New Roman" panose="02020603050405020304" pitchFamily="18" charset="0"/>
              <a:cs typeface="Times New Roman" panose="02020603050405020304" pitchFamily="18" charset="0"/>
            </a:endParaRPr>
          </a:p>
        </p:txBody>
      </p:sp>
      <p:sp>
        <p:nvSpPr>
          <p:cNvPr id="31" name="Flowchart: Process 30">
            <a:extLst>
              <a:ext uri="{FF2B5EF4-FFF2-40B4-BE49-F238E27FC236}">
                <a16:creationId xmlns:a16="http://schemas.microsoft.com/office/drawing/2014/main" id="{A68039A0-B275-E138-2120-61C8CACB137B}"/>
              </a:ext>
            </a:extLst>
          </p:cNvPr>
          <p:cNvSpPr/>
          <p:nvPr/>
        </p:nvSpPr>
        <p:spPr>
          <a:xfrm>
            <a:off x="9847324" y="8283645"/>
            <a:ext cx="2809250" cy="1994423"/>
          </a:xfrm>
          <a:prstGeom prst="flowChart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t>FFT:</a:t>
            </a:r>
          </a:p>
          <a:p>
            <a:pPr algn="ctr"/>
            <a:r>
              <a:rPr lang="en-US" sz="2800" dirty="0"/>
              <a:t>Random Forest (90%)</a:t>
            </a:r>
          </a:p>
          <a:p>
            <a:pPr algn="ctr"/>
            <a:endParaRPr lang="en-IN" sz="2800" dirty="0">
              <a:latin typeface="Times New Roman" panose="02020603050405020304" pitchFamily="18" charset="0"/>
              <a:cs typeface="Times New Roman" panose="02020603050405020304" pitchFamily="18" charset="0"/>
            </a:endParaRPr>
          </a:p>
        </p:txBody>
      </p:sp>
      <p:sp>
        <p:nvSpPr>
          <p:cNvPr id="32" name="Flowchart: Process 31">
            <a:extLst>
              <a:ext uri="{FF2B5EF4-FFF2-40B4-BE49-F238E27FC236}">
                <a16:creationId xmlns:a16="http://schemas.microsoft.com/office/drawing/2014/main" id="{7C25830F-4863-8984-E5B3-5AE0BFE6B41C}"/>
              </a:ext>
            </a:extLst>
          </p:cNvPr>
          <p:cNvSpPr/>
          <p:nvPr/>
        </p:nvSpPr>
        <p:spPr>
          <a:xfrm>
            <a:off x="12779662" y="8278908"/>
            <a:ext cx="2665746" cy="2042652"/>
          </a:xfrm>
          <a:prstGeom prst="flowChart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sz="2800" b="1" dirty="0">
              <a:latin typeface="Times New Roman" panose="02020603050405020304" pitchFamily="18" charset="0"/>
              <a:cs typeface="Times New Roman" panose="02020603050405020304" pitchFamily="18" charset="0"/>
            </a:endParaRPr>
          </a:p>
          <a:p>
            <a:pPr algn="ctr"/>
            <a:r>
              <a:rPr lang="en-IN" sz="2800" b="1" dirty="0">
                <a:latin typeface="Times New Roman" panose="02020603050405020304" pitchFamily="18" charset="0"/>
                <a:cs typeface="Times New Roman" panose="02020603050405020304" pitchFamily="18" charset="0"/>
              </a:rPr>
              <a:t>Wavelet &amp; Lyapunov:</a:t>
            </a:r>
          </a:p>
          <a:p>
            <a:pPr algn="ctr"/>
            <a:r>
              <a:rPr lang="en-IN" sz="2800" dirty="0">
                <a:latin typeface="Times New Roman" panose="02020603050405020304" pitchFamily="18" charset="0"/>
                <a:cs typeface="Times New Roman" panose="02020603050405020304" pitchFamily="18" charset="0"/>
              </a:rPr>
              <a:t>XGBoost </a:t>
            </a:r>
          </a:p>
          <a:p>
            <a:pPr algn="ctr"/>
            <a:r>
              <a:rPr lang="en-IN" sz="2800" dirty="0">
                <a:latin typeface="Times New Roman" panose="02020603050405020304" pitchFamily="18" charset="0"/>
                <a:cs typeface="Times New Roman" panose="02020603050405020304" pitchFamily="18" charset="0"/>
              </a:rPr>
              <a:t>(98.3%)</a:t>
            </a:r>
          </a:p>
          <a:p>
            <a:pPr algn="ctr"/>
            <a:endParaRPr lang="en-IN" sz="2800" dirty="0">
              <a:latin typeface="Times New Roman" panose="02020603050405020304" pitchFamily="18" charset="0"/>
              <a:cs typeface="Times New Roman" panose="02020603050405020304" pitchFamily="18" charset="0"/>
            </a:endParaRPr>
          </a:p>
        </p:txBody>
      </p:sp>
      <p:sp>
        <p:nvSpPr>
          <p:cNvPr id="33" name="Arrow: Right 32">
            <a:extLst>
              <a:ext uri="{FF2B5EF4-FFF2-40B4-BE49-F238E27FC236}">
                <a16:creationId xmlns:a16="http://schemas.microsoft.com/office/drawing/2014/main" id="{77159F92-2613-0D0D-63BC-CF5303C61337}"/>
              </a:ext>
            </a:extLst>
          </p:cNvPr>
          <p:cNvSpPr/>
          <p:nvPr/>
        </p:nvSpPr>
        <p:spPr>
          <a:xfrm>
            <a:off x="2669770" y="9416565"/>
            <a:ext cx="1143000" cy="381000"/>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42874" y="190500"/>
            <a:ext cx="16945126"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endParaRPr lang="en-IN"/>
          </a:p>
        </p:txBody>
      </p:sp>
      <p:sp>
        <p:nvSpPr>
          <p:cNvPr id="3" name="TextBox 3"/>
          <p:cNvSpPr txBox="1"/>
          <p:nvPr/>
        </p:nvSpPr>
        <p:spPr>
          <a:xfrm>
            <a:off x="2133600" y="723900"/>
            <a:ext cx="14165265" cy="983154"/>
          </a:xfrm>
          <a:prstGeom prst="rect">
            <a:avLst/>
          </a:prstGeom>
        </p:spPr>
        <p:txBody>
          <a:bodyPr wrap="square" lIns="0" tIns="0" rIns="0" bIns="0" rtlCol="0" anchor="t">
            <a:spAutoFit/>
          </a:bodyPr>
          <a:lstStyle/>
          <a:p>
            <a:pPr algn="ctr">
              <a:lnSpc>
                <a:spcPts val="8158"/>
              </a:lnSpc>
            </a:pPr>
            <a:r>
              <a:rPr lang="en-US" sz="6600" spc="-696" dirty="0">
                <a:solidFill>
                  <a:srgbClr val="0B4357"/>
                </a:solidFill>
                <a:latin typeface="Public Sans"/>
                <a:ea typeface="Public Sans"/>
                <a:cs typeface="Public Sans"/>
                <a:sym typeface="Public Sans"/>
              </a:rPr>
              <a:t>SOLUTION / IDEATION  BRIEF  DESCRIPTION</a:t>
            </a:r>
          </a:p>
        </p:txBody>
      </p:sp>
      <p:sp>
        <p:nvSpPr>
          <p:cNvPr id="4" name="Freeform 4"/>
          <p:cNvSpPr/>
          <p:nvPr/>
        </p:nvSpPr>
        <p:spPr>
          <a:xfrm>
            <a:off x="1028700" y="-618033"/>
            <a:ext cx="314174" cy="12004159"/>
          </a:xfrm>
          <a:custGeom>
            <a:avLst/>
            <a:gdLst/>
            <a:ahLst/>
            <a:cxnLst/>
            <a:rect l="l" t="t" r="r" b="b"/>
            <a:pathLst>
              <a:path w="314174" h="12004159">
                <a:moveTo>
                  <a:pt x="0" y="0"/>
                </a:moveTo>
                <a:lnTo>
                  <a:pt x="314174" y="0"/>
                </a:lnTo>
                <a:lnTo>
                  <a:pt x="314174" y="12004159"/>
                </a:lnTo>
                <a:lnTo>
                  <a:pt x="0" y="1200415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pic>
        <p:nvPicPr>
          <p:cNvPr id="10" name="Picture 9">
            <a:extLst>
              <a:ext uri="{FF2B5EF4-FFF2-40B4-BE49-F238E27FC236}">
                <a16:creationId xmlns:a16="http://schemas.microsoft.com/office/drawing/2014/main" id="{3AF2E692-60D4-CD44-0B3E-415860786B84}"/>
              </a:ext>
            </a:extLst>
          </p:cNvPr>
          <p:cNvPicPr>
            <a:picLocks noChangeAspect="1"/>
          </p:cNvPicPr>
          <p:nvPr/>
        </p:nvPicPr>
        <p:blipFill>
          <a:blip r:embed="rId4"/>
          <a:stretch>
            <a:fillRect/>
          </a:stretch>
        </p:blipFill>
        <p:spPr>
          <a:xfrm>
            <a:off x="1872810" y="1943100"/>
            <a:ext cx="6006962" cy="432969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6" name="TextBox 15">
            <a:extLst>
              <a:ext uri="{FF2B5EF4-FFF2-40B4-BE49-F238E27FC236}">
                <a16:creationId xmlns:a16="http://schemas.microsoft.com/office/drawing/2014/main" id="{D5EF68E7-BC22-1602-9929-B5F6A68C4B7C}"/>
              </a:ext>
            </a:extLst>
          </p:cNvPr>
          <p:cNvSpPr txBox="1"/>
          <p:nvPr/>
        </p:nvSpPr>
        <p:spPr>
          <a:xfrm>
            <a:off x="2133600" y="6519233"/>
            <a:ext cx="5410200" cy="1200329"/>
          </a:xfrm>
          <a:prstGeom prst="rect">
            <a:avLst/>
          </a:prstGeom>
          <a:noFill/>
        </p:spPr>
        <p:txBody>
          <a:bodyPr wrap="square">
            <a:spAutoFit/>
          </a:bodyPr>
          <a:lstStyle/>
          <a:p>
            <a:pPr algn="ctr"/>
            <a:r>
              <a:rPr lang="en-US" sz="2400" b="1" i="1" dirty="0">
                <a:latin typeface="Times New Roman" panose="02020603050405020304" pitchFamily="18" charset="0"/>
                <a:cs typeface="Times New Roman" panose="02020603050405020304" pitchFamily="18" charset="0"/>
              </a:rPr>
              <a:t>Portable Seizure Detector</a:t>
            </a:r>
          </a:p>
          <a:p>
            <a:pPr algn="ctr"/>
            <a:r>
              <a:rPr lang="en-US" sz="2400" b="1" dirty="0">
                <a:latin typeface="Times New Roman" panose="02020603050405020304" pitchFamily="18" charset="0"/>
                <a:cs typeface="Times New Roman" panose="02020603050405020304" pitchFamily="18" charset="0"/>
              </a:rPr>
              <a:t>(UK Design Patent #6469734)</a:t>
            </a:r>
          </a:p>
          <a:p>
            <a:pPr algn="ctr"/>
            <a:r>
              <a:rPr lang="en-US" sz="2400" b="1" dirty="0">
                <a:latin typeface="Times New Roman" panose="02020603050405020304" pitchFamily="18" charset="0"/>
                <a:cs typeface="Times New Roman" panose="02020603050405020304" pitchFamily="18" charset="0"/>
                <a:hlinkClick r:id="rId5"/>
              </a:rPr>
              <a:t>www.gov.uk.in</a:t>
            </a:r>
            <a:endParaRPr lang="en-IN" sz="24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F769D7CC-3EEC-0A27-9EF8-65EE4B71C1A4}"/>
              </a:ext>
            </a:extLst>
          </p:cNvPr>
          <p:cNvSpPr txBox="1"/>
          <p:nvPr/>
        </p:nvSpPr>
        <p:spPr>
          <a:xfrm>
            <a:off x="1676400" y="7671898"/>
            <a:ext cx="6845212" cy="2031325"/>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lightweight, wearable EEG headband equipped with </a:t>
            </a:r>
            <a:r>
              <a:rPr lang="en-US" b="1" dirty="0">
                <a:latin typeface="Times New Roman" panose="02020603050405020304" pitchFamily="18" charset="0"/>
                <a:cs typeface="Times New Roman" panose="02020603050405020304" pitchFamily="18" charset="0"/>
              </a:rPr>
              <a:t>8 dry electrodes</a:t>
            </a:r>
            <a:r>
              <a:rPr lang="en-US" dirty="0">
                <a:latin typeface="Times New Roman" panose="02020603050405020304" pitchFamily="18" charset="0"/>
                <a:cs typeface="Times New Roman" panose="02020603050405020304" pitchFamily="18" charset="0"/>
              </a:rPr>
              <a:t> designed to record real-time brainwave activity.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device integrates a </a:t>
            </a:r>
            <a:r>
              <a:rPr lang="en-US" b="1" dirty="0">
                <a:latin typeface="Times New Roman" panose="02020603050405020304" pitchFamily="18" charset="0"/>
                <a:cs typeface="Times New Roman" panose="02020603050405020304" pitchFamily="18" charset="0"/>
              </a:rPr>
              <a:t>signal amplifier (ADS1299)</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Wi-Fi/Bluetooth module</a:t>
            </a:r>
            <a:r>
              <a:rPr lang="en-US" dirty="0">
                <a:latin typeface="Times New Roman" panose="02020603050405020304" pitchFamily="18" charset="0"/>
                <a:cs typeface="Times New Roman" panose="02020603050405020304" pitchFamily="18" charset="0"/>
              </a:rPr>
              <a:t> to transmit EEG data directly to a cloud-connected system for AI-based seizure detection and prediction.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Its portable design enables continuous patient monitoring at home or in clinical environments.</a:t>
            </a:r>
            <a:endParaRPr lang="en-IN"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D6A2D9E9-1B52-75AB-A3DA-1764D5B855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98872" y="1821229"/>
            <a:ext cx="9783674" cy="6011315"/>
          </a:xfrm>
          <a:prstGeom prst="rect">
            <a:avLst/>
          </a:prstGeom>
          <a:ln w="88900" cap="sq" cmpd="thickThin">
            <a:solidFill>
              <a:srgbClr val="000000"/>
            </a:solidFill>
            <a:prstDash val="solid"/>
            <a:miter lim="800000"/>
          </a:ln>
          <a:effectLst>
            <a:innerShdw blurRad="76200">
              <a:srgbClr val="000000"/>
            </a:innerShdw>
          </a:effectLst>
        </p:spPr>
      </p:pic>
      <p:sp>
        <p:nvSpPr>
          <p:cNvPr id="23" name="TextBox 22">
            <a:extLst>
              <a:ext uri="{FF2B5EF4-FFF2-40B4-BE49-F238E27FC236}">
                <a16:creationId xmlns:a16="http://schemas.microsoft.com/office/drawing/2014/main" id="{3A6E83A4-E8F7-DAE5-9BB7-FD447200C4D1}"/>
              </a:ext>
            </a:extLst>
          </p:cNvPr>
          <p:cNvSpPr txBox="1"/>
          <p:nvPr/>
        </p:nvSpPr>
        <p:spPr>
          <a:xfrm>
            <a:off x="8507757" y="7964034"/>
            <a:ext cx="9001942" cy="1754326"/>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Integrated Display Functionality</a:t>
            </a:r>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1. For Patients: A Simple understandable dashboard, alert system, features changing modes, easy download and data manipulation , chargeable display for daily usage covering all the aspects that user can easily interpret and take immediate action if required.</a:t>
            </a:r>
          </a:p>
          <a:p>
            <a:pPr algn="just"/>
            <a:r>
              <a:rPr lang="en-IN" dirty="0">
                <a:latin typeface="Times New Roman" panose="02020603050405020304" pitchFamily="18" charset="0"/>
                <a:cs typeface="Times New Roman" panose="02020603050405020304" pitchFamily="18" charset="0"/>
              </a:rPr>
              <a:t>2. For Doctors: An easy access communication portal with patients for immediate notification, important reminders and extracting deep insights of patient’s condition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1002B-814E-9600-ABAD-90BA8164C3D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D0805C6-8523-C3F8-9429-2FB9C6F1CB2E}"/>
              </a:ext>
            </a:extLst>
          </p:cNvPr>
          <p:cNvSpPr/>
          <p:nvPr/>
        </p:nvSpPr>
        <p:spPr>
          <a:xfrm>
            <a:off x="1342874" y="190500"/>
            <a:ext cx="16945126"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l="-36271" t="-34656" b="-1614"/>
            </a:stretch>
          </a:blipFill>
        </p:spPr>
        <p:txBody>
          <a:bodyPr/>
          <a:lstStyle/>
          <a:p>
            <a:endParaRPr lang="en-IN"/>
          </a:p>
        </p:txBody>
      </p:sp>
      <p:sp>
        <p:nvSpPr>
          <p:cNvPr id="3" name="TextBox 3">
            <a:extLst>
              <a:ext uri="{FF2B5EF4-FFF2-40B4-BE49-F238E27FC236}">
                <a16:creationId xmlns:a16="http://schemas.microsoft.com/office/drawing/2014/main" id="{0D3D0CD7-E18C-FAF4-CFCD-29AC0FBDECC5}"/>
              </a:ext>
            </a:extLst>
          </p:cNvPr>
          <p:cNvSpPr txBox="1"/>
          <p:nvPr/>
        </p:nvSpPr>
        <p:spPr>
          <a:xfrm>
            <a:off x="2209800" y="344951"/>
            <a:ext cx="14165265" cy="983154"/>
          </a:xfrm>
          <a:prstGeom prst="rect">
            <a:avLst/>
          </a:prstGeom>
        </p:spPr>
        <p:txBody>
          <a:bodyPr wrap="square" lIns="0" tIns="0" rIns="0" bIns="0" rtlCol="0" anchor="t">
            <a:spAutoFit/>
          </a:bodyPr>
          <a:lstStyle/>
          <a:p>
            <a:pPr algn="ctr">
              <a:lnSpc>
                <a:spcPts val="8158"/>
              </a:lnSpc>
            </a:pPr>
            <a:r>
              <a:rPr lang="en-US" sz="6600" spc="-696" dirty="0">
                <a:solidFill>
                  <a:srgbClr val="0B4357"/>
                </a:solidFill>
                <a:latin typeface="Public Sans"/>
                <a:ea typeface="Public Sans"/>
                <a:cs typeface="Public Sans"/>
                <a:sym typeface="Public Sans"/>
              </a:rPr>
              <a:t>SOLUTION / IDEATION  BRIEF  DESCRIPTION</a:t>
            </a:r>
          </a:p>
        </p:txBody>
      </p:sp>
      <p:sp>
        <p:nvSpPr>
          <p:cNvPr id="4" name="Freeform 4">
            <a:extLst>
              <a:ext uri="{FF2B5EF4-FFF2-40B4-BE49-F238E27FC236}">
                <a16:creationId xmlns:a16="http://schemas.microsoft.com/office/drawing/2014/main" id="{846856D1-304D-3976-A0F0-3E763E080752}"/>
              </a:ext>
            </a:extLst>
          </p:cNvPr>
          <p:cNvSpPr/>
          <p:nvPr/>
        </p:nvSpPr>
        <p:spPr>
          <a:xfrm>
            <a:off x="1028700" y="-618033"/>
            <a:ext cx="314174" cy="12004159"/>
          </a:xfrm>
          <a:custGeom>
            <a:avLst/>
            <a:gdLst/>
            <a:ahLst/>
            <a:cxnLst/>
            <a:rect l="l" t="t" r="r" b="b"/>
            <a:pathLst>
              <a:path w="314174" h="12004159">
                <a:moveTo>
                  <a:pt x="0" y="0"/>
                </a:moveTo>
                <a:lnTo>
                  <a:pt x="314174" y="0"/>
                </a:lnTo>
                <a:lnTo>
                  <a:pt x="314174" y="12004159"/>
                </a:lnTo>
                <a:lnTo>
                  <a:pt x="0" y="1200415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pic>
        <p:nvPicPr>
          <p:cNvPr id="7" name="1234 (1)">
            <a:hlinkClick r:id="" action="ppaction://media"/>
            <a:extLst>
              <a:ext uri="{FF2B5EF4-FFF2-40B4-BE49-F238E27FC236}">
                <a16:creationId xmlns:a16="http://schemas.microsoft.com/office/drawing/2014/main" id="{27FD0DF7-FFC1-8919-CCD1-220957E2D1B0}"/>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725537" y="1930877"/>
            <a:ext cx="16179800" cy="6934200"/>
          </a:xfrm>
          <a:prstGeom prst="rect">
            <a:avLst/>
          </a:prstGeom>
          <a:ln>
            <a:noFill/>
          </a:ln>
          <a:effectLst>
            <a:glow rad="228600">
              <a:srgbClr val="FFFFFF">
                <a:alpha val="40000"/>
              </a:srgbClr>
            </a:glow>
          </a:effectLst>
          <a:scene3d>
            <a:camera prst="orthographicFront"/>
            <a:lightRig rig="threePt" dir="t">
              <a:rot lat="0" lon="0" rev="2100000"/>
            </a:lightRig>
          </a:scene3d>
          <a:sp3d>
            <a:bevelT w="152400" h="101600" prst="slope"/>
          </a:sp3d>
        </p:spPr>
      </p:pic>
    </p:spTree>
    <p:extLst>
      <p:ext uri="{BB962C8B-B14F-4D97-AF65-F5344CB8AC3E}">
        <p14:creationId xmlns:p14="http://schemas.microsoft.com/office/powerpoint/2010/main" val="411159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782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858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endParaRPr lang="en-IN"/>
          </a:p>
        </p:txBody>
      </p:sp>
      <p:sp>
        <p:nvSpPr>
          <p:cNvPr id="3" name="TextBox 3"/>
          <p:cNvSpPr txBox="1"/>
          <p:nvPr/>
        </p:nvSpPr>
        <p:spPr>
          <a:xfrm>
            <a:off x="904817" y="3788895"/>
            <a:ext cx="7951428" cy="2708434"/>
          </a:xfrm>
          <a:prstGeom prst="rect">
            <a:avLst/>
          </a:prstGeom>
        </p:spPr>
        <p:txBody>
          <a:bodyPr wrap="square" lIns="0" tIns="0" rIns="0" bIns="0" rtlCol="0" anchor="t">
            <a:spAutoFit/>
          </a:bodyPr>
          <a:lstStyle/>
          <a:p>
            <a:pPr algn="l"/>
            <a:r>
              <a:rPr lang="en-US" sz="8800" spc="-788" dirty="0">
                <a:solidFill>
                  <a:srgbClr val="0B4357"/>
                </a:solidFill>
                <a:latin typeface="Public Sans"/>
                <a:ea typeface="Public Sans"/>
                <a:cs typeface="Public Sans"/>
                <a:sym typeface="Public Sans"/>
              </a:rPr>
              <a:t>WORKING  OF THE  SOLUTION</a:t>
            </a:r>
          </a:p>
        </p:txBody>
      </p:sp>
      <p:sp>
        <p:nvSpPr>
          <p:cNvPr id="4" name="Freeform 4"/>
          <p:cNvSpPr/>
          <p:nvPr/>
        </p:nvSpPr>
        <p:spPr>
          <a:xfrm>
            <a:off x="8617528" y="780970"/>
            <a:ext cx="8648700" cy="2477181"/>
          </a:xfrm>
          <a:custGeom>
            <a:avLst/>
            <a:gdLst/>
            <a:ahLst/>
            <a:cxnLst/>
            <a:rect l="l" t="t" r="r" b="b"/>
            <a:pathLst>
              <a:path w="6998061" h="2561528">
                <a:moveTo>
                  <a:pt x="0" y="0"/>
                </a:moveTo>
                <a:lnTo>
                  <a:pt x="6998061" y="0"/>
                </a:lnTo>
                <a:lnTo>
                  <a:pt x="6998061" y="2561528"/>
                </a:lnTo>
                <a:lnTo>
                  <a:pt x="0" y="2561528"/>
                </a:lnTo>
                <a:lnTo>
                  <a:pt x="0" y="0"/>
                </a:lnTo>
                <a:close/>
              </a:path>
            </a:pathLst>
          </a:custGeom>
          <a:blipFill>
            <a:blip>
              <a:alphaModFix amt="90000"/>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5" name="TextBox 5"/>
          <p:cNvSpPr txBox="1"/>
          <p:nvPr/>
        </p:nvSpPr>
        <p:spPr>
          <a:xfrm>
            <a:off x="8918295" y="894201"/>
            <a:ext cx="1329760" cy="1102866"/>
          </a:xfrm>
          <a:prstGeom prst="rect">
            <a:avLst/>
          </a:prstGeom>
        </p:spPr>
        <p:txBody>
          <a:bodyPr wrap="square" lIns="0" tIns="0" rIns="0" bIns="0" rtlCol="0" anchor="t">
            <a:spAutoFit/>
          </a:bodyPr>
          <a:lstStyle/>
          <a:p>
            <a:pPr algn="l">
              <a:lnSpc>
                <a:spcPts val="8640"/>
              </a:lnSpc>
            </a:pPr>
            <a:r>
              <a:rPr lang="en-US" sz="7200" spc="-738" dirty="0">
                <a:solidFill>
                  <a:srgbClr val="F1F0EC"/>
                </a:solidFill>
                <a:latin typeface="Public Sans"/>
                <a:ea typeface="Public Sans"/>
                <a:cs typeface="Public Sans"/>
                <a:sym typeface="Public Sans"/>
              </a:rPr>
              <a:t>01.  </a:t>
            </a:r>
          </a:p>
        </p:txBody>
      </p:sp>
      <p:sp>
        <p:nvSpPr>
          <p:cNvPr id="6" name="Freeform 6"/>
          <p:cNvSpPr/>
          <p:nvPr/>
        </p:nvSpPr>
        <p:spPr>
          <a:xfrm>
            <a:off x="8617528" y="3540002"/>
            <a:ext cx="8648700" cy="2708434"/>
          </a:xfrm>
          <a:custGeom>
            <a:avLst/>
            <a:gdLst/>
            <a:ahLst/>
            <a:cxnLst/>
            <a:rect l="l" t="t" r="r" b="b"/>
            <a:pathLst>
              <a:path w="6998061" h="2561528">
                <a:moveTo>
                  <a:pt x="0" y="0"/>
                </a:moveTo>
                <a:lnTo>
                  <a:pt x="6998061" y="0"/>
                </a:lnTo>
                <a:lnTo>
                  <a:pt x="6998061" y="2561528"/>
                </a:lnTo>
                <a:lnTo>
                  <a:pt x="0" y="2561528"/>
                </a:lnTo>
                <a:lnTo>
                  <a:pt x="0" y="0"/>
                </a:lnTo>
                <a:close/>
              </a:path>
            </a:pathLst>
          </a:custGeom>
          <a:blipFill>
            <a:blip>
              <a:alphaModFix amt="90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8554316" y="6485109"/>
            <a:ext cx="8648700" cy="2836117"/>
          </a:xfrm>
          <a:custGeom>
            <a:avLst/>
            <a:gdLst/>
            <a:ahLst/>
            <a:cxnLst/>
            <a:rect l="l" t="t" r="r" b="b"/>
            <a:pathLst>
              <a:path w="6998061" h="2561528">
                <a:moveTo>
                  <a:pt x="0" y="0"/>
                </a:moveTo>
                <a:lnTo>
                  <a:pt x="6998061" y="0"/>
                </a:lnTo>
                <a:lnTo>
                  <a:pt x="6998061" y="2561528"/>
                </a:lnTo>
                <a:lnTo>
                  <a:pt x="0" y="2561528"/>
                </a:lnTo>
                <a:lnTo>
                  <a:pt x="0" y="0"/>
                </a:lnTo>
                <a:close/>
              </a:path>
            </a:pathLst>
          </a:custGeom>
          <a:blipFill>
            <a:blip>
              <a:alphaModFix amt="90000"/>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8" name="TextBox 8"/>
          <p:cNvSpPr txBox="1"/>
          <p:nvPr/>
        </p:nvSpPr>
        <p:spPr>
          <a:xfrm>
            <a:off x="8834195" y="3704486"/>
            <a:ext cx="1539122" cy="1102866"/>
          </a:xfrm>
          <a:prstGeom prst="rect">
            <a:avLst/>
          </a:prstGeom>
        </p:spPr>
        <p:txBody>
          <a:bodyPr wrap="square" lIns="0" tIns="0" rIns="0" bIns="0" rtlCol="0" anchor="t">
            <a:spAutoFit/>
          </a:bodyPr>
          <a:lstStyle/>
          <a:p>
            <a:pPr algn="l">
              <a:lnSpc>
                <a:spcPts val="8640"/>
              </a:lnSpc>
            </a:pPr>
            <a:r>
              <a:rPr lang="en-US" sz="7200" spc="-738" dirty="0">
                <a:solidFill>
                  <a:srgbClr val="F1F0EC"/>
                </a:solidFill>
                <a:latin typeface="Public Sans"/>
                <a:ea typeface="Public Sans"/>
                <a:cs typeface="Public Sans"/>
                <a:sym typeface="Public Sans"/>
              </a:rPr>
              <a:t>02.</a:t>
            </a:r>
          </a:p>
        </p:txBody>
      </p:sp>
      <p:sp>
        <p:nvSpPr>
          <p:cNvPr id="9" name="TextBox 9"/>
          <p:cNvSpPr txBox="1"/>
          <p:nvPr/>
        </p:nvSpPr>
        <p:spPr>
          <a:xfrm>
            <a:off x="8856246" y="6810639"/>
            <a:ext cx="1443984" cy="1102866"/>
          </a:xfrm>
          <a:prstGeom prst="rect">
            <a:avLst/>
          </a:prstGeom>
        </p:spPr>
        <p:txBody>
          <a:bodyPr wrap="square" lIns="0" tIns="0" rIns="0" bIns="0" rtlCol="0" anchor="t">
            <a:spAutoFit/>
          </a:bodyPr>
          <a:lstStyle/>
          <a:p>
            <a:pPr algn="l">
              <a:lnSpc>
                <a:spcPts val="8640"/>
              </a:lnSpc>
            </a:pPr>
            <a:r>
              <a:rPr lang="en-US" sz="7200" spc="-738" dirty="0">
                <a:solidFill>
                  <a:srgbClr val="F1F0EC"/>
                </a:solidFill>
                <a:latin typeface="Public Sans"/>
                <a:ea typeface="Public Sans"/>
                <a:cs typeface="Public Sans"/>
                <a:sym typeface="Public Sans"/>
              </a:rPr>
              <a:t>03.</a:t>
            </a:r>
          </a:p>
        </p:txBody>
      </p:sp>
      <p:sp>
        <p:nvSpPr>
          <p:cNvPr id="16" name="TextBox 15">
            <a:extLst>
              <a:ext uri="{FF2B5EF4-FFF2-40B4-BE49-F238E27FC236}">
                <a16:creationId xmlns:a16="http://schemas.microsoft.com/office/drawing/2014/main" id="{686E1FF8-59EE-3470-AE52-425394CD7DDB}"/>
              </a:ext>
            </a:extLst>
          </p:cNvPr>
          <p:cNvSpPr txBox="1"/>
          <p:nvPr/>
        </p:nvSpPr>
        <p:spPr>
          <a:xfrm>
            <a:off x="10373317" y="1034748"/>
            <a:ext cx="6705600" cy="800219"/>
          </a:xfrm>
          <a:prstGeom prst="rect">
            <a:avLst/>
          </a:prstGeom>
          <a:noFill/>
        </p:spPr>
        <p:txBody>
          <a:bodyPr wrap="square" rtlCol="0">
            <a:spAutoFit/>
          </a:bodyPr>
          <a:lstStyle/>
          <a:p>
            <a:r>
              <a:rPr lang="en-IN" sz="2800" b="1" dirty="0">
                <a:solidFill>
                  <a:schemeClr val="bg1"/>
                </a:solidFill>
                <a:latin typeface="Times New Roman" panose="02020603050405020304" pitchFamily="18" charset="0"/>
                <a:cs typeface="Times New Roman" panose="02020603050405020304" pitchFamily="18" charset="0"/>
              </a:rPr>
              <a:t>EEG Data Acquisition &amp; Transmission</a:t>
            </a:r>
          </a:p>
          <a:p>
            <a:endParaRPr lang="en-IN" dirty="0"/>
          </a:p>
        </p:txBody>
      </p:sp>
      <p:sp>
        <p:nvSpPr>
          <p:cNvPr id="17" name="TextBox 16">
            <a:extLst>
              <a:ext uri="{FF2B5EF4-FFF2-40B4-BE49-F238E27FC236}">
                <a16:creationId xmlns:a16="http://schemas.microsoft.com/office/drawing/2014/main" id="{1E1267D6-8A44-E28D-2CA1-2BFD14F6B1C9}"/>
              </a:ext>
            </a:extLst>
          </p:cNvPr>
          <p:cNvSpPr txBox="1"/>
          <p:nvPr/>
        </p:nvSpPr>
        <p:spPr>
          <a:xfrm>
            <a:off x="10197812" y="1604082"/>
            <a:ext cx="7005204" cy="1569660"/>
          </a:xfrm>
          <a:prstGeom prst="rect">
            <a:avLst/>
          </a:prstGeom>
          <a:noFill/>
        </p:spPr>
        <p:txBody>
          <a:bodyPr wrap="square" rtlCol="0">
            <a:spAutoFit/>
          </a:bodyPr>
          <a:lstStyle/>
          <a:p>
            <a:pPr algn="just"/>
            <a:r>
              <a:rPr lang="en-US" sz="2400" dirty="0">
                <a:solidFill>
                  <a:schemeClr val="bg1"/>
                </a:solidFill>
                <a:latin typeface="Times New Roman" panose="02020603050405020304" pitchFamily="18" charset="0"/>
                <a:cs typeface="Times New Roman" panose="02020603050405020304" pitchFamily="18" charset="0"/>
              </a:rPr>
              <a:t>The portable headband records real-time EEG signals using 8 dry electrodes. These signals are amplified and transmitted to the display for the patients and via Wi-Fi/Bluetooth to the cloud for the doctor’s analysis.</a:t>
            </a:r>
            <a:endParaRPr lang="en-IN" sz="2400" dirty="0">
              <a:solidFill>
                <a:schemeClr val="bg1"/>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86E827BF-7399-3BF2-7E50-A9790D7B9E13}"/>
              </a:ext>
            </a:extLst>
          </p:cNvPr>
          <p:cNvSpPr txBox="1"/>
          <p:nvPr/>
        </p:nvSpPr>
        <p:spPr>
          <a:xfrm>
            <a:off x="10428733" y="3587806"/>
            <a:ext cx="6705600" cy="523220"/>
          </a:xfrm>
          <a:prstGeom prst="rect">
            <a:avLst/>
          </a:prstGeom>
          <a:noFill/>
        </p:spPr>
        <p:txBody>
          <a:bodyPr wrap="square" rtlCol="0">
            <a:spAutoFit/>
          </a:bodyPr>
          <a:lstStyle/>
          <a:p>
            <a:r>
              <a:rPr lang="en-IN" sz="2800" b="1" dirty="0">
                <a:solidFill>
                  <a:schemeClr val="bg1"/>
                </a:solidFill>
                <a:latin typeface="Times New Roman" panose="02020603050405020304" pitchFamily="18" charset="0"/>
                <a:cs typeface="Times New Roman" panose="02020603050405020304" pitchFamily="18" charset="0"/>
              </a:rPr>
              <a:t>AI-Based Detection &amp; Prediction</a:t>
            </a:r>
            <a:endParaRPr lang="en-IN" dirty="0"/>
          </a:p>
        </p:txBody>
      </p:sp>
      <p:sp>
        <p:nvSpPr>
          <p:cNvPr id="19" name="TextBox 18">
            <a:extLst>
              <a:ext uri="{FF2B5EF4-FFF2-40B4-BE49-F238E27FC236}">
                <a16:creationId xmlns:a16="http://schemas.microsoft.com/office/drawing/2014/main" id="{9EA846D2-5CB3-2175-9125-2608CC93C0C9}"/>
              </a:ext>
            </a:extLst>
          </p:cNvPr>
          <p:cNvSpPr txBox="1"/>
          <p:nvPr/>
        </p:nvSpPr>
        <p:spPr>
          <a:xfrm>
            <a:off x="10380244" y="4147340"/>
            <a:ext cx="6885984" cy="1938992"/>
          </a:xfrm>
          <a:prstGeom prst="rect">
            <a:avLst/>
          </a:prstGeom>
          <a:noFill/>
        </p:spPr>
        <p:txBody>
          <a:bodyPr wrap="square" rtlCol="0">
            <a:spAutoFit/>
          </a:bodyPr>
          <a:lstStyle/>
          <a:p>
            <a:pPr algn="just"/>
            <a:r>
              <a:rPr lang="en-US" sz="2400" dirty="0">
                <a:solidFill>
                  <a:schemeClr val="bg1"/>
                </a:solidFill>
                <a:latin typeface="Times New Roman" panose="02020603050405020304" pitchFamily="18" charset="0"/>
                <a:cs typeface="Times New Roman" panose="02020603050405020304" pitchFamily="18" charset="0"/>
              </a:rPr>
              <a:t>The EEG signals are processed using 13 Statistical Features, FFT, STFT, Lyapunov and Wavelet Transforms for getting the best accuracy during the live analysis and if early irregularities are detected,  system predicts a potential seizure within 30 minutes.</a:t>
            </a:r>
            <a:endParaRPr lang="en-IN" sz="24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B40974A8-30E1-B8E3-60BE-81B1CD3EFAC4}"/>
              </a:ext>
            </a:extLst>
          </p:cNvPr>
          <p:cNvSpPr txBox="1"/>
          <p:nvPr/>
        </p:nvSpPr>
        <p:spPr>
          <a:xfrm>
            <a:off x="10653005" y="6581144"/>
            <a:ext cx="6705600" cy="523220"/>
          </a:xfrm>
          <a:prstGeom prst="rect">
            <a:avLst/>
          </a:prstGeom>
          <a:noFill/>
        </p:spPr>
        <p:txBody>
          <a:bodyPr wrap="square" rtlCol="0">
            <a:spAutoFit/>
          </a:bodyPr>
          <a:lstStyle/>
          <a:p>
            <a:r>
              <a:rPr lang="en-IN" sz="2800" b="1" dirty="0">
                <a:solidFill>
                  <a:schemeClr val="bg1"/>
                </a:solidFill>
                <a:latin typeface="Times New Roman" panose="02020603050405020304" pitchFamily="18" charset="0"/>
                <a:cs typeface="Times New Roman" panose="02020603050405020304" pitchFamily="18" charset="0"/>
              </a:rPr>
              <a:t>Real-Time Dashboard &amp; Alerts</a:t>
            </a:r>
            <a:endParaRPr lang="en-IN" dirty="0"/>
          </a:p>
        </p:txBody>
      </p:sp>
      <p:sp>
        <p:nvSpPr>
          <p:cNvPr id="21" name="TextBox 20">
            <a:extLst>
              <a:ext uri="{FF2B5EF4-FFF2-40B4-BE49-F238E27FC236}">
                <a16:creationId xmlns:a16="http://schemas.microsoft.com/office/drawing/2014/main" id="{242784CB-9AAA-3AA8-56A0-5C81DA005AD3}"/>
              </a:ext>
            </a:extLst>
          </p:cNvPr>
          <p:cNvSpPr txBox="1"/>
          <p:nvPr/>
        </p:nvSpPr>
        <p:spPr>
          <a:xfrm>
            <a:off x="10455818" y="7128609"/>
            <a:ext cx="6747198" cy="1938992"/>
          </a:xfrm>
          <a:prstGeom prst="rect">
            <a:avLst/>
          </a:prstGeom>
          <a:noFill/>
        </p:spPr>
        <p:txBody>
          <a:bodyPr wrap="square" rtlCol="0">
            <a:spAutoFit/>
          </a:bodyPr>
          <a:lstStyle/>
          <a:p>
            <a:pPr algn="just"/>
            <a:r>
              <a:rPr lang="en-US" sz="2400" dirty="0">
                <a:solidFill>
                  <a:schemeClr val="bg1"/>
                </a:solidFill>
                <a:latin typeface="Times New Roman" panose="02020603050405020304" pitchFamily="18" charset="0"/>
                <a:cs typeface="Times New Roman" panose="02020603050405020304" pitchFamily="18" charset="0"/>
              </a:rPr>
              <a:t>The results are displayed on the Power BI dashboard, highlighting affected brain regions and dominant frequency bands. The system sends instant alerts to the patient’s and doctor’s portals, enabling immediate response and prescription tracking.</a:t>
            </a:r>
            <a:endParaRPr lang="en-IN" sz="2400" dirty="0">
              <a:solidFill>
                <a:schemeClr val="bg1"/>
              </a:solidFill>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2DF6D8F9-5DCD-FF8F-2475-D482094567D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48871" y="1954654"/>
            <a:ext cx="1288815" cy="1288815"/>
          </a:xfrm>
          <a:prstGeom prst="rect">
            <a:avLst/>
          </a:prstGeom>
        </p:spPr>
      </p:pic>
      <p:pic>
        <p:nvPicPr>
          <p:cNvPr id="25" name="Picture 24">
            <a:extLst>
              <a:ext uri="{FF2B5EF4-FFF2-40B4-BE49-F238E27FC236}">
                <a16:creationId xmlns:a16="http://schemas.microsoft.com/office/drawing/2014/main" id="{8ED291A5-AFB0-6FB5-549D-132DB1BA4F1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69379" y="4757722"/>
            <a:ext cx="1378868" cy="1378868"/>
          </a:xfrm>
          <a:prstGeom prst="rect">
            <a:avLst/>
          </a:prstGeom>
          <a:effectLst>
            <a:outerShdw blurRad="50800" dist="38100" dir="8100000" algn="tr" rotWithShape="0">
              <a:schemeClr val="bg2">
                <a:alpha val="40000"/>
              </a:schemeClr>
            </a:outerShdw>
          </a:effectLst>
        </p:spPr>
      </p:pic>
      <p:pic>
        <p:nvPicPr>
          <p:cNvPr id="27" name="Picture 26">
            <a:extLst>
              <a:ext uri="{FF2B5EF4-FFF2-40B4-BE49-F238E27FC236}">
                <a16:creationId xmlns:a16="http://schemas.microsoft.com/office/drawing/2014/main" id="{AD3F69AF-92EA-CD69-3830-F2FA3740729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714862" y="7846358"/>
            <a:ext cx="1443985" cy="1443985"/>
          </a:xfrm>
          <a:prstGeom prst="rect">
            <a:avLst/>
          </a:prstGeom>
          <a:effectLst>
            <a:outerShdw blurRad="50800" dist="38100" dir="2700000" algn="tl" rotWithShape="0">
              <a:schemeClr val="tx2">
                <a:lumMod val="40000"/>
                <a:lumOff val="60000"/>
                <a:alpha val="40000"/>
              </a:scheme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endParaRPr lang="en-IN"/>
          </a:p>
        </p:txBody>
      </p:sp>
      <p:sp>
        <p:nvSpPr>
          <p:cNvPr id="3" name="Freeform 3"/>
          <p:cNvSpPr/>
          <p:nvPr/>
        </p:nvSpPr>
        <p:spPr>
          <a:xfrm>
            <a:off x="685800" y="495300"/>
            <a:ext cx="17068800" cy="8915400"/>
          </a:xfrm>
          <a:custGeom>
            <a:avLst/>
            <a:gdLst/>
            <a:ahLst/>
            <a:cxnLst/>
            <a:rect l="l" t="t" r="r" b="b"/>
            <a:pathLst>
              <a:path w="14395608" h="7583153">
                <a:moveTo>
                  <a:pt x="0" y="0"/>
                </a:moveTo>
                <a:lnTo>
                  <a:pt x="14395608" y="0"/>
                </a:lnTo>
                <a:lnTo>
                  <a:pt x="14395608" y="7583153"/>
                </a:lnTo>
                <a:lnTo>
                  <a:pt x="0" y="7583153"/>
                </a:lnTo>
                <a:lnTo>
                  <a:pt x="0" y="0"/>
                </a:lnTo>
                <a:close/>
              </a:path>
            </a:pathLst>
          </a:custGeom>
          <a:blipFill>
            <a:blip r:embed="rId3"/>
            <a:stretch>
              <a:fillRect t="-14248" r="-1940" b="-14248"/>
            </a:stretch>
          </a:blipFill>
        </p:spPr>
        <p:txBody>
          <a:bodyPr/>
          <a:lstStyle/>
          <a:p>
            <a:endParaRPr lang="en-IN"/>
          </a:p>
        </p:txBody>
      </p:sp>
      <p:sp>
        <p:nvSpPr>
          <p:cNvPr id="4" name="Freeform 4"/>
          <p:cNvSpPr/>
          <p:nvPr/>
        </p:nvSpPr>
        <p:spPr>
          <a:xfrm>
            <a:off x="457200" y="495300"/>
            <a:ext cx="17526000" cy="9296399"/>
          </a:xfrm>
          <a:custGeom>
            <a:avLst/>
            <a:gdLst/>
            <a:ahLst/>
            <a:cxnLst/>
            <a:rect l="l" t="t" r="r" b="b"/>
            <a:pathLst>
              <a:path w="14395608" h="7583153">
                <a:moveTo>
                  <a:pt x="0" y="0"/>
                </a:moveTo>
                <a:lnTo>
                  <a:pt x="14395608" y="0"/>
                </a:lnTo>
                <a:lnTo>
                  <a:pt x="14395608" y="7583153"/>
                </a:lnTo>
                <a:lnTo>
                  <a:pt x="0" y="7583153"/>
                </a:lnTo>
                <a:lnTo>
                  <a:pt x="0" y="0"/>
                </a:lnTo>
                <a:close/>
              </a:path>
            </a:pathLst>
          </a:custGeom>
          <a:blipFill>
            <a:blip>
              <a:alphaModFix amt="95000"/>
              <a:extLst>
                <a:ext uri="{96DAC541-7B7A-43D3-8B79-37D633B846F1}">
                  <asvg:svgBlip xmlns:asvg="http://schemas.microsoft.com/office/drawing/2016/SVG/main" r:embed="rId4"/>
                </a:ext>
              </a:extLst>
            </a:blip>
            <a:stretch>
              <a:fillRect/>
            </a:stretch>
          </a:blipFill>
        </p:spPr>
        <p:txBody>
          <a:bodyPr/>
          <a:lstStyle/>
          <a:p>
            <a:endParaRPr lang="en-IN"/>
          </a:p>
          <a:p>
            <a:endParaRPr lang="en-IN"/>
          </a:p>
          <a:p>
            <a:endParaRPr lang="en-IN"/>
          </a:p>
          <a:p>
            <a:endParaRPr lang="en-IN" dirty="0"/>
          </a:p>
        </p:txBody>
      </p:sp>
      <p:sp>
        <p:nvSpPr>
          <p:cNvPr id="7" name="TextBox 7"/>
          <p:cNvSpPr txBox="1"/>
          <p:nvPr/>
        </p:nvSpPr>
        <p:spPr>
          <a:xfrm>
            <a:off x="2375816" y="1250975"/>
            <a:ext cx="13536367" cy="654025"/>
          </a:xfrm>
          <a:prstGeom prst="rect">
            <a:avLst/>
          </a:prstGeom>
        </p:spPr>
        <p:txBody>
          <a:bodyPr wrap="square" lIns="0" tIns="0" rIns="0" bIns="0" rtlCol="0" anchor="t">
            <a:spAutoFit/>
          </a:bodyPr>
          <a:lstStyle/>
          <a:p>
            <a:pPr algn="ctr">
              <a:lnSpc>
                <a:spcPts val="5057"/>
              </a:lnSpc>
            </a:pPr>
            <a:r>
              <a:rPr lang="en-US" sz="4800" spc="-26" dirty="0">
                <a:solidFill>
                  <a:srgbClr val="F1F0EC"/>
                </a:solidFill>
                <a:latin typeface="Public Sans"/>
                <a:ea typeface="Public Sans"/>
                <a:cs typeface="Public Sans"/>
                <a:sym typeface="Public Sans"/>
              </a:rPr>
              <a:t>WHAT MAKES OUR SOLUTION STAND OUT </a:t>
            </a:r>
          </a:p>
        </p:txBody>
      </p:sp>
      <p:pic>
        <p:nvPicPr>
          <p:cNvPr id="10" name="Picture 9">
            <a:extLst>
              <a:ext uri="{FF2B5EF4-FFF2-40B4-BE49-F238E27FC236}">
                <a16:creationId xmlns:a16="http://schemas.microsoft.com/office/drawing/2014/main" id="{7A0BBD1C-22C7-DEC4-1DD3-165BCB95C011}"/>
              </a:ext>
            </a:extLst>
          </p:cNvPr>
          <p:cNvPicPr>
            <a:picLocks noChangeAspect="1"/>
          </p:cNvPicPr>
          <p:nvPr/>
        </p:nvPicPr>
        <p:blipFill>
          <a:blip r:embed="rId5"/>
          <a:stretch>
            <a:fillRect/>
          </a:stretch>
        </p:blipFill>
        <p:spPr>
          <a:xfrm>
            <a:off x="1033353" y="2342072"/>
            <a:ext cx="5159815" cy="6840027"/>
          </a:xfrm>
          <a:prstGeom prst="rect">
            <a:avLst/>
          </a:prstGeom>
          <a:ln w="228600" cap="sq" cmpd="thickThin">
            <a:solidFill>
              <a:srgbClr val="000000"/>
            </a:solidFill>
            <a:prstDash val="solid"/>
            <a:miter lim="800000"/>
          </a:ln>
          <a:effectLst>
            <a:innerShdw blurRad="76200">
              <a:srgbClr val="000000"/>
            </a:innerShdw>
          </a:effectLst>
        </p:spPr>
      </p:pic>
      <p:pic>
        <p:nvPicPr>
          <p:cNvPr id="9" name="Picture 8">
            <a:extLst>
              <a:ext uri="{FF2B5EF4-FFF2-40B4-BE49-F238E27FC236}">
                <a16:creationId xmlns:a16="http://schemas.microsoft.com/office/drawing/2014/main" id="{C9936CEB-6C4B-7747-3F86-DA558D0B0B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89836" y="2342072"/>
            <a:ext cx="4001977" cy="3158648"/>
          </a:xfrm>
          <a:prstGeom prst="rect">
            <a:avLst/>
          </a:prstGeom>
          <a:ln w="228600" cap="sq" cmpd="thickThin">
            <a:solidFill>
              <a:srgbClr val="000000"/>
            </a:solidFill>
            <a:prstDash val="solid"/>
            <a:miter lim="800000"/>
          </a:ln>
          <a:effectLst>
            <a:innerShdw blurRad="76200">
              <a:srgbClr val="000000"/>
            </a:innerShdw>
          </a:effectLst>
        </p:spPr>
      </p:pic>
      <p:pic>
        <p:nvPicPr>
          <p:cNvPr id="12" name="Picture 11">
            <a:extLst>
              <a:ext uri="{FF2B5EF4-FFF2-40B4-BE49-F238E27FC236}">
                <a16:creationId xmlns:a16="http://schemas.microsoft.com/office/drawing/2014/main" id="{B583D84F-B01D-43B7-AE9E-AFAACB104594}"/>
              </a:ext>
            </a:extLst>
          </p:cNvPr>
          <p:cNvPicPr>
            <a:picLocks noChangeAspect="1"/>
          </p:cNvPicPr>
          <p:nvPr/>
        </p:nvPicPr>
        <p:blipFill>
          <a:blip r:embed="rId7"/>
          <a:stretch>
            <a:fillRect/>
          </a:stretch>
        </p:blipFill>
        <p:spPr>
          <a:xfrm>
            <a:off x="12535208" y="2264272"/>
            <a:ext cx="4911341" cy="6840027"/>
          </a:xfrm>
          <a:prstGeom prst="rect">
            <a:avLst/>
          </a:prstGeom>
          <a:ln w="228600" cap="sq" cmpd="thickThin">
            <a:solidFill>
              <a:srgbClr val="000000"/>
            </a:solidFill>
            <a:prstDash val="solid"/>
            <a:miter lim="800000"/>
          </a:ln>
          <a:effectLst>
            <a:innerShdw blurRad="76200">
              <a:srgbClr val="000000"/>
            </a:innerShdw>
          </a:effectLst>
        </p:spPr>
      </p:pic>
      <p:pic>
        <p:nvPicPr>
          <p:cNvPr id="11" name="Picture 10">
            <a:extLst>
              <a:ext uri="{FF2B5EF4-FFF2-40B4-BE49-F238E27FC236}">
                <a16:creationId xmlns:a16="http://schemas.microsoft.com/office/drawing/2014/main" id="{6515D74F-FD55-7E0E-F168-701F01A7991B}"/>
              </a:ext>
            </a:extLst>
          </p:cNvPr>
          <p:cNvPicPr>
            <a:picLocks noChangeAspect="1"/>
          </p:cNvPicPr>
          <p:nvPr/>
        </p:nvPicPr>
        <p:blipFill>
          <a:blip r:embed="rId8"/>
          <a:stretch>
            <a:fillRect/>
          </a:stretch>
        </p:blipFill>
        <p:spPr>
          <a:xfrm>
            <a:off x="7001857" y="6198212"/>
            <a:ext cx="4436683" cy="2725859"/>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ED850-6619-E94B-8880-974B2957D80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17A4FDE-3658-45C3-DF89-987590D1D96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endParaRPr lang="en-IN"/>
          </a:p>
        </p:txBody>
      </p:sp>
      <p:sp>
        <p:nvSpPr>
          <p:cNvPr id="3" name="Freeform 3">
            <a:extLst>
              <a:ext uri="{FF2B5EF4-FFF2-40B4-BE49-F238E27FC236}">
                <a16:creationId xmlns:a16="http://schemas.microsoft.com/office/drawing/2014/main" id="{CD7EE43A-1C6A-4A05-9A79-DF0971A6D8AE}"/>
              </a:ext>
            </a:extLst>
          </p:cNvPr>
          <p:cNvSpPr/>
          <p:nvPr/>
        </p:nvSpPr>
        <p:spPr>
          <a:xfrm>
            <a:off x="685800" y="495300"/>
            <a:ext cx="17068800" cy="8915400"/>
          </a:xfrm>
          <a:custGeom>
            <a:avLst/>
            <a:gdLst/>
            <a:ahLst/>
            <a:cxnLst/>
            <a:rect l="l" t="t" r="r" b="b"/>
            <a:pathLst>
              <a:path w="14395608" h="7583153">
                <a:moveTo>
                  <a:pt x="0" y="0"/>
                </a:moveTo>
                <a:lnTo>
                  <a:pt x="14395608" y="0"/>
                </a:lnTo>
                <a:lnTo>
                  <a:pt x="14395608" y="7583153"/>
                </a:lnTo>
                <a:lnTo>
                  <a:pt x="0" y="7583153"/>
                </a:lnTo>
                <a:lnTo>
                  <a:pt x="0" y="0"/>
                </a:lnTo>
                <a:close/>
              </a:path>
            </a:pathLst>
          </a:custGeom>
          <a:blipFill>
            <a:blip r:embed="rId3"/>
            <a:stretch>
              <a:fillRect t="-14248" r="-1940" b="-14248"/>
            </a:stretch>
          </a:blipFill>
        </p:spPr>
        <p:txBody>
          <a:bodyPr/>
          <a:lstStyle/>
          <a:p>
            <a:endParaRPr lang="en-IN"/>
          </a:p>
        </p:txBody>
      </p:sp>
      <p:sp>
        <p:nvSpPr>
          <p:cNvPr id="4" name="Freeform 4">
            <a:extLst>
              <a:ext uri="{FF2B5EF4-FFF2-40B4-BE49-F238E27FC236}">
                <a16:creationId xmlns:a16="http://schemas.microsoft.com/office/drawing/2014/main" id="{79CC0C25-55A0-FA9F-5CB0-C62ED00731C0}"/>
              </a:ext>
            </a:extLst>
          </p:cNvPr>
          <p:cNvSpPr/>
          <p:nvPr/>
        </p:nvSpPr>
        <p:spPr>
          <a:xfrm>
            <a:off x="685799" y="495301"/>
            <a:ext cx="17068800" cy="8915400"/>
          </a:xfrm>
          <a:custGeom>
            <a:avLst/>
            <a:gdLst/>
            <a:ahLst/>
            <a:cxnLst/>
            <a:rect l="l" t="t" r="r" b="b"/>
            <a:pathLst>
              <a:path w="14395608" h="7583153">
                <a:moveTo>
                  <a:pt x="0" y="0"/>
                </a:moveTo>
                <a:lnTo>
                  <a:pt x="14395608" y="0"/>
                </a:lnTo>
                <a:lnTo>
                  <a:pt x="14395608" y="7583153"/>
                </a:lnTo>
                <a:lnTo>
                  <a:pt x="0" y="7583153"/>
                </a:lnTo>
                <a:lnTo>
                  <a:pt x="0" y="0"/>
                </a:lnTo>
                <a:close/>
              </a:path>
            </a:pathLst>
          </a:custGeom>
          <a:blipFill>
            <a:blip>
              <a:alphaModFix amt="95000"/>
              <a:extLst>
                <a:ext uri="{96DAC541-7B7A-43D3-8B79-37D633B846F1}">
                  <asvg:svgBlip xmlns:asvg="http://schemas.microsoft.com/office/drawing/2016/SVG/main" r:embed="rId4"/>
                </a:ext>
              </a:extLst>
            </a:blip>
            <a:stretch>
              <a:fillRect/>
            </a:stretch>
          </a:blipFill>
        </p:spPr>
        <p:txBody>
          <a:bodyPr/>
          <a:lstStyle/>
          <a:p>
            <a:endParaRPr lang="en-IN"/>
          </a:p>
          <a:p>
            <a:endParaRPr lang="en-IN"/>
          </a:p>
          <a:p>
            <a:endParaRPr lang="en-IN"/>
          </a:p>
          <a:p>
            <a:endParaRPr lang="en-IN" dirty="0"/>
          </a:p>
        </p:txBody>
      </p:sp>
      <p:sp>
        <p:nvSpPr>
          <p:cNvPr id="7" name="TextBox 7">
            <a:extLst>
              <a:ext uri="{FF2B5EF4-FFF2-40B4-BE49-F238E27FC236}">
                <a16:creationId xmlns:a16="http://schemas.microsoft.com/office/drawing/2014/main" id="{683190B2-5CB5-B178-8584-29A0C86DDA96}"/>
              </a:ext>
            </a:extLst>
          </p:cNvPr>
          <p:cNvSpPr txBox="1"/>
          <p:nvPr/>
        </p:nvSpPr>
        <p:spPr>
          <a:xfrm>
            <a:off x="2375816" y="1250975"/>
            <a:ext cx="13536367" cy="654025"/>
          </a:xfrm>
          <a:prstGeom prst="rect">
            <a:avLst/>
          </a:prstGeom>
        </p:spPr>
        <p:txBody>
          <a:bodyPr wrap="square" lIns="0" tIns="0" rIns="0" bIns="0" rtlCol="0" anchor="t">
            <a:spAutoFit/>
          </a:bodyPr>
          <a:lstStyle/>
          <a:p>
            <a:pPr algn="ctr">
              <a:lnSpc>
                <a:spcPts val="5057"/>
              </a:lnSpc>
            </a:pPr>
            <a:r>
              <a:rPr lang="en-US" sz="4800" spc="-26" dirty="0">
                <a:solidFill>
                  <a:srgbClr val="F1F0EC"/>
                </a:solidFill>
                <a:latin typeface="Public Sans"/>
                <a:ea typeface="Public Sans"/>
                <a:cs typeface="Public Sans"/>
                <a:sym typeface="Public Sans"/>
              </a:rPr>
              <a:t>WHAT MAKES OUR SOLUTION STAND OUT </a:t>
            </a:r>
          </a:p>
        </p:txBody>
      </p:sp>
      <p:sp>
        <p:nvSpPr>
          <p:cNvPr id="20" name="TextBox 19">
            <a:extLst>
              <a:ext uri="{FF2B5EF4-FFF2-40B4-BE49-F238E27FC236}">
                <a16:creationId xmlns:a16="http://schemas.microsoft.com/office/drawing/2014/main" id="{9DEB24C7-4170-48DA-3730-49948215F420}"/>
              </a:ext>
            </a:extLst>
          </p:cNvPr>
          <p:cNvSpPr txBox="1"/>
          <p:nvPr/>
        </p:nvSpPr>
        <p:spPr>
          <a:xfrm>
            <a:off x="732119" y="7156546"/>
            <a:ext cx="3944220" cy="1938992"/>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Senior Diabetologist</a:t>
            </a:r>
          </a:p>
          <a:p>
            <a:r>
              <a:rPr lang="en-IN" sz="2400" b="1" dirty="0">
                <a:solidFill>
                  <a:schemeClr val="bg1"/>
                </a:solidFill>
                <a:latin typeface="Times New Roman" panose="02020603050405020304" pitchFamily="18" charset="0"/>
                <a:cs typeface="Times New Roman" panose="02020603050405020304" pitchFamily="18" charset="0"/>
              </a:rPr>
              <a:t>Dr. Shailaja Kale </a:t>
            </a:r>
            <a:r>
              <a:rPr lang="en-IN" sz="2400" dirty="0">
                <a:solidFill>
                  <a:schemeClr val="bg1"/>
                </a:solidFill>
                <a:latin typeface="Times New Roman" panose="02020603050405020304" pitchFamily="18" charset="0"/>
                <a:cs typeface="Times New Roman" panose="02020603050405020304" pitchFamily="18" charset="0"/>
              </a:rPr>
              <a:t>approved our work, specifying it as </a:t>
            </a:r>
            <a:r>
              <a:rPr lang="en-IN" sz="2400" i="1" dirty="0">
                <a:solidFill>
                  <a:schemeClr val="bg1"/>
                </a:solidFill>
                <a:latin typeface="Times New Roman" panose="02020603050405020304" pitchFamily="18" charset="0"/>
                <a:cs typeface="Times New Roman" panose="02020603050405020304" pitchFamily="18" charset="0"/>
              </a:rPr>
              <a:t>“Excellent idea having potential for a startup”</a:t>
            </a:r>
          </a:p>
        </p:txBody>
      </p:sp>
      <p:pic>
        <p:nvPicPr>
          <p:cNvPr id="9" name="Picture 8">
            <a:extLst>
              <a:ext uri="{FF2B5EF4-FFF2-40B4-BE49-F238E27FC236}">
                <a16:creationId xmlns:a16="http://schemas.microsoft.com/office/drawing/2014/main" id="{B01032D9-9B77-C161-3696-B2CD3551F722}"/>
              </a:ext>
            </a:extLst>
          </p:cNvPr>
          <p:cNvPicPr>
            <a:picLocks noChangeAspect="1"/>
          </p:cNvPicPr>
          <p:nvPr/>
        </p:nvPicPr>
        <p:blipFill>
          <a:blip r:embed="rId5">
            <a:extLst>
              <a:ext uri="{28A0092B-C50C-407E-A947-70E740481C1C}">
                <a14:useLocalDpi xmlns:a14="http://schemas.microsoft.com/office/drawing/2010/main" val="0"/>
              </a:ext>
            </a:extLst>
          </a:blip>
          <a:srcRect l="579" t="5519" r="-579" b="12294"/>
          <a:stretch>
            <a:fillRect/>
          </a:stretch>
        </p:blipFill>
        <p:spPr>
          <a:xfrm>
            <a:off x="882761" y="2071621"/>
            <a:ext cx="4451239" cy="4847433"/>
          </a:xfrm>
          <a:prstGeom prst="rect">
            <a:avLst/>
          </a:prstGeom>
          <a:ln w="228600" cap="sq" cmpd="thickThin">
            <a:solidFill>
              <a:srgbClr val="000000"/>
            </a:solidFill>
            <a:prstDash val="solid"/>
            <a:miter lim="800000"/>
          </a:ln>
          <a:effectLst>
            <a:innerShdw blurRad="76200">
              <a:srgbClr val="000000"/>
            </a:innerShdw>
          </a:effectLst>
        </p:spPr>
      </p:pic>
      <p:pic>
        <p:nvPicPr>
          <p:cNvPr id="12" name="Picture 11">
            <a:extLst>
              <a:ext uri="{FF2B5EF4-FFF2-40B4-BE49-F238E27FC236}">
                <a16:creationId xmlns:a16="http://schemas.microsoft.com/office/drawing/2014/main" id="{E7AB4AD5-6D98-A4A3-B943-A6C1367B1536}"/>
              </a:ext>
            </a:extLst>
          </p:cNvPr>
          <p:cNvPicPr>
            <a:picLocks noChangeAspect="1"/>
          </p:cNvPicPr>
          <p:nvPr/>
        </p:nvPicPr>
        <p:blipFill>
          <a:blip r:embed="rId6">
            <a:extLst>
              <a:ext uri="{28A0092B-C50C-407E-A947-70E740481C1C}">
                <a14:useLocalDpi xmlns:a14="http://schemas.microsoft.com/office/drawing/2010/main" val="0"/>
              </a:ext>
            </a:extLst>
          </a:blip>
          <a:srcRect l="13105" t="7922" r="14091"/>
          <a:stretch>
            <a:fillRect/>
          </a:stretch>
        </p:blipFill>
        <p:spPr>
          <a:xfrm>
            <a:off x="4676340" y="4609668"/>
            <a:ext cx="4877678" cy="461543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3" name="Picture 12">
            <a:extLst>
              <a:ext uri="{FF2B5EF4-FFF2-40B4-BE49-F238E27FC236}">
                <a16:creationId xmlns:a16="http://schemas.microsoft.com/office/drawing/2014/main" id="{591FF7CB-1500-2144-A5F2-D69B47FD4EF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65225" y="2071621"/>
            <a:ext cx="4451240" cy="5218539"/>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14" name="Picture 13">
            <a:extLst>
              <a:ext uri="{FF2B5EF4-FFF2-40B4-BE49-F238E27FC236}">
                <a16:creationId xmlns:a16="http://schemas.microsoft.com/office/drawing/2014/main" id="{19333ED7-BF7C-11C9-7E1D-B8B65E4ACB3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981175" y="4852337"/>
            <a:ext cx="3621025" cy="44538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TextBox 14">
            <a:extLst>
              <a:ext uri="{FF2B5EF4-FFF2-40B4-BE49-F238E27FC236}">
                <a16:creationId xmlns:a16="http://schemas.microsoft.com/office/drawing/2014/main" id="{D560AF81-7240-79E8-6A04-79CFA723321E}"/>
              </a:ext>
            </a:extLst>
          </p:cNvPr>
          <p:cNvSpPr txBox="1"/>
          <p:nvPr/>
        </p:nvSpPr>
        <p:spPr>
          <a:xfrm>
            <a:off x="9753600" y="7461823"/>
            <a:ext cx="4227573" cy="1938992"/>
          </a:xfrm>
          <a:prstGeom prst="rect">
            <a:avLst/>
          </a:prstGeom>
          <a:noFill/>
        </p:spPr>
        <p:txBody>
          <a:bodyPr wrap="square" rtlCol="0">
            <a:spAutoFit/>
          </a:bodyPr>
          <a:lstStyle/>
          <a:p>
            <a:r>
              <a:rPr lang="en-IN" sz="2000" b="1" dirty="0">
                <a:solidFill>
                  <a:schemeClr val="bg1"/>
                </a:solidFill>
                <a:latin typeface="Times New Roman" panose="02020603050405020304" pitchFamily="18" charset="0"/>
                <a:cs typeface="Times New Roman" panose="02020603050405020304" pitchFamily="18" charset="0"/>
              </a:rPr>
              <a:t>Senior Neurologist Dr. Ritesh Bhalla</a:t>
            </a:r>
          </a:p>
          <a:p>
            <a:r>
              <a:rPr lang="en-IN" sz="2000" b="1" dirty="0">
                <a:solidFill>
                  <a:schemeClr val="bg1"/>
                </a:solidFill>
                <a:latin typeface="Times New Roman" panose="02020603050405020304" pitchFamily="18" charset="0"/>
                <a:cs typeface="Times New Roman" panose="02020603050405020304" pitchFamily="18" charset="0"/>
              </a:rPr>
              <a:t>And Product Designer Mr. Saurabh Dharmadhikari </a:t>
            </a:r>
            <a:r>
              <a:rPr lang="en-IN" sz="2000" dirty="0">
                <a:solidFill>
                  <a:schemeClr val="bg1"/>
                </a:solidFill>
                <a:latin typeface="Times New Roman" panose="02020603050405020304" pitchFamily="18" charset="0"/>
                <a:cs typeface="Times New Roman" panose="02020603050405020304" pitchFamily="18" charset="0"/>
              </a:rPr>
              <a:t>from</a:t>
            </a:r>
            <a:r>
              <a:rPr lang="en-IN" sz="2000" b="1" dirty="0">
                <a:solidFill>
                  <a:schemeClr val="bg1"/>
                </a:solidFill>
                <a:latin typeface="Times New Roman" panose="02020603050405020304" pitchFamily="18" charset="0"/>
                <a:cs typeface="Times New Roman" panose="02020603050405020304" pitchFamily="18" charset="0"/>
              </a:rPr>
              <a:t> Lokmanya Hospital, Pune  </a:t>
            </a:r>
            <a:r>
              <a:rPr lang="en-IN" sz="2000" dirty="0">
                <a:solidFill>
                  <a:schemeClr val="bg1"/>
                </a:solidFill>
                <a:latin typeface="Times New Roman" panose="02020603050405020304" pitchFamily="18" charset="0"/>
                <a:cs typeface="Times New Roman" panose="02020603050405020304" pitchFamily="18" charset="0"/>
              </a:rPr>
              <a:t>endorsed this idea and are open to guide and collaborate with us.</a:t>
            </a:r>
          </a:p>
        </p:txBody>
      </p:sp>
    </p:spTree>
    <p:extLst>
      <p:ext uri="{BB962C8B-B14F-4D97-AF65-F5344CB8AC3E}">
        <p14:creationId xmlns:p14="http://schemas.microsoft.com/office/powerpoint/2010/main" val="2398567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1594" y="0"/>
            <a:ext cx="184404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endParaRPr lang="en-IN" dirty="0"/>
          </a:p>
        </p:txBody>
      </p:sp>
      <p:sp>
        <p:nvSpPr>
          <p:cNvPr id="3" name="TextBox 3"/>
          <p:cNvSpPr txBox="1"/>
          <p:nvPr/>
        </p:nvSpPr>
        <p:spPr>
          <a:xfrm>
            <a:off x="1708356" y="397820"/>
            <a:ext cx="15972692" cy="1051570"/>
          </a:xfrm>
          <a:prstGeom prst="rect">
            <a:avLst/>
          </a:prstGeom>
        </p:spPr>
        <p:txBody>
          <a:bodyPr wrap="square" lIns="0" tIns="0" rIns="0" bIns="0" rtlCol="0" anchor="t">
            <a:spAutoFit/>
          </a:bodyPr>
          <a:lstStyle/>
          <a:p>
            <a:pPr algn="ctr">
              <a:lnSpc>
                <a:spcPts val="8158"/>
              </a:lnSpc>
            </a:pPr>
            <a:r>
              <a:rPr lang="en-US" sz="7200" spc="-696" dirty="0">
                <a:solidFill>
                  <a:srgbClr val="0B4357"/>
                </a:solidFill>
                <a:latin typeface="Public Sans"/>
                <a:ea typeface="Public Sans"/>
                <a:cs typeface="Public Sans"/>
                <a:sym typeface="Public Sans"/>
              </a:rPr>
              <a:t>TARGET  MARKET  AND  BUSINESS  MODEL</a:t>
            </a:r>
          </a:p>
        </p:txBody>
      </p:sp>
      <p:sp>
        <p:nvSpPr>
          <p:cNvPr id="4" name="Freeform 4"/>
          <p:cNvSpPr/>
          <p:nvPr/>
        </p:nvSpPr>
        <p:spPr>
          <a:xfrm>
            <a:off x="1228881" y="-1099933"/>
            <a:ext cx="314174" cy="12004159"/>
          </a:xfrm>
          <a:custGeom>
            <a:avLst/>
            <a:gdLst/>
            <a:ahLst/>
            <a:cxnLst/>
            <a:rect l="l" t="t" r="r" b="b"/>
            <a:pathLst>
              <a:path w="314174" h="12004159">
                <a:moveTo>
                  <a:pt x="0" y="0"/>
                </a:moveTo>
                <a:lnTo>
                  <a:pt x="314174" y="0"/>
                </a:lnTo>
                <a:lnTo>
                  <a:pt x="314174" y="12004159"/>
                </a:lnTo>
                <a:lnTo>
                  <a:pt x="0" y="12004159"/>
                </a:lnTo>
                <a:lnTo>
                  <a:pt x="0" y="0"/>
                </a:lnTo>
                <a:close/>
              </a:path>
            </a:pathLst>
          </a:custGeom>
          <a:blipFill>
            <a:blip>
              <a:alphaModFix amt="89000"/>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7" name="Group 7"/>
          <p:cNvGrpSpPr/>
          <p:nvPr/>
        </p:nvGrpSpPr>
        <p:grpSpPr>
          <a:xfrm>
            <a:off x="2114199" y="1480537"/>
            <a:ext cx="6801032" cy="1071168"/>
            <a:chOff x="0" y="0"/>
            <a:chExt cx="8104760" cy="1377823"/>
          </a:xfrm>
        </p:grpSpPr>
        <p:sp>
          <p:nvSpPr>
            <p:cNvPr id="8" name="Freeform 8"/>
            <p:cNvSpPr/>
            <p:nvPr/>
          </p:nvSpPr>
          <p:spPr>
            <a:xfrm>
              <a:off x="16891" y="16891"/>
              <a:ext cx="8070977" cy="1344040"/>
            </a:xfrm>
            <a:custGeom>
              <a:avLst/>
              <a:gdLst/>
              <a:ahLst/>
              <a:cxnLst/>
              <a:rect l="l" t="t" r="r" b="b"/>
              <a:pathLst>
                <a:path w="8070977" h="1344041">
                  <a:moveTo>
                    <a:pt x="0" y="0"/>
                  </a:moveTo>
                  <a:lnTo>
                    <a:pt x="8070977" y="0"/>
                  </a:lnTo>
                  <a:lnTo>
                    <a:pt x="8070977" y="1344041"/>
                  </a:lnTo>
                  <a:lnTo>
                    <a:pt x="0" y="1344041"/>
                  </a:lnTo>
                  <a:close/>
                </a:path>
              </a:pathLst>
            </a:custGeom>
            <a:solidFill>
              <a:srgbClr val="0B4357">
                <a:alpha val="88627"/>
              </a:srgbClr>
            </a:solidFill>
          </p:spPr>
          <p:txBody>
            <a:bodyPr/>
            <a:lstStyle/>
            <a:p>
              <a:endParaRPr lang="en-IN"/>
            </a:p>
          </p:txBody>
        </p:sp>
        <p:sp>
          <p:nvSpPr>
            <p:cNvPr id="9" name="Freeform 9"/>
            <p:cNvSpPr/>
            <p:nvPr/>
          </p:nvSpPr>
          <p:spPr>
            <a:xfrm>
              <a:off x="0" y="0"/>
              <a:ext cx="8104760" cy="1377823"/>
            </a:xfrm>
            <a:custGeom>
              <a:avLst/>
              <a:gdLst/>
              <a:ahLst/>
              <a:cxnLst/>
              <a:rect l="l" t="t" r="r" b="b"/>
              <a:pathLst>
                <a:path w="8104760" h="1377823">
                  <a:moveTo>
                    <a:pt x="16891" y="0"/>
                  </a:moveTo>
                  <a:lnTo>
                    <a:pt x="8087868" y="0"/>
                  </a:lnTo>
                  <a:cubicBezTo>
                    <a:pt x="8097266" y="0"/>
                    <a:pt x="8104760" y="7620"/>
                    <a:pt x="8104760" y="16891"/>
                  </a:cubicBezTo>
                  <a:lnTo>
                    <a:pt x="8104760" y="1360932"/>
                  </a:lnTo>
                  <a:cubicBezTo>
                    <a:pt x="8104760" y="1370330"/>
                    <a:pt x="8097139" y="1377823"/>
                    <a:pt x="8087868" y="1377823"/>
                  </a:cubicBezTo>
                  <a:lnTo>
                    <a:pt x="16891" y="1377823"/>
                  </a:lnTo>
                  <a:cubicBezTo>
                    <a:pt x="7493" y="1377823"/>
                    <a:pt x="0" y="1370203"/>
                    <a:pt x="0" y="1360932"/>
                  </a:cubicBezTo>
                  <a:lnTo>
                    <a:pt x="0" y="16891"/>
                  </a:lnTo>
                  <a:cubicBezTo>
                    <a:pt x="0" y="7620"/>
                    <a:pt x="7620" y="0"/>
                    <a:pt x="16891" y="0"/>
                  </a:cubicBezTo>
                  <a:moveTo>
                    <a:pt x="16891" y="33909"/>
                  </a:moveTo>
                  <a:lnTo>
                    <a:pt x="16891" y="16891"/>
                  </a:lnTo>
                  <a:lnTo>
                    <a:pt x="33909" y="16891"/>
                  </a:lnTo>
                  <a:lnTo>
                    <a:pt x="33909" y="1360932"/>
                  </a:lnTo>
                  <a:lnTo>
                    <a:pt x="16891" y="1360932"/>
                  </a:lnTo>
                  <a:lnTo>
                    <a:pt x="16891" y="1344041"/>
                  </a:lnTo>
                  <a:lnTo>
                    <a:pt x="8087868" y="1344041"/>
                  </a:lnTo>
                  <a:lnTo>
                    <a:pt x="8087868" y="1360932"/>
                  </a:lnTo>
                  <a:lnTo>
                    <a:pt x="8070977" y="1360932"/>
                  </a:lnTo>
                  <a:lnTo>
                    <a:pt x="8070977" y="16891"/>
                  </a:lnTo>
                  <a:lnTo>
                    <a:pt x="8087868" y="16891"/>
                  </a:lnTo>
                  <a:lnTo>
                    <a:pt x="8087868" y="33909"/>
                  </a:lnTo>
                  <a:lnTo>
                    <a:pt x="16891" y="33909"/>
                  </a:lnTo>
                  <a:close/>
                </a:path>
              </a:pathLst>
            </a:custGeom>
            <a:solidFill>
              <a:srgbClr val="0B4357">
                <a:alpha val="88627"/>
              </a:srgbClr>
            </a:solidFill>
          </p:spPr>
          <p:txBody>
            <a:bodyPr/>
            <a:lstStyle/>
            <a:p>
              <a:endParaRPr lang="en-IN"/>
            </a:p>
          </p:txBody>
        </p:sp>
      </p:grpSp>
      <p:grpSp>
        <p:nvGrpSpPr>
          <p:cNvPr id="10" name="Group 10"/>
          <p:cNvGrpSpPr/>
          <p:nvPr/>
        </p:nvGrpSpPr>
        <p:grpSpPr>
          <a:xfrm>
            <a:off x="3652630" y="1417493"/>
            <a:ext cx="4284688" cy="1099291"/>
            <a:chOff x="-221701" y="-1588711"/>
            <a:chExt cx="5712916" cy="1465721"/>
          </a:xfrm>
        </p:grpSpPr>
        <p:sp>
          <p:nvSpPr>
            <p:cNvPr id="11" name="Freeform 11"/>
            <p:cNvSpPr/>
            <p:nvPr/>
          </p:nvSpPr>
          <p:spPr>
            <a:xfrm>
              <a:off x="266787" y="-1588711"/>
              <a:ext cx="5224428" cy="1377867"/>
            </a:xfrm>
            <a:custGeom>
              <a:avLst/>
              <a:gdLst/>
              <a:ahLst/>
              <a:cxnLst/>
              <a:rect l="l" t="t" r="r" b="b"/>
              <a:pathLst>
                <a:path w="5224428" h="1377867">
                  <a:moveTo>
                    <a:pt x="0" y="0"/>
                  </a:moveTo>
                  <a:lnTo>
                    <a:pt x="5224428" y="0"/>
                  </a:lnTo>
                  <a:lnTo>
                    <a:pt x="5224428" y="1377867"/>
                  </a:lnTo>
                  <a:lnTo>
                    <a:pt x="0" y="1377867"/>
                  </a:lnTo>
                  <a:close/>
                </a:path>
              </a:pathLst>
            </a:custGeom>
            <a:solidFill>
              <a:srgbClr val="000000">
                <a:alpha val="0"/>
              </a:srgbClr>
            </a:solidFill>
          </p:spPr>
          <p:txBody>
            <a:bodyPr/>
            <a:lstStyle/>
            <a:p>
              <a:endParaRPr lang="en-IN"/>
            </a:p>
          </p:txBody>
        </p:sp>
        <p:sp>
          <p:nvSpPr>
            <p:cNvPr id="12" name="TextBox 12"/>
            <p:cNvSpPr txBox="1"/>
            <p:nvPr/>
          </p:nvSpPr>
          <p:spPr>
            <a:xfrm>
              <a:off x="-221701" y="-1529432"/>
              <a:ext cx="5224428" cy="1406442"/>
            </a:xfrm>
            <a:prstGeom prst="rect">
              <a:avLst/>
            </a:prstGeom>
          </p:spPr>
          <p:txBody>
            <a:bodyPr lIns="0" tIns="0" rIns="0" bIns="0" rtlCol="0" anchor="ctr"/>
            <a:lstStyle/>
            <a:p>
              <a:pPr algn="ctr">
                <a:lnSpc>
                  <a:spcPts val="3780"/>
                </a:lnSpc>
              </a:pPr>
              <a:r>
                <a:rPr lang="en-US" sz="3500" dirty="0">
                  <a:solidFill>
                    <a:srgbClr val="FFFFFF"/>
                  </a:solidFill>
                  <a:latin typeface="Calibri (MS)"/>
                  <a:ea typeface="Calibri (MS)"/>
                  <a:cs typeface="Calibri (MS)"/>
                  <a:sym typeface="Calibri (MS)"/>
                </a:rPr>
                <a:t>Target Market:</a:t>
              </a:r>
            </a:p>
          </p:txBody>
        </p:sp>
      </p:grpSp>
      <p:grpSp>
        <p:nvGrpSpPr>
          <p:cNvPr id="13" name="Group 13"/>
          <p:cNvGrpSpPr/>
          <p:nvPr/>
        </p:nvGrpSpPr>
        <p:grpSpPr>
          <a:xfrm>
            <a:off x="2099977" y="2529346"/>
            <a:ext cx="6815253" cy="6628793"/>
            <a:chOff x="0" y="0"/>
            <a:chExt cx="8104815" cy="5414067"/>
          </a:xfrm>
        </p:grpSpPr>
        <p:sp>
          <p:nvSpPr>
            <p:cNvPr id="14" name="Freeform 14"/>
            <p:cNvSpPr/>
            <p:nvPr/>
          </p:nvSpPr>
          <p:spPr>
            <a:xfrm>
              <a:off x="16891" y="16891"/>
              <a:ext cx="8070977" cy="5380228"/>
            </a:xfrm>
            <a:custGeom>
              <a:avLst/>
              <a:gdLst/>
              <a:ahLst/>
              <a:cxnLst/>
              <a:rect l="l" t="t" r="r" b="b"/>
              <a:pathLst>
                <a:path w="8070977" h="5380228">
                  <a:moveTo>
                    <a:pt x="0" y="0"/>
                  </a:moveTo>
                  <a:lnTo>
                    <a:pt x="8070977" y="0"/>
                  </a:lnTo>
                  <a:lnTo>
                    <a:pt x="8070977" y="5380228"/>
                  </a:lnTo>
                  <a:lnTo>
                    <a:pt x="0" y="5380228"/>
                  </a:lnTo>
                  <a:close/>
                </a:path>
              </a:pathLst>
            </a:custGeom>
            <a:solidFill>
              <a:srgbClr val="79A2B0">
                <a:alpha val="41961"/>
              </a:srgbClr>
            </a:solidFill>
          </p:spPr>
          <p:txBody>
            <a:bodyPr/>
            <a:lstStyle/>
            <a:p>
              <a:endParaRPr lang="en-US" dirty="0"/>
            </a:p>
            <a:p>
              <a:r>
                <a:rPr lang="en-US" sz="2400" b="1" dirty="0">
                  <a:latin typeface="Times New Roman" panose="02020603050405020304" pitchFamily="18" charset="0"/>
                  <a:cs typeface="Times New Roman" panose="02020603050405020304" pitchFamily="18" charset="0"/>
                </a:rPr>
                <a:t>Global Need:</a:t>
              </a:r>
              <a:r>
                <a:rPr lang="en-US" sz="2400" dirty="0">
                  <a:latin typeface="Times New Roman" panose="02020603050405020304" pitchFamily="18" charset="0"/>
                  <a:cs typeface="Times New Roman" panose="02020603050405020304" pitchFamily="18" charset="0"/>
                </a:rPr>
                <a:t> 65M+ people with epilepsy worldwide, 10M+ in India (90% untreated).</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Primary Market:</a:t>
              </a:r>
              <a:r>
                <a:rPr lang="en-US" sz="2400" dirty="0">
                  <a:latin typeface="Times New Roman" panose="02020603050405020304" pitchFamily="18" charset="0"/>
                  <a:cs typeface="Times New Roman" panose="02020603050405020304" pitchFamily="18" charset="0"/>
                </a:rPr>
                <a:t> Hospitals, Neurologists, Diagnostic Labs</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Secondary Market:</a:t>
              </a:r>
              <a:r>
                <a:rPr lang="en-US" sz="2400" dirty="0">
                  <a:latin typeface="Times New Roman" panose="02020603050405020304" pitchFamily="18" charset="0"/>
                  <a:cs typeface="Times New Roman" panose="02020603050405020304" pitchFamily="18" charset="0"/>
                </a:rPr>
                <a:t> Research Institutions, Medical Colleges, Home-Care Systems</a:t>
              </a:r>
            </a:p>
            <a:p>
              <a:r>
                <a:rPr lang="en-US" sz="2400" b="1" dirty="0">
                  <a:latin typeface="Times New Roman" panose="02020603050405020304" pitchFamily="18" charset="0"/>
                  <a:cs typeface="Times New Roman" panose="02020603050405020304" pitchFamily="18" charset="0"/>
                </a:rPr>
                <a:t>Partner with DRDO </a:t>
              </a:r>
              <a:r>
                <a:rPr lang="en-US" sz="2400" dirty="0">
                  <a:latin typeface="Times New Roman" panose="02020603050405020304" pitchFamily="18" charset="0"/>
                  <a:cs typeface="Times New Roman" panose="02020603050405020304" pitchFamily="18" charset="0"/>
                </a:rPr>
                <a:t>by providing company shares for better company growth and reach</a:t>
              </a:r>
            </a:p>
            <a:p>
              <a:endParaRPr lang="en-IN" sz="2400" dirty="0">
                <a:latin typeface="Times New Roman" panose="02020603050405020304" pitchFamily="18" charset="0"/>
                <a:cs typeface="Times New Roman" panose="02020603050405020304" pitchFamily="18" charset="0"/>
              </a:endParaRPr>
            </a:p>
          </p:txBody>
        </p:sp>
        <p:sp>
          <p:nvSpPr>
            <p:cNvPr id="15" name="Freeform 15"/>
            <p:cNvSpPr/>
            <p:nvPr/>
          </p:nvSpPr>
          <p:spPr>
            <a:xfrm>
              <a:off x="0" y="0"/>
              <a:ext cx="8104760" cy="5414010"/>
            </a:xfrm>
            <a:custGeom>
              <a:avLst/>
              <a:gdLst/>
              <a:ahLst/>
              <a:cxnLst/>
              <a:rect l="l" t="t" r="r" b="b"/>
              <a:pathLst>
                <a:path w="8104760" h="5414010">
                  <a:moveTo>
                    <a:pt x="16891" y="0"/>
                  </a:moveTo>
                  <a:lnTo>
                    <a:pt x="8087868" y="0"/>
                  </a:lnTo>
                  <a:cubicBezTo>
                    <a:pt x="8097266" y="0"/>
                    <a:pt x="8104760" y="7620"/>
                    <a:pt x="8104760" y="16891"/>
                  </a:cubicBezTo>
                  <a:lnTo>
                    <a:pt x="8104760" y="5397119"/>
                  </a:lnTo>
                  <a:cubicBezTo>
                    <a:pt x="8104760" y="5406517"/>
                    <a:pt x="8097139" y="5414010"/>
                    <a:pt x="8087868" y="5414010"/>
                  </a:cubicBezTo>
                  <a:lnTo>
                    <a:pt x="16891" y="5414010"/>
                  </a:lnTo>
                  <a:cubicBezTo>
                    <a:pt x="7493" y="5414010"/>
                    <a:pt x="0" y="5406390"/>
                    <a:pt x="0" y="5397119"/>
                  </a:cubicBezTo>
                  <a:lnTo>
                    <a:pt x="0" y="16891"/>
                  </a:lnTo>
                  <a:cubicBezTo>
                    <a:pt x="0" y="7620"/>
                    <a:pt x="7620" y="0"/>
                    <a:pt x="16891" y="0"/>
                  </a:cubicBezTo>
                  <a:moveTo>
                    <a:pt x="16891" y="33909"/>
                  </a:moveTo>
                  <a:lnTo>
                    <a:pt x="16891" y="16891"/>
                  </a:lnTo>
                  <a:lnTo>
                    <a:pt x="33909" y="16891"/>
                  </a:lnTo>
                  <a:lnTo>
                    <a:pt x="33909" y="5397119"/>
                  </a:lnTo>
                  <a:lnTo>
                    <a:pt x="16891" y="5397119"/>
                  </a:lnTo>
                  <a:lnTo>
                    <a:pt x="16891" y="5380228"/>
                  </a:lnTo>
                  <a:lnTo>
                    <a:pt x="8087868" y="5380228"/>
                  </a:lnTo>
                  <a:lnTo>
                    <a:pt x="8087868" y="5397119"/>
                  </a:lnTo>
                  <a:lnTo>
                    <a:pt x="8070977" y="5397119"/>
                  </a:lnTo>
                  <a:lnTo>
                    <a:pt x="8070977" y="16891"/>
                  </a:lnTo>
                  <a:lnTo>
                    <a:pt x="8087868" y="16891"/>
                  </a:lnTo>
                  <a:lnTo>
                    <a:pt x="8087868" y="33909"/>
                  </a:lnTo>
                  <a:lnTo>
                    <a:pt x="16891" y="33909"/>
                  </a:lnTo>
                  <a:close/>
                </a:path>
              </a:pathLst>
            </a:custGeom>
            <a:solidFill>
              <a:srgbClr val="79A2B0">
                <a:alpha val="41961"/>
              </a:srgbClr>
            </a:solidFill>
          </p:spPr>
          <p:txBody>
            <a:bodyPr/>
            <a:lstStyle/>
            <a:p>
              <a:endParaRPr lang="en-IN"/>
            </a:p>
          </p:txBody>
        </p:sp>
      </p:grpSp>
      <p:grpSp>
        <p:nvGrpSpPr>
          <p:cNvPr id="16" name="Group 16"/>
          <p:cNvGrpSpPr/>
          <p:nvPr/>
        </p:nvGrpSpPr>
        <p:grpSpPr>
          <a:xfrm>
            <a:off x="9666262" y="1577886"/>
            <a:ext cx="6801032" cy="1033400"/>
            <a:chOff x="0" y="0"/>
            <a:chExt cx="8104815" cy="1377867"/>
          </a:xfrm>
        </p:grpSpPr>
        <p:sp>
          <p:nvSpPr>
            <p:cNvPr id="17" name="Freeform 17"/>
            <p:cNvSpPr/>
            <p:nvPr/>
          </p:nvSpPr>
          <p:spPr>
            <a:xfrm>
              <a:off x="16891" y="16891"/>
              <a:ext cx="8070977" cy="1344041"/>
            </a:xfrm>
            <a:custGeom>
              <a:avLst/>
              <a:gdLst/>
              <a:ahLst/>
              <a:cxnLst/>
              <a:rect l="l" t="t" r="r" b="b"/>
              <a:pathLst>
                <a:path w="8070977" h="1344041">
                  <a:moveTo>
                    <a:pt x="0" y="0"/>
                  </a:moveTo>
                  <a:lnTo>
                    <a:pt x="8070977" y="0"/>
                  </a:lnTo>
                  <a:lnTo>
                    <a:pt x="8070977" y="1344041"/>
                  </a:lnTo>
                  <a:lnTo>
                    <a:pt x="0" y="1344041"/>
                  </a:lnTo>
                  <a:close/>
                </a:path>
              </a:pathLst>
            </a:custGeom>
            <a:solidFill>
              <a:srgbClr val="0B4357">
                <a:alpha val="88627"/>
              </a:srgbClr>
            </a:solidFill>
          </p:spPr>
          <p:txBody>
            <a:bodyPr/>
            <a:lstStyle/>
            <a:p>
              <a:endParaRPr lang="en-IN"/>
            </a:p>
          </p:txBody>
        </p:sp>
        <p:sp>
          <p:nvSpPr>
            <p:cNvPr id="18" name="Freeform 18"/>
            <p:cNvSpPr/>
            <p:nvPr/>
          </p:nvSpPr>
          <p:spPr>
            <a:xfrm>
              <a:off x="0" y="0"/>
              <a:ext cx="8104760" cy="1377823"/>
            </a:xfrm>
            <a:custGeom>
              <a:avLst/>
              <a:gdLst/>
              <a:ahLst/>
              <a:cxnLst/>
              <a:rect l="l" t="t" r="r" b="b"/>
              <a:pathLst>
                <a:path w="8104760" h="1377823">
                  <a:moveTo>
                    <a:pt x="16891" y="0"/>
                  </a:moveTo>
                  <a:lnTo>
                    <a:pt x="8087868" y="0"/>
                  </a:lnTo>
                  <a:cubicBezTo>
                    <a:pt x="8097266" y="0"/>
                    <a:pt x="8104760" y="7620"/>
                    <a:pt x="8104760" y="16891"/>
                  </a:cubicBezTo>
                  <a:lnTo>
                    <a:pt x="8104760" y="1360932"/>
                  </a:lnTo>
                  <a:cubicBezTo>
                    <a:pt x="8104760" y="1370330"/>
                    <a:pt x="8097139" y="1377823"/>
                    <a:pt x="8087868" y="1377823"/>
                  </a:cubicBezTo>
                  <a:lnTo>
                    <a:pt x="16891" y="1377823"/>
                  </a:lnTo>
                  <a:cubicBezTo>
                    <a:pt x="7493" y="1377823"/>
                    <a:pt x="0" y="1370203"/>
                    <a:pt x="0" y="1360932"/>
                  </a:cubicBezTo>
                  <a:lnTo>
                    <a:pt x="0" y="16891"/>
                  </a:lnTo>
                  <a:cubicBezTo>
                    <a:pt x="0" y="7620"/>
                    <a:pt x="7620" y="0"/>
                    <a:pt x="16891" y="0"/>
                  </a:cubicBezTo>
                  <a:moveTo>
                    <a:pt x="16891" y="33909"/>
                  </a:moveTo>
                  <a:lnTo>
                    <a:pt x="16891" y="16891"/>
                  </a:lnTo>
                  <a:lnTo>
                    <a:pt x="33909" y="16891"/>
                  </a:lnTo>
                  <a:lnTo>
                    <a:pt x="33909" y="1360932"/>
                  </a:lnTo>
                  <a:lnTo>
                    <a:pt x="16891" y="1360932"/>
                  </a:lnTo>
                  <a:lnTo>
                    <a:pt x="16891" y="1344041"/>
                  </a:lnTo>
                  <a:lnTo>
                    <a:pt x="8087868" y="1344041"/>
                  </a:lnTo>
                  <a:lnTo>
                    <a:pt x="8087868" y="1360932"/>
                  </a:lnTo>
                  <a:lnTo>
                    <a:pt x="8070977" y="1360932"/>
                  </a:lnTo>
                  <a:lnTo>
                    <a:pt x="8070977" y="16891"/>
                  </a:lnTo>
                  <a:lnTo>
                    <a:pt x="8087868" y="16891"/>
                  </a:lnTo>
                  <a:lnTo>
                    <a:pt x="8087868" y="33909"/>
                  </a:lnTo>
                  <a:lnTo>
                    <a:pt x="16891" y="33909"/>
                  </a:lnTo>
                  <a:close/>
                </a:path>
              </a:pathLst>
            </a:custGeom>
            <a:solidFill>
              <a:srgbClr val="0B4357">
                <a:alpha val="88627"/>
              </a:srgbClr>
            </a:solidFill>
          </p:spPr>
          <p:txBody>
            <a:bodyPr/>
            <a:lstStyle/>
            <a:p>
              <a:endParaRPr lang="en-IN"/>
            </a:p>
          </p:txBody>
        </p:sp>
      </p:grpSp>
      <p:grpSp>
        <p:nvGrpSpPr>
          <p:cNvPr id="19" name="Group 19"/>
          <p:cNvGrpSpPr/>
          <p:nvPr/>
        </p:nvGrpSpPr>
        <p:grpSpPr>
          <a:xfrm>
            <a:off x="11024806" y="1342722"/>
            <a:ext cx="3849938" cy="1255863"/>
            <a:chOff x="197871" y="-2924104"/>
            <a:chExt cx="5133251" cy="1674485"/>
          </a:xfrm>
        </p:grpSpPr>
        <p:sp>
          <p:nvSpPr>
            <p:cNvPr id="20" name="Freeform 20"/>
            <p:cNvSpPr/>
            <p:nvPr/>
          </p:nvSpPr>
          <p:spPr>
            <a:xfrm>
              <a:off x="197871" y="-2924104"/>
              <a:ext cx="4915815" cy="1377868"/>
            </a:xfrm>
            <a:custGeom>
              <a:avLst/>
              <a:gdLst/>
              <a:ahLst/>
              <a:cxnLst/>
              <a:rect l="l" t="t" r="r" b="b"/>
              <a:pathLst>
                <a:path w="4915815" h="1377867">
                  <a:moveTo>
                    <a:pt x="0" y="0"/>
                  </a:moveTo>
                  <a:lnTo>
                    <a:pt x="4915815" y="0"/>
                  </a:lnTo>
                  <a:lnTo>
                    <a:pt x="4915815" y="1377867"/>
                  </a:lnTo>
                  <a:lnTo>
                    <a:pt x="0" y="1377867"/>
                  </a:lnTo>
                  <a:close/>
                </a:path>
              </a:pathLst>
            </a:custGeom>
            <a:solidFill>
              <a:srgbClr val="000000">
                <a:alpha val="0"/>
              </a:srgbClr>
            </a:solidFill>
          </p:spPr>
          <p:txBody>
            <a:bodyPr/>
            <a:lstStyle/>
            <a:p>
              <a:endParaRPr lang="en-IN"/>
            </a:p>
          </p:txBody>
        </p:sp>
        <p:sp>
          <p:nvSpPr>
            <p:cNvPr id="21" name="TextBox 21"/>
            <p:cNvSpPr txBox="1"/>
            <p:nvPr/>
          </p:nvSpPr>
          <p:spPr>
            <a:xfrm>
              <a:off x="415307" y="-2656062"/>
              <a:ext cx="4915815" cy="1406443"/>
            </a:xfrm>
            <a:prstGeom prst="rect">
              <a:avLst/>
            </a:prstGeom>
          </p:spPr>
          <p:txBody>
            <a:bodyPr lIns="0" tIns="0" rIns="0" bIns="0" rtlCol="0" anchor="ctr"/>
            <a:lstStyle/>
            <a:p>
              <a:pPr algn="ctr">
                <a:lnSpc>
                  <a:spcPts val="3780"/>
                </a:lnSpc>
              </a:pPr>
              <a:r>
                <a:rPr lang="en-US" sz="3500" dirty="0">
                  <a:solidFill>
                    <a:srgbClr val="FFFFFF"/>
                  </a:solidFill>
                  <a:latin typeface="Calibri (MS)"/>
                  <a:ea typeface="Calibri (MS)"/>
                  <a:cs typeface="Calibri (MS)"/>
                  <a:sym typeface="Calibri (MS)"/>
                </a:rPr>
                <a:t>Business Model:</a:t>
              </a:r>
            </a:p>
          </p:txBody>
        </p:sp>
      </p:grpSp>
      <p:grpSp>
        <p:nvGrpSpPr>
          <p:cNvPr id="22" name="Group 22"/>
          <p:cNvGrpSpPr/>
          <p:nvPr/>
        </p:nvGrpSpPr>
        <p:grpSpPr>
          <a:xfrm>
            <a:off x="9652087" y="2611254"/>
            <a:ext cx="6800986" cy="6546954"/>
            <a:chOff x="0" y="0"/>
            <a:chExt cx="8104815" cy="5414067"/>
          </a:xfrm>
        </p:grpSpPr>
        <p:sp>
          <p:nvSpPr>
            <p:cNvPr id="23" name="Freeform 23"/>
            <p:cNvSpPr/>
            <p:nvPr/>
          </p:nvSpPr>
          <p:spPr>
            <a:xfrm>
              <a:off x="16891" y="16891"/>
              <a:ext cx="8070977" cy="5380228"/>
            </a:xfrm>
            <a:custGeom>
              <a:avLst/>
              <a:gdLst/>
              <a:ahLst/>
              <a:cxnLst/>
              <a:rect l="l" t="t" r="r" b="b"/>
              <a:pathLst>
                <a:path w="8070977" h="5380228">
                  <a:moveTo>
                    <a:pt x="0" y="0"/>
                  </a:moveTo>
                  <a:lnTo>
                    <a:pt x="8070977" y="0"/>
                  </a:lnTo>
                  <a:lnTo>
                    <a:pt x="8070977" y="5380228"/>
                  </a:lnTo>
                  <a:lnTo>
                    <a:pt x="0" y="5380228"/>
                  </a:lnTo>
                  <a:close/>
                </a:path>
              </a:pathLst>
            </a:custGeom>
            <a:solidFill>
              <a:srgbClr val="79A2B0">
                <a:alpha val="41961"/>
              </a:srgbClr>
            </a:solidFill>
          </p:spPr>
          <p:txBody>
            <a:bodyPr/>
            <a:lstStyle/>
            <a:p>
              <a:endParaRPr lang="en-IN"/>
            </a:p>
          </p:txBody>
        </p:sp>
        <p:sp>
          <p:nvSpPr>
            <p:cNvPr id="24" name="Freeform 24"/>
            <p:cNvSpPr/>
            <p:nvPr/>
          </p:nvSpPr>
          <p:spPr>
            <a:xfrm>
              <a:off x="0" y="0"/>
              <a:ext cx="8104760" cy="5414010"/>
            </a:xfrm>
            <a:custGeom>
              <a:avLst/>
              <a:gdLst/>
              <a:ahLst/>
              <a:cxnLst/>
              <a:rect l="l" t="t" r="r" b="b"/>
              <a:pathLst>
                <a:path w="8104760" h="5414010">
                  <a:moveTo>
                    <a:pt x="16891" y="0"/>
                  </a:moveTo>
                  <a:lnTo>
                    <a:pt x="8087868" y="0"/>
                  </a:lnTo>
                  <a:cubicBezTo>
                    <a:pt x="8097266" y="0"/>
                    <a:pt x="8104760" y="7620"/>
                    <a:pt x="8104760" y="16891"/>
                  </a:cubicBezTo>
                  <a:lnTo>
                    <a:pt x="8104760" y="5397119"/>
                  </a:lnTo>
                  <a:cubicBezTo>
                    <a:pt x="8104760" y="5406517"/>
                    <a:pt x="8097139" y="5414010"/>
                    <a:pt x="8087868" y="5414010"/>
                  </a:cubicBezTo>
                  <a:lnTo>
                    <a:pt x="16891" y="5414010"/>
                  </a:lnTo>
                  <a:cubicBezTo>
                    <a:pt x="7493" y="5414010"/>
                    <a:pt x="0" y="5406390"/>
                    <a:pt x="0" y="5397119"/>
                  </a:cubicBezTo>
                  <a:lnTo>
                    <a:pt x="0" y="16891"/>
                  </a:lnTo>
                  <a:cubicBezTo>
                    <a:pt x="0" y="7620"/>
                    <a:pt x="7620" y="0"/>
                    <a:pt x="16891" y="0"/>
                  </a:cubicBezTo>
                  <a:moveTo>
                    <a:pt x="16891" y="33909"/>
                  </a:moveTo>
                  <a:lnTo>
                    <a:pt x="16891" y="16891"/>
                  </a:lnTo>
                  <a:lnTo>
                    <a:pt x="33909" y="16891"/>
                  </a:lnTo>
                  <a:lnTo>
                    <a:pt x="33909" y="5397119"/>
                  </a:lnTo>
                  <a:lnTo>
                    <a:pt x="16891" y="5397119"/>
                  </a:lnTo>
                  <a:lnTo>
                    <a:pt x="16891" y="5380228"/>
                  </a:lnTo>
                  <a:lnTo>
                    <a:pt x="8087868" y="5380228"/>
                  </a:lnTo>
                  <a:lnTo>
                    <a:pt x="8087868" y="5397119"/>
                  </a:lnTo>
                  <a:lnTo>
                    <a:pt x="8070977" y="5397119"/>
                  </a:lnTo>
                  <a:lnTo>
                    <a:pt x="8070977" y="16891"/>
                  </a:lnTo>
                  <a:lnTo>
                    <a:pt x="8087868" y="16891"/>
                  </a:lnTo>
                  <a:lnTo>
                    <a:pt x="8087868" y="33909"/>
                  </a:lnTo>
                  <a:lnTo>
                    <a:pt x="16891" y="33909"/>
                  </a:lnTo>
                  <a:close/>
                </a:path>
              </a:pathLst>
            </a:custGeom>
            <a:solidFill>
              <a:srgbClr val="79A2B0">
                <a:alpha val="41961"/>
              </a:srgbClr>
            </a:solidFill>
          </p:spPr>
          <p:txBody>
            <a:bodyPr/>
            <a:lstStyle/>
            <a:p>
              <a:endParaRPr lang="en-IN"/>
            </a:p>
          </p:txBody>
        </p:sp>
      </p:grpSp>
      <p:pic>
        <p:nvPicPr>
          <p:cNvPr id="28" name="Picture 27">
            <a:extLst>
              <a:ext uri="{FF2B5EF4-FFF2-40B4-BE49-F238E27FC236}">
                <a16:creationId xmlns:a16="http://schemas.microsoft.com/office/drawing/2014/main" id="{C4B550B6-CB7A-F2E5-E8C9-7B2F4C006966}"/>
              </a:ext>
            </a:extLst>
          </p:cNvPr>
          <p:cNvPicPr>
            <a:picLocks noChangeAspect="1"/>
          </p:cNvPicPr>
          <p:nvPr/>
        </p:nvPicPr>
        <p:blipFill>
          <a:blip r:embed="rId4"/>
          <a:stretch>
            <a:fillRect/>
          </a:stretch>
        </p:blipFill>
        <p:spPr>
          <a:xfrm>
            <a:off x="2608543" y="5944037"/>
            <a:ext cx="5798071" cy="3234713"/>
          </a:xfrm>
          <a:prstGeom prst="rect">
            <a:avLst/>
          </a:prstGeom>
        </p:spPr>
      </p:pic>
      <p:sp>
        <p:nvSpPr>
          <p:cNvPr id="30" name="TextBox 29">
            <a:extLst>
              <a:ext uri="{FF2B5EF4-FFF2-40B4-BE49-F238E27FC236}">
                <a16:creationId xmlns:a16="http://schemas.microsoft.com/office/drawing/2014/main" id="{C045633B-5FA3-90C6-A914-23C8455A38D7}"/>
              </a:ext>
            </a:extLst>
          </p:cNvPr>
          <p:cNvSpPr txBox="1"/>
          <p:nvPr/>
        </p:nvSpPr>
        <p:spPr>
          <a:xfrm>
            <a:off x="9723277" y="2868584"/>
            <a:ext cx="6583523" cy="5847755"/>
          </a:xfrm>
          <a:prstGeom prst="rect">
            <a:avLst/>
          </a:prstGeom>
          <a:noFill/>
        </p:spPr>
        <p:txBody>
          <a:bodyPr wrap="square">
            <a:spAutoFit/>
          </a:bodyPr>
          <a:lstStyle/>
          <a:p>
            <a:pPr marL="457200" indent="-457200" algn="just">
              <a:buAutoNum type="arabicPeriod"/>
            </a:pPr>
            <a:r>
              <a:rPr lang="en-US" sz="2200" dirty="0">
                <a:latin typeface="Times New Roman" panose="02020603050405020304" pitchFamily="18" charset="0"/>
                <a:cs typeface="Times New Roman" panose="02020603050405020304" pitchFamily="18" charset="0"/>
              </a:rPr>
              <a:t>This </a:t>
            </a:r>
            <a:r>
              <a:rPr lang="en-US" sz="2200" i="1" dirty="0">
                <a:latin typeface="Times New Roman" panose="02020603050405020304" pitchFamily="18" charset="0"/>
                <a:cs typeface="Times New Roman" panose="02020603050405020304" pitchFamily="18" charset="0"/>
              </a:rPr>
              <a:t>Portable Seizure Detector </a:t>
            </a:r>
            <a:r>
              <a:rPr lang="en-US" sz="2200" dirty="0">
                <a:latin typeface="Times New Roman" panose="02020603050405020304" pitchFamily="18" charset="0"/>
                <a:cs typeface="Times New Roman" panose="02020603050405020304" pitchFamily="18" charset="0"/>
              </a:rPr>
              <a:t>will be priced at ₹15,000 to ₹20,000 per unit with basic cloud analysis subscription for the patients. This is lower than the </a:t>
            </a:r>
            <a:r>
              <a:rPr lang="en-US" sz="2200" b="1" dirty="0">
                <a:latin typeface="Times New Roman" panose="02020603050405020304" pitchFamily="18" charset="0"/>
                <a:cs typeface="Times New Roman" panose="02020603050405020304" pitchFamily="18" charset="0"/>
              </a:rPr>
              <a:t>₹60,000 to ₹1,50,000 </a:t>
            </a:r>
            <a:r>
              <a:rPr lang="en-US" sz="2200" dirty="0">
                <a:latin typeface="Times New Roman" panose="02020603050405020304" pitchFamily="18" charset="0"/>
                <a:cs typeface="Times New Roman" panose="02020603050405020304" pitchFamily="18" charset="0"/>
              </a:rPr>
              <a:t>cost of standard EEG setups, resulting in more than </a:t>
            </a:r>
            <a:r>
              <a:rPr lang="en-US" sz="2200" b="1" dirty="0">
                <a:latin typeface="Times New Roman" panose="02020603050405020304" pitchFamily="18" charset="0"/>
                <a:cs typeface="Times New Roman" panose="02020603050405020304" pitchFamily="18" charset="0"/>
              </a:rPr>
              <a:t>60% reduction </a:t>
            </a:r>
            <a:r>
              <a:rPr lang="en-US" sz="2200" dirty="0">
                <a:latin typeface="Times New Roman" panose="02020603050405020304" pitchFamily="18" charset="0"/>
                <a:cs typeface="Times New Roman" panose="02020603050405020304" pitchFamily="18" charset="0"/>
              </a:rPr>
              <a:t>in price. The initial rollout will target Tier-1 and Tier-2 hospitals, aiming for over 500-1000 installations in the first year through direct sales and partnerships.</a:t>
            </a:r>
          </a:p>
          <a:p>
            <a:pPr marL="457200" indent="-457200" algn="just">
              <a:buAutoNum type="arabicPeriod"/>
            </a:pPr>
            <a:r>
              <a:rPr lang="en-US" sz="2200" dirty="0">
                <a:latin typeface="Times New Roman" panose="02020603050405020304" pitchFamily="18" charset="0"/>
                <a:cs typeface="Times New Roman" panose="02020603050405020304" pitchFamily="18" charset="0"/>
              </a:rPr>
              <a:t>Cloud-based dashboard access for doctors will cost </a:t>
            </a:r>
            <a:r>
              <a:rPr lang="en-US" sz="2200" b="1" dirty="0">
                <a:latin typeface="Times New Roman" panose="02020603050405020304" pitchFamily="18" charset="0"/>
                <a:cs typeface="Times New Roman" panose="02020603050405020304" pitchFamily="18" charset="0"/>
              </a:rPr>
              <a:t>₹499 per month </a:t>
            </a:r>
            <a:r>
              <a:rPr lang="en-US" sz="2200" dirty="0">
                <a:latin typeface="Times New Roman" panose="02020603050405020304" pitchFamily="18" charset="0"/>
                <a:cs typeface="Times New Roman" panose="02020603050405020304" pitchFamily="18" charset="0"/>
              </a:rPr>
              <a:t>or </a:t>
            </a:r>
            <a:r>
              <a:rPr lang="en-US" sz="2200" b="1" dirty="0">
                <a:latin typeface="Times New Roman" panose="02020603050405020304" pitchFamily="18" charset="0"/>
                <a:cs typeface="Times New Roman" panose="02020603050405020304" pitchFamily="18" charset="0"/>
              </a:rPr>
              <a:t>₹4999 per year</a:t>
            </a:r>
            <a:r>
              <a:rPr lang="en-US" sz="2200" dirty="0">
                <a:latin typeface="Times New Roman" panose="02020603050405020304" pitchFamily="18" charset="0"/>
                <a:cs typeface="Times New Roman" panose="02020603050405020304" pitchFamily="18" charset="0"/>
              </a:rPr>
              <a:t>. Predictive analytics, data storage, and visualization dashboards help generate recurring revenue. The estimated profit margin on digital services is </a:t>
            </a:r>
            <a:r>
              <a:rPr lang="en-US" sz="2200" b="1" dirty="0">
                <a:latin typeface="Times New Roman" panose="02020603050405020304" pitchFamily="18" charset="0"/>
                <a:cs typeface="Times New Roman" panose="02020603050405020304" pitchFamily="18" charset="0"/>
              </a:rPr>
              <a:t>40 to 45 percent.</a:t>
            </a:r>
          </a:p>
          <a:p>
            <a:pPr marL="457200" indent="-457200" algn="just">
              <a:buAutoNum type="arabicPeriod"/>
            </a:pPr>
            <a:r>
              <a:rPr lang="en-US" sz="2200" dirty="0">
                <a:latin typeface="Times New Roman" panose="02020603050405020304" pitchFamily="18" charset="0"/>
                <a:cs typeface="Times New Roman" panose="02020603050405020304" pitchFamily="18" charset="0"/>
              </a:rPr>
              <a:t>Integration with</a:t>
            </a: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IoT health wearables, and pharmaceutical tie-ups for prescription tracking, projected to increase market share by </a:t>
            </a:r>
            <a:r>
              <a:rPr lang="en-US" sz="2200" b="1" dirty="0">
                <a:latin typeface="Times New Roman" panose="02020603050405020304" pitchFamily="18" charset="0"/>
                <a:cs typeface="Times New Roman" panose="02020603050405020304" pitchFamily="18" charset="0"/>
              </a:rPr>
              <a:t>15–20% annually</a:t>
            </a:r>
            <a:r>
              <a:rPr lang="en-US" sz="2200" dirty="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248488"/>
            <a:ext cx="18345150" cy="11535488"/>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endParaRPr lang="en-IN"/>
          </a:p>
        </p:txBody>
      </p:sp>
      <p:sp>
        <p:nvSpPr>
          <p:cNvPr id="3" name="TextBox 3"/>
          <p:cNvSpPr txBox="1"/>
          <p:nvPr/>
        </p:nvSpPr>
        <p:spPr>
          <a:xfrm>
            <a:off x="2990928" y="526933"/>
            <a:ext cx="12306144" cy="2034724"/>
          </a:xfrm>
          <a:prstGeom prst="rect">
            <a:avLst/>
          </a:prstGeom>
        </p:spPr>
        <p:txBody>
          <a:bodyPr lIns="0" tIns="0" rIns="0" bIns="0" rtlCol="0" anchor="t">
            <a:spAutoFit/>
          </a:bodyPr>
          <a:lstStyle/>
          <a:p>
            <a:pPr lvl="1" algn="ctr">
              <a:lnSpc>
                <a:spcPts val="8158"/>
              </a:lnSpc>
            </a:pPr>
            <a:r>
              <a:rPr lang="en-US" sz="6600" spc="-696" dirty="0">
                <a:solidFill>
                  <a:srgbClr val="0B4357"/>
                </a:solidFill>
                <a:latin typeface="Public Sans"/>
                <a:ea typeface="Public Sans"/>
                <a:cs typeface="Public Sans"/>
                <a:sym typeface="Public Sans"/>
              </a:rPr>
              <a:t>HOW  CAN  YOUR  SOLUTION  HELP IMPROVING  CURRENT  SITUATION? </a:t>
            </a:r>
          </a:p>
        </p:txBody>
      </p:sp>
      <p:sp>
        <p:nvSpPr>
          <p:cNvPr id="4" name="Freeform 4"/>
          <p:cNvSpPr/>
          <p:nvPr/>
        </p:nvSpPr>
        <p:spPr>
          <a:xfrm>
            <a:off x="1028700" y="-190500"/>
            <a:ext cx="495300" cy="10668000"/>
          </a:xfrm>
          <a:custGeom>
            <a:avLst/>
            <a:gdLst/>
            <a:ahLst/>
            <a:cxnLst/>
            <a:rect l="l" t="t" r="r" b="b"/>
            <a:pathLst>
              <a:path w="314174" h="12004159">
                <a:moveTo>
                  <a:pt x="0" y="0"/>
                </a:moveTo>
                <a:lnTo>
                  <a:pt x="314174" y="0"/>
                </a:lnTo>
                <a:lnTo>
                  <a:pt x="314174" y="12004159"/>
                </a:lnTo>
                <a:lnTo>
                  <a:pt x="0" y="1200415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r>
              <a:rPr lang="en-IN" dirty="0"/>
              <a:t> </a:t>
            </a:r>
          </a:p>
        </p:txBody>
      </p:sp>
      <p:grpSp>
        <p:nvGrpSpPr>
          <p:cNvPr id="7" name="Group 7"/>
          <p:cNvGrpSpPr/>
          <p:nvPr/>
        </p:nvGrpSpPr>
        <p:grpSpPr>
          <a:xfrm>
            <a:off x="2057400" y="2781300"/>
            <a:ext cx="14949408" cy="6477000"/>
            <a:chOff x="-17167" y="0"/>
            <a:chExt cx="17961427" cy="7856982"/>
          </a:xfrm>
        </p:grpSpPr>
        <p:sp>
          <p:nvSpPr>
            <p:cNvPr id="8" name="Freeform 8"/>
            <p:cNvSpPr/>
            <p:nvPr/>
          </p:nvSpPr>
          <p:spPr>
            <a:xfrm>
              <a:off x="-17167" y="160897"/>
              <a:ext cx="17907352" cy="6265075"/>
            </a:xfrm>
            <a:custGeom>
              <a:avLst/>
              <a:gdLst/>
              <a:ahLst/>
              <a:cxnLst/>
              <a:rect l="l" t="t" r="r" b="b"/>
              <a:pathLst>
                <a:path w="17907353" h="7823200">
                  <a:moveTo>
                    <a:pt x="0" y="0"/>
                  </a:moveTo>
                  <a:lnTo>
                    <a:pt x="17907354" y="0"/>
                  </a:lnTo>
                  <a:lnTo>
                    <a:pt x="17907354" y="7823200"/>
                  </a:lnTo>
                  <a:lnTo>
                    <a:pt x="0" y="7823200"/>
                  </a:lnTo>
                  <a:close/>
                </a:path>
              </a:pathLst>
            </a:custGeom>
            <a:solidFill>
              <a:srgbClr val="79A2B0">
                <a:alpha val="3922"/>
              </a:srgbClr>
            </a:solidFill>
          </p:spPr>
          <p:txBody>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current epilepsy management system faces challenges due to expensive EEG tests, a shortage of neurologists, and insufficient continuous monitoring. Our device addresses these issues with a portable, AI-powered EEG device that allows for </a:t>
              </a:r>
              <a:r>
                <a:rPr lang="en-US" sz="2400" b="1" dirty="0">
                  <a:latin typeface="Times New Roman" panose="02020603050405020304" pitchFamily="18" charset="0"/>
                  <a:cs typeface="Times New Roman" panose="02020603050405020304" pitchFamily="18" charset="0"/>
                </a:rPr>
                <a:t>real-time seizure detection </a:t>
              </a:r>
              <a:r>
                <a:rPr lang="en-US" sz="2400" dirty="0">
                  <a:latin typeface="Times New Roman" panose="02020603050405020304" pitchFamily="18" charset="0"/>
                  <a:cs typeface="Times New Roman" panose="02020603050405020304" pitchFamily="18" charset="0"/>
                </a:rPr>
                <a:t>and prediction at a much </a:t>
              </a:r>
              <a:r>
                <a:rPr lang="en-US" sz="2400" b="1" dirty="0">
                  <a:latin typeface="Times New Roman" panose="02020603050405020304" pitchFamily="18" charset="0"/>
                  <a:cs typeface="Times New Roman" panose="02020603050405020304" pitchFamily="18" charset="0"/>
                </a:rPr>
                <a:t>lower cost </a:t>
              </a:r>
              <a:r>
                <a:rPr lang="en-US" sz="2400" dirty="0">
                  <a:latin typeface="Times New Roman" panose="02020603050405020304" pitchFamily="18" charset="0"/>
                  <a:cs typeface="Times New Roman" panose="02020603050405020304" pitchFamily="18" charset="0"/>
                </a:rPr>
                <a:t>than traditional methods.</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Through its </a:t>
              </a:r>
              <a:r>
                <a:rPr lang="en-US" sz="2400" b="1" dirty="0">
                  <a:latin typeface="Times New Roman" panose="02020603050405020304" pitchFamily="18" charset="0"/>
                  <a:cs typeface="Times New Roman" panose="02020603050405020304" pitchFamily="18" charset="0"/>
                </a:rPr>
                <a:t>cloud-based dashboard</a:t>
              </a:r>
              <a:r>
                <a:rPr lang="en-US" sz="2400" dirty="0">
                  <a:latin typeface="Times New Roman" panose="02020603050405020304" pitchFamily="18" charset="0"/>
                  <a:cs typeface="Times New Roman" panose="02020603050405020304" pitchFamily="18" charset="0"/>
                </a:rPr>
                <a:t>, our device connects patients and neurologists for easy communication and quick prescriptions. This enables remote EEG tracking, timely interventions, and improved medication adherence. It makes neurological care affordable, accessible, and ongoing, especially in underserved areas.</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lightweight, rechargeable </a:t>
              </a:r>
              <a:r>
                <a:rPr lang="en-US" sz="2400" dirty="0">
                  <a:latin typeface="Times New Roman" panose="02020603050405020304" pitchFamily="18" charset="0"/>
                  <a:cs typeface="Times New Roman" panose="02020603050405020304" pitchFamily="18" charset="0"/>
                </a:rPr>
                <a:t>headband has a </a:t>
              </a:r>
              <a:r>
                <a:rPr lang="en-US" sz="2400" b="1" dirty="0">
                  <a:latin typeface="Times New Roman" panose="02020603050405020304" pitchFamily="18" charset="0"/>
                  <a:cs typeface="Times New Roman" panose="02020603050405020304" pitchFamily="18" charset="0"/>
                </a:rPr>
                <a:t>flexible polymer frame </a:t>
              </a:r>
              <a:r>
                <a:rPr lang="en-US" sz="2400" dirty="0">
                  <a:latin typeface="Times New Roman" panose="02020603050405020304" pitchFamily="18" charset="0"/>
                  <a:cs typeface="Times New Roman" panose="02020603050405020304" pitchFamily="18" charset="0"/>
                </a:rPr>
                <a:t>that fits different head shapes and uses eight electrodes for nearly perfect signal accuracy. An </a:t>
              </a:r>
              <a:r>
                <a:rPr lang="en-US" sz="2400" b="1" dirty="0">
                  <a:latin typeface="Times New Roman" panose="02020603050405020304" pitchFamily="18" charset="0"/>
                  <a:cs typeface="Times New Roman" panose="02020603050405020304" pitchFamily="18" charset="0"/>
                </a:rPr>
                <a:t>embedded audio chip</a:t>
              </a:r>
              <a:r>
                <a:rPr lang="en-US" sz="2400" dirty="0">
                  <a:latin typeface="Times New Roman" panose="02020603050405020304" pitchFamily="18" charset="0"/>
                  <a:cs typeface="Times New Roman" panose="02020603050405020304" pitchFamily="18" charset="0"/>
                </a:rPr>
                <a:t> provides real-time voice prompts like "Breathe deeply" when it detects abnormal spikes, helping patients stay calm and react quickly.</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any abnormality in spikes is detected, an immediate alert signal will be sent to nearby doctors and the loved ones.</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Our device will detect live seizures in different timeframes. A user can set up his/her EEG device for a specific time range. For example, an individual can set his/her EEG device for 30/60 minutes or more. Meanwhile, he/she can go to sleep or can do another activity.</a:t>
              </a:r>
              <a:endParaRPr lang="en-IN" dirty="0"/>
            </a:p>
          </p:txBody>
        </p:sp>
        <p:sp>
          <p:nvSpPr>
            <p:cNvPr id="9" name="Freeform 9"/>
            <p:cNvSpPr/>
            <p:nvPr/>
          </p:nvSpPr>
          <p:spPr>
            <a:xfrm>
              <a:off x="0" y="0"/>
              <a:ext cx="17944260" cy="7856982"/>
            </a:xfrm>
            <a:custGeom>
              <a:avLst/>
              <a:gdLst/>
              <a:ahLst/>
              <a:cxnLst/>
              <a:rect l="l" t="t" r="r" b="b"/>
              <a:pathLst>
                <a:path w="17944260" h="7856982">
                  <a:moveTo>
                    <a:pt x="18453" y="0"/>
                  </a:moveTo>
                  <a:lnTo>
                    <a:pt x="17925807" y="0"/>
                  </a:lnTo>
                  <a:cubicBezTo>
                    <a:pt x="17936074" y="0"/>
                    <a:pt x="17944260" y="7620"/>
                    <a:pt x="17944260" y="16891"/>
                  </a:cubicBezTo>
                  <a:lnTo>
                    <a:pt x="17944260" y="7840091"/>
                  </a:lnTo>
                  <a:cubicBezTo>
                    <a:pt x="17944260" y="7849489"/>
                    <a:pt x="17935935" y="7856982"/>
                    <a:pt x="17925807" y="7856982"/>
                  </a:cubicBezTo>
                  <a:lnTo>
                    <a:pt x="18453" y="7856982"/>
                  </a:lnTo>
                  <a:cubicBezTo>
                    <a:pt x="8186" y="7856982"/>
                    <a:pt x="0" y="7849362"/>
                    <a:pt x="0" y="7840091"/>
                  </a:cubicBezTo>
                  <a:lnTo>
                    <a:pt x="0" y="16891"/>
                  </a:lnTo>
                  <a:cubicBezTo>
                    <a:pt x="0" y="7620"/>
                    <a:pt x="8325" y="0"/>
                    <a:pt x="18453" y="0"/>
                  </a:cubicBezTo>
                  <a:moveTo>
                    <a:pt x="18453" y="33909"/>
                  </a:moveTo>
                  <a:lnTo>
                    <a:pt x="18453" y="16891"/>
                  </a:lnTo>
                  <a:lnTo>
                    <a:pt x="37045" y="16891"/>
                  </a:lnTo>
                  <a:lnTo>
                    <a:pt x="37045" y="7840091"/>
                  </a:lnTo>
                  <a:lnTo>
                    <a:pt x="18453" y="7840091"/>
                  </a:lnTo>
                  <a:lnTo>
                    <a:pt x="18453" y="7823200"/>
                  </a:lnTo>
                  <a:lnTo>
                    <a:pt x="17925807" y="7823200"/>
                  </a:lnTo>
                  <a:lnTo>
                    <a:pt x="17925807" y="7840091"/>
                  </a:lnTo>
                  <a:lnTo>
                    <a:pt x="17907355" y="7840091"/>
                  </a:lnTo>
                  <a:lnTo>
                    <a:pt x="17907355" y="16891"/>
                  </a:lnTo>
                  <a:lnTo>
                    <a:pt x="17925807" y="16891"/>
                  </a:lnTo>
                  <a:lnTo>
                    <a:pt x="17925807" y="33909"/>
                  </a:lnTo>
                  <a:lnTo>
                    <a:pt x="18453" y="33909"/>
                  </a:lnTo>
                  <a:close/>
                </a:path>
              </a:pathLst>
            </a:custGeom>
            <a:solidFill>
              <a:srgbClr val="79A2B0"/>
            </a:solidFill>
          </p:spPr>
          <p:txBody>
            <a:bodyPr/>
            <a:lstStyle/>
            <a:p>
              <a:endParaRPr lang="en-IN"/>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73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endParaRPr lang="en-IN" dirty="0"/>
          </a:p>
        </p:txBody>
      </p:sp>
      <p:sp>
        <p:nvSpPr>
          <p:cNvPr id="3" name="TextBox 3"/>
          <p:cNvSpPr txBox="1"/>
          <p:nvPr/>
        </p:nvSpPr>
        <p:spPr>
          <a:xfrm>
            <a:off x="2895600" y="266700"/>
            <a:ext cx="11927095" cy="1251973"/>
          </a:xfrm>
          <a:prstGeom prst="rect">
            <a:avLst/>
          </a:prstGeom>
        </p:spPr>
        <p:txBody>
          <a:bodyPr lIns="0" tIns="0" rIns="0" bIns="0" rtlCol="0" anchor="t">
            <a:spAutoFit/>
          </a:bodyPr>
          <a:lstStyle/>
          <a:p>
            <a:pPr algn="ctr">
              <a:lnSpc>
                <a:spcPts val="9790"/>
              </a:lnSpc>
            </a:pPr>
            <a:r>
              <a:rPr lang="en-US" sz="8499" dirty="0">
                <a:solidFill>
                  <a:srgbClr val="0B4357"/>
                </a:solidFill>
                <a:latin typeface="Public Sans"/>
                <a:ea typeface="Public Sans"/>
                <a:cs typeface="Public Sans"/>
                <a:sym typeface="Public Sans"/>
              </a:rPr>
              <a:t>REFERENCES</a:t>
            </a:r>
          </a:p>
        </p:txBody>
      </p:sp>
      <p:sp>
        <p:nvSpPr>
          <p:cNvPr id="4" name="Freeform 4"/>
          <p:cNvSpPr/>
          <p:nvPr/>
        </p:nvSpPr>
        <p:spPr>
          <a:xfrm>
            <a:off x="609600" y="-114300"/>
            <a:ext cx="304800" cy="11547121"/>
          </a:xfrm>
          <a:custGeom>
            <a:avLst/>
            <a:gdLst/>
            <a:ahLst/>
            <a:cxnLst/>
            <a:rect l="l" t="t" r="r" b="b"/>
            <a:pathLst>
              <a:path w="314170" h="12004321">
                <a:moveTo>
                  <a:pt x="0" y="0"/>
                </a:moveTo>
                <a:lnTo>
                  <a:pt x="314170" y="0"/>
                </a:lnTo>
                <a:lnTo>
                  <a:pt x="314170" y="12004321"/>
                </a:lnTo>
                <a:lnTo>
                  <a:pt x="0" y="120043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7" name="Group 7"/>
          <p:cNvGrpSpPr/>
          <p:nvPr/>
        </p:nvGrpSpPr>
        <p:grpSpPr>
          <a:xfrm>
            <a:off x="12315314" y="-4947577"/>
            <a:ext cx="12802201" cy="6166777"/>
            <a:chOff x="0" y="0"/>
            <a:chExt cx="1338446" cy="644725"/>
          </a:xfrm>
        </p:grpSpPr>
        <p:sp>
          <p:nvSpPr>
            <p:cNvPr id="8" name="Freeform 8"/>
            <p:cNvSpPr/>
            <p:nvPr/>
          </p:nvSpPr>
          <p:spPr>
            <a:xfrm>
              <a:off x="0" y="0"/>
              <a:ext cx="1338447" cy="644725"/>
            </a:xfrm>
            <a:custGeom>
              <a:avLst/>
              <a:gdLst/>
              <a:ahLst/>
              <a:cxnLst/>
              <a:rect l="l" t="t" r="r" b="b"/>
              <a:pathLst>
                <a:path w="1338447" h="644725">
                  <a:moveTo>
                    <a:pt x="1338447" y="322363"/>
                  </a:moveTo>
                  <a:lnTo>
                    <a:pt x="1135247" y="644725"/>
                  </a:lnTo>
                  <a:lnTo>
                    <a:pt x="203200" y="644725"/>
                  </a:lnTo>
                  <a:lnTo>
                    <a:pt x="0" y="322363"/>
                  </a:lnTo>
                  <a:lnTo>
                    <a:pt x="203200" y="0"/>
                  </a:lnTo>
                  <a:lnTo>
                    <a:pt x="1135247" y="0"/>
                  </a:lnTo>
                  <a:lnTo>
                    <a:pt x="1338447" y="322363"/>
                  </a:lnTo>
                  <a:close/>
                </a:path>
              </a:pathLst>
            </a:custGeom>
            <a:solidFill>
              <a:srgbClr val="0A4A61"/>
            </a:solidFill>
            <a:ln w="466725" cap="sq">
              <a:solidFill>
                <a:srgbClr val="155C75"/>
              </a:solidFill>
              <a:prstDash val="solid"/>
              <a:miter/>
            </a:ln>
          </p:spPr>
          <p:txBody>
            <a:bodyPr/>
            <a:lstStyle/>
            <a:p>
              <a:endParaRPr lang="en-IN"/>
            </a:p>
          </p:txBody>
        </p:sp>
        <p:sp>
          <p:nvSpPr>
            <p:cNvPr id="9" name="TextBox 9"/>
            <p:cNvSpPr txBox="1"/>
            <p:nvPr/>
          </p:nvSpPr>
          <p:spPr>
            <a:xfrm>
              <a:off x="114300" y="-57150"/>
              <a:ext cx="1109846" cy="701875"/>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9">
            <a:extLst>
              <a:ext uri="{FF2B5EF4-FFF2-40B4-BE49-F238E27FC236}">
                <a16:creationId xmlns:a16="http://schemas.microsoft.com/office/drawing/2014/main" id="{16D171D1-5C5C-11E3-2594-01D9BA3A1915}"/>
              </a:ext>
            </a:extLst>
          </p:cNvPr>
          <p:cNvSpPr txBox="1"/>
          <p:nvPr/>
        </p:nvSpPr>
        <p:spPr>
          <a:xfrm>
            <a:off x="1524000" y="1861931"/>
            <a:ext cx="15468600" cy="7755969"/>
          </a:xfrm>
          <a:prstGeom prst="rect">
            <a:avLst/>
          </a:prstGeom>
          <a:noFill/>
        </p:spPr>
        <p:txBody>
          <a:bodyPr wrap="square" rtlCol="0">
            <a:spAutoFit/>
          </a:bodyPr>
          <a:lstStyle/>
          <a:p>
            <a:pPr marL="457200" indent="-457200" algn="just">
              <a:buFont typeface="+mj-lt"/>
              <a:buAutoNum type="arabicPeriod"/>
            </a:pPr>
            <a:r>
              <a:rPr lang="en-IN" sz="2400" b="1" dirty="0">
                <a:latin typeface="Times New Roman" panose="02020603050405020304" pitchFamily="18" charset="0"/>
                <a:cs typeface="Times New Roman" panose="02020603050405020304" pitchFamily="18" charset="0"/>
              </a:rPr>
              <a:t>World Health Organization.</a:t>
            </a:r>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Epilepsy: A Public Health Imperative</a:t>
            </a:r>
            <a:r>
              <a:rPr lang="en-IN" sz="2400" dirty="0">
                <a:latin typeface="Times New Roman" panose="02020603050405020304" pitchFamily="18" charset="0"/>
                <a:cs typeface="Times New Roman" panose="02020603050405020304" pitchFamily="18" charset="0"/>
              </a:rPr>
              <a:t>, WHO, 2019.</a:t>
            </a:r>
          </a:p>
          <a:p>
            <a:pPr marL="457200" indent="-457200" algn="just">
              <a:buFont typeface="+mj-lt"/>
              <a:buAutoNum type="arabicPeriod"/>
            </a:pPr>
            <a:r>
              <a:rPr lang="en-IN" sz="2400" b="1" dirty="0">
                <a:latin typeface="Times New Roman" panose="02020603050405020304" pitchFamily="18" charset="0"/>
                <a:cs typeface="Times New Roman" panose="02020603050405020304" pitchFamily="18" charset="0"/>
              </a:rPr>
              <a:t>D. J. Thurman et al.</a:t>
            </a:r>
            <a:r>
              <a:rPr lang="en-IN" sz="2400" dirty="0">
                <a:latin typeface="Times New Roman" panose="02020603050405020304" pitchFamily="18" charset="0"/>
                <a:cs typeface="Times New Roman" panose="02020603050405020304" pitchFamily="18" charset="0"/>
              </a:rPr>
              <a:t> “Standards for Epidemiologic Studies and Surveillance of Epilepsy,” </a:t>
            </a:r>
            <a:r>
              <a:rPr lang="en-IN" sz="2400" i="1" dirty="0">
                <a:latin typeface="Times New Roman" panose="02020603050405020304" pitchFamily="18" charset="0"/>
                <a:cs typeface="Times New Roman" panose="02020603050405020304" pitchFamily="18" charset="0"/>
              </a:rPr>
              <a:t>Epilepsia</a:t>
            </a:r>
            <a:r>
              <a:rPr lang="en-IN" sz="2400" dirty="0">
                <a:latin typeface="Times New Roman" panose="02020603050405020304" pitchFamily="18" charset="0"/>
                <a:cs typeface="Times New Roman" panose="02020603050405020304" pitchFamily="18" charset="0"/>
              </a:rPr>
              <a:t>, vol. 52, pp. 2–26, 2011.</a:t>
            </a:r>
          </a:p>
          <a:p>
            <a:pPr marL="457200" indent="-457200" algn="just">
              <a:buFont typeface="+mj-lt"/>
              <a:buAutoNum type="arabicPeriod"/>
            </a:pPr>
            <a:r>
              <a:rPr lang="en-IN" sz="2400" b="1" dirty="0">
                <a:latin typeface="Times New Roman" panose="02020603050405020304" pitchFamily="18" charset="0"/>
                <a:cs typeface="Times New Roman" panose="02020603050405020304" pitchFamily="18" charset="0"/>
              </a:rPr>
              <a:t>E. Niedermeyer &amp; F. Lopes da Silva.</a:t>
            </a:r>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Electroencephalography: Basic Principles, Clinical Applications, and Related Fields</a:t>
            </a:r>
            <a:r>
              <a:rPr lang="en-IN" sz="2400" dirty="0">
                <a:latin typeface="Times New Roman" panose="02020603050405020304" pitchFamily="18" charset="0"/>
                <a:cs typeface="Times New Roman" panose="02020603050405020304" pitchFamily="18" charset="0"/>
              </a:rPr>
              <a:t>, 5th ed., Lippincott Williams &amp; Wilkins, 2005.</a:t>
            </a:r>
          </a:p>
          <a:p>
            <a:pPr marL="457200" indent="-457200" algn="just">
              <a:buFont typeface="+mj-lt"/>
              <a:buAutoNum type="arabicPeriod"/>
            </a:pPr>
            <a:r>
              <a:rPr lang="en-IN" sz="2400" b="1" dirty="0">
                <a:latin typeface="Times New Roman" panose="02020603050405020304" pitchFamily="18" charset="0"/>
                <a:cs typeface="Times New Roman" panose="02020603050405020304" pitchFamily="18" charset="0"/>
              </a:rPr>
              <a:t>I. Ullah et al.</a:t>
            </a:r>
            <a:r>
              <a:rPr lang="en-IN" sz="2400" dirty="0">
                <a:latin typeface="Times New Roman" panose="02020603050405020304" pitchFamily="18" charset="0"/>
                <a:cs typeface="Times New Roman" panose="02020603050405020304" pitchFamily="18" charset="0"/>
              </a:rPr>
              <a:t> “Automated System for Epilepsy Detection Using EEG Brain Signals Based on Deep Learning Approach,” </a:t>
            </a:r>
            <a:r>
              <a:rPr lang="en-IN" sz="2400" i="1" dirty="0">
                <a:latin typeface="Times New Roman" panose="02020603050405020304" pitchFamily="18" charset="0"/>
                <a:cs typeface="Times New Roman" panose="02020603050405020304" pitchFamily="18" charset="0"/>
              </a:rPr>
              <a:t>Expert Systems with Applications</a:t>
            </a:r>
            <a:r>
              <a:rPr lang="en-IN" sz="2400" dirty="0">
                <a:latin typeface="Times New Roman" panose="02020603050405020304" pitchFamily="18" charset="0"/>
                <a:cs typeface="Times New Roman" panose="02020603050405020304" pitchFamily="18" charset="0"/>
              </a:rPr>
              <a:t>, vol. 107, pp. 61–71, 2018.</a:t>
            </a:r>
          </a:p>
          <a:p>
            <a:pPr marL="457200" indent="-457200" algn="just">
              <a:buFont typeface="+mj-lt"/>
              <a:buAutoNum type="arabicPeriod"/>
            </a:pPr>
            <a:r>
              <a:rPr lang="en-IN" sz="2400" b="1" dirty="0">
                <a:latin typeface="Times New Roman" panose="02020603050405020304" pitchFamily="18" charset="0"/>
                <a:cs typeface="Times New Roman" panose="02020603050405020304" pitchFamily="18" charset="0"/>
              </a:rPr>
              <a:t>A. </a:t>
            </a:r>
            <a:r>
              <a:rPr lang="en-IN" sz="2400" b="1" dirty="0" err="1">
                <a:latin typeface="Times New Roman" panose="02020603050405020304" pitchFamily="18" charset="0"/>
                <a:cs typeface="Times New Roman" panose="02020603050405020304" pitchFamily="18" charset="0"/>
              </a:rPr>
              <a:t>Shoeibi</a:t>
            </a:r>
            <a:r>
              <a:rPr lang="en-IN" sz="2400" b="1" dirty="0">
                <a:latin typeface="Times New Roman" panose="02020603050405020304" pitchFamily="18" charset="0"/>
                <a:cs typeface="Times New Roman" panose="02020603050405020304" pitchFamily="18" charset="0"/>
              </a:rPr>
              <a:t> et al.</a:t>
            </a:r>
            <a:r>
              <a:rPr lang="en-IN" sz="2400" dirty="0">
                <a:latin typeface="Times New Roman" panose="02020603050405020304" pitchFamily="18" charset="0"/>
                <a:cs typeface="Times New Roman" panose="02020603050405020304" pitchFamily="18" charset="0"/>
              </a:rPr>
              <a:t> “Epileptic Seizures Detection Using Deep Learning Techniques: A Review,” </a:t>
            </a:r>
            <a:r>
              <a:rPr lang="en-IN" sz="2400" i="1" dirty="0">
                <a:latin typeface="Times New Roman" panose="02020603050405020304" pitchFamily="18" charset="0"/>
                <a:cs typeface="Times New Roman" panose="02020603050405020304" pitchFamily="18" charset="0"/>
              </a:rPr>
              <a:t>International Journal of Environmental Research and Public Health</a:t>
            </a:r>
            <a:r>
              <a:rPr lang="en-IN" sz="2400" dirty="0">
                <a:latin typeface="Times New Roman" panose="02020603050405020304" pitchFamily="18" charset="0"/>
                <a:cs typeface="Times New Roman" panose="02020603050405020304" pitchFamily="18" charset="0"/>
              </a:rPr>
              <a:t>, vol. 18, no. 11, 5780, 2021.</a:t>
            </a:r>
          </a:p>
          <a:p>
            <a:pPr marL="457200" indent="-457200" algn="just">
              <a:buFont typeface="+mj-lt"/>
              <a:buAutoNum type="arabicPeriod"/>
            </a:pPr>
            <a:r>
              <a:rPr lang="en-IN" sz="2400" b="1" dirty="0">
                <a:latin typeface="Times New Roman" panose="02020603050405020304" pitchFamily="18" charset="0"/>
                <a:cs typeface="Times New Roman" panose="02020603050405020304" pitchFamily="18" charset="0"/>
              </a:rPr>
              <a:t>A. T. </a:t>
            </a:r>
            <a:r>
              <a:rPr lang="en-IN" sz="2400" b="1" dirty="0" err="1">
                <a:latin typeface="Times New Roman" panose="02020603050405020304" pitchFamily="18" charset="0"/>
                <a:cs typeface="Times New Roman" panose="02020603050405020304" pitchFamily="18" charset="0"/>
              </a:rPr>
              <a:t>Tzallas</a:t>
            </a:r>
            <a:r>
              <a:rPr lang="en-IN" sz="2400" b="1" dirty="0">
                <a:latin typeface="Times New Roman" panose="02020603050405020304" pitchFamily="18" charset="0"/>
                <a:cs typeface="Times New Roman" panose="02020603050405020304" pitchFamily="18" charset="0"/>
              </a:rPr>
              <a:t>, M. G. </a:t>
            </a:r>
            <a:r>
              <a:rPr lang="en-IN" sz="2400" b="1" dirty="0" err="1">
                <a:latin typeface="Times New Roman" panose="02020603050405020304" pitchFamily="18" charset="0"/>
                <a:cs typeface="Times New Roman" panose="02020603050405020304" pitchFamily="18" charset="0"/>
              </a:rPr>
              <a:t>Tsipouras</a:t>
            </a:r>
            <a:r>
              <a:rPr lang="en-IN" sz="2400" b="1" dirty="0">
                <a:latin typeface="Times New Roman" panose="02020603050405020304" pitchFamily="18" charset="0"/>
                <a:cs typeface="Times New Roman" panose="02020603050405020304" pitchFamily="18" charset="0"/>
              </a:rPr>
              <a:t>, D. I. Fotiadis.</a:t>
            </a:r>
            <a:r>
              <a:rPr lang="en-IN" sz="2400" dirty="0">
                <a:latin typeface="Times New Roman" panose="02020603050405020304" pitchFamily="18" charset="0"/>
                <a:cs typeface="Times New Roman" panose="02020603050405020304" pitchFamily="18" charset="0"/>
              </a:rPr>
              <a:t> “Epileptic Seizure Detection in EEGs Using Time–Frequency Analysis,” </a:t>
            </a:r>
            <a:r>
              <a:rPr lang="en-IN" sz="2400" i="1" dirty="0">
                <a:latin typeface="Times New Roman" panose="02020603050405020304" pitchFamily="18" charset="0"/>
                <a:cs typeface="Times New Roman" panose="02020603050405020304" pitchFamily="18" charset="0"/>
              </a:rPr>
              <a:t>IEEE Transactions on Information Technology in Biomedicine</a:t>
            </a:r>
            <a:r>
              <a:rPr lang="en-IN" sz="2400" dirty="0">
                <a:latin typeface="Times New Roman" panose="02020603050405020304" pitchFamily="18" charset="0"/>
                <a:cs typeface="Times New Roman" panose="02020603050405020304" pitchFamily="18" charset="0"/>
              </a:rPr>
              <a:t>, vol. 13, no. 5, pp. 703–710, 2009.</a:t>
            </a:r>
          </a:p>
          <a:p>
            <a:pPr marL="457200" indent="-457200" algn="just">
              <a:buFont typeface="+mj-lt"/>
              <a:buAutoNum type="arabicPeriod"/>
            </a:pPr>
            <a:r>
              <a:rPr lang="en-IN" sz="2400" b="1" dirty="0">
                <a:latin typeface="Times New Roman" panose="02020603050405020304" pitchFamily="18" charset="0"/>
                <a:cs typeface="Times New Roman" panose="02020603050405020304" pitchFamily="18" charset="0"/>
              </a:rPr>
              <a:t>A. Subasi.</a:t>
            </a:r>
            <a:r>
              <a:rPr lang="en-IN" sz="2400" dirty="0">
                <a:latin typeface="Times New Roman" panose="02020603050405020304" pitchFamily="18" charset="0"/>
                <a:cs typeface="Times New Roman" panose="02020603050405020304" pitchFamily="18" charset="0"/>
              </a:rPr>
              <a:t> “EEG Signal Classification Using Wavelet Transform and Support Vector Machine,” </a:t>
            </a:r>
            <a:r>
              <a:rPr lang="en-IN" sz="2400" i="1" dirty="0">
                <a:latin typeface="Times New Roman" panose="02020603050405020304" pitchFamily="18" charset="0"/>
                <a:cs typeface="Times New Roman" panose="02020603050405020304" pitchFamily="18" charset="0"/>
              </a:rPr>
              <a:t>Expert Systems with Applications</a:t>
            </a:r>
            <a:r>
              <a:rPr lang="en-IN" sz="2400" dirty="0">
                <a:latin typeface="Times New Roman" panose="02020603050405020304" pitchFamily="18" charset="0"/>
                <a:cs typeface="Times New Roman" panose="02020603050405020304" pitchFamily="18" charset="0"/>
              </a:rPr>
              <a:t>, vol. 31, no. 2, pp. 320–328, 2006.</a:t>
            </a:r>
          </a:p>
          <a:p>
            <a:pPr marL="457200" indent="-457200" algn="just">
              <a:buFont typeface="+mj-lt"/>
              <a:buAutoNum type="arabicPeriod"/>
            </a:pPr>
            <a:r>
              <a:rPr lang="en-IN" sz="2400" b="1" dirty="0">
                <a:latin typeface="Times New Roman" panose="02020603050405020304" pitchFamily="18" charset="0"/>
                <a:cs typeface="Times New Roman" panose="02020603050405020304" pitchFamily="18" charset="0"/>
              </a:rPr>
              <a:t>R. G. Andrzejak et al.</a:t>
            </a:r>
            <a:r>
              <a:rPr lang="en-IN" sz="2400" dirty="0">
                <a:latin typeface="Times New Roman" panose="02020603050405020304" pitchFamily="18" charset="0"/>
                <a:cs typeface="Times New Roman" panose="02020603050405020304" pitchFamily="18" charset="0"/>
              </a:rPr>
              <a:t> “Nonlinear Deterministic Structures in Time Series of Brain Electrical Activity,” </a:t>
            </a:r>
            <a:r>
              <a:rPr lang="en-IN" sz="2400" i="1" dirty="0">
                <a:latin typeface="Times New Roman" panose="02020603050405020304" pitchFamily="18" charset="0"/>
                <a:cs typeface="Times New Roman" panose="02020603050405020304" pitchFamily="18" charset="0"/>
              </a:rPr>
              <a:t>Physical Review E</a:t>
            </a:r>
            <a:r>
              <a:rPr lang="en-IN" sz="2400" dirty="0">
                <a:latin typeface="Times New Roman" panose="02020603050405020304" pitchFamily="18" charset="0"/>
                <a:cs typeface="Times New Roman" panose="02020603050405020304" pitchFamily="18" charset="0"/>
              </a:rPr>
              <a:t>, vol. 64, no. 6, 061907, 2001.</a:t>
            </a:r>
          </a:p>
          <a:p>
            <a:pPr marL="457200" indent="-457200" algn="just">
              <a:buFont typeface="+mj-lt"/>
              <a:buAutoNum type="arabicPeriod"/>
            </a:pPr>
            <a:r>
              <a:rPr lang="en-IN" sz="2400" b="1" dirty="0">
                <a:latin typeface="Times New Roman" panose="02020603050405020304" pitchFamily="18" charset="0"/>
                <a:cs typeface="Times New Roman" panose="02020603050405020304" pitchFamily="18" charset="0"/>
              </a:rPr>
              <a:t>T. Fawcett.</a:t>
            </a:r>
            <a:r>
              <a:rPr lang="en-IN" sz="2400" dirty="0">
                <a:latin typeface="Times New Roman" panose="02020603050405020304" pitchFamily="18" charset="0"/>
                <a:cs typeface="Times New Roman" panose="02020603050405020304" pitchFamily="18" charset="0"/>
              </a:rPr>
              <a:t> “An Introduction to ROC Analysis,” </a:t>
            </a:r>
            <a:r>
              <a:rPr lang="en-IN" sz="2400" i="1" dirty="0">
                <a:latin typeface="Times New Roman" panose="02020603050405020304" pitchFamily="18" charset="0"/>
                <a:cs typeface="Times New Roman" panose="02020603050405020304" pitchFamily="18" charset="0"/>
              </a:rPr>
              <a:t>Pattern Recognition Letters</a:t>
            </a:r>
            <a:r>
              <a:rPr lang="en-IN" sz="2400" dirty="0">
                <a:latin typeface="Times New Roman" panose="02020603050405020304" pitchFamily="18" charset="0"/>
                <a:cs typeface="Times New Roman" panose="02020603050405020304" pitchFamily="18" charset="0"/>
              </a:rPr>
              <a:t>, vol. 27, no. 8, pp. 861–874, 2006.</a:t>
            </a:r>
          </a:p>
          <a:p>
            <a:pPr marL="457200" indent="-457200" algn="just">
              <a:buFont typeface="+mj-lt"/>
              <a:buAutoNum type="arabicPeriod"/>
            </a:pPr>
            <a:r>
              <a:rPr lang="en-IN" sz="2400" b="1" dirty="0">
                <a:latin typeface="Times New Roman" panose="02020603050405020304" pitchFamily="18" charset="0"/>
                <a:cs typeface="Times New Roman" panose="02020603050405020304" pitchFamily="18" charset="0"/>
              </a:rPr>
              <a:t>EEG Dataset:</a:t>
            </a:r>
            <a:r>
              <a:rPr lang="en-IN" sz="2400" dirty="0">
                <a:latin typeface="Times New Roman" panose="02020603050405020304" pitchFamily="18" charset="0"/>
                <a:cs typeface="Times New Roman" panose="02020603050405020304" pitchFamily="18" charset="0"/>
              </a:rPr>
              <a:t> University of Bonn, Germany. [Online]. Available: </a:t>
            </a:r>
            <a:r>
              <a:rPr lang="en-IN" sz="2400" dirty="0">
                <a:latin typeface="Times New Roman" panose="02020603050405020304" pitchFamily="18" charset="0"/>
                <a:cs typeface="Times New Roman" panose="02020603050405020304" pitchFamily="18" charset="0"/>
                <a:hlinkClick r:id="rId4"/>
              </a:rPr>
              <a:t>http://epileptologie-bonn.de</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US" sz="2400" b="1" i="1" dirty="0"/>
              <a:t>Full list of 35 scientific references is included in our IEEE research paper titled “Comprehensive Evaluation of Machine Learning Models for Epileptic Seizure Detection.</a:t>
            </a:r>
            <a:endParaRPr lang="en-IN" sz="2400" b="1" i="1"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C71C6-B5B0-EA1D-9024-2F6CDDC703F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9A3A8B7-5C35-D7EB-4801-609CF94EC385}"/>
              </a:ext>
            </a:extLst>
          </p:cNvPr>
          <p:cNvSpPr/>
          <p:nvPr/>
        </p:nvSpPr>
        <p:spPr>
          <a:xfrm>
            <a:off x="1600199" y="0"/>
            <a:ext cx="15011401"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algn="just"/>
            <a:endParaRPr lang="en-US" sz="2400" dirty="0">
              <a:latin typeface="Public Sans" panose="020B0604020202020204" charset="0"/>
            </a:endParaRPr>
          </a:p>
          <a:p>
            <a:pPr algn="just"/>
            <a:endParaRPr lang="en-US" sz="2400" dirty="0">
              <a:latin typeface="Public Sans" panose="020B0604020202020204" charset="0"/>
            </a:endParaRPr>
          </a:p>
        </p:txBody>
      </p:sp>
      <p:sp>
        <p:nvSpPr>
          <p:cNvPr id="3" name="TextBox 3">
            <a:extLst>
              <a:ext uri="{FF2B5EF4-FFF2-40B4-BE49-F238E27FC236}">
                <a16:creationId xmlns:a16="http://schemas.microsoft.com/office/drawing/2014/main" id="{89AFE8C6-76B2-EB66-906E-FA9D298B5D20}"/>
              </a:ext>
            </a:extLst>
          </p:cNvPr>
          <p:cNvSpPr txBox="1"/>
          <p:nvPr/>
        </p:nvSpPr>
        <p:spPr>
          <a:xfrm>
            <a:off x="3836176" y="723900"/>
            <a:ext cx="10615648" cy="1051570"/>
          </a:xfrm>
          <a:prstGeom prst="rect">
            <a:avLst/>
          </a:prstGeom>
        </p:spPr>
        <p:txBody>
          <a:bodyPr wrap="square" lIns="0" tIns="0" rIns="0" bIns="0" rtlCol="0" anchor="t">
            <a:spAutoFit/>
          </a:bodyPr>
          <a:lstStyle/>
          <a:p>
            <a:pPr algn="ctr">
              <a:lnSpc>
                <a:spcPts val="8158"/>
              </a:lnSpc>
            </a:pPr>
            <a:r>
              <a:rPr lang="en-US" sz="8499" spc="-696" dirty="0">
                <a:solidFill>
                  <a:srgbClr val="0B4357"/>
                </a:solidFill>
                <a:latin typeface="Public Sans"/>
                <a:ea typeface="Public Sans"/>
                <a:cs typeface="Public Sans"/>
                <a:sym typeface="Public Sans"/>
              </a:rPr>
              <a:t>TECH STACK </a:t>
            </a:r>
          </a:p>
        </p:txBody>
      </p:sp>
      <p:grpSp>
        <p:nvGrpSpPr>
          <p:cNvPr id="6" name="Group 6">
            <a:extLst>
              <a:ext uri="{FF2B5EF4-FFF2-40B4-BE49-F238E27FC236}">
                <a16:creationId xmlns:a16="http://schemas.microsoft.com/office/drawing/2014/main" id="{6E35AB70-5C14-FDFB-6520-69F1B4E5819F}"/>
              </a:ext>
            </a:extLst>
          </p:cNvPr>
          <p:cNvGrpSpPr/>
          <p:nvPr/>
        </p:nvGrpSpPr>
        <p:grpSpPr>
          <a:xfrm>
            <a:off x="-6401101" y="9334500"/>
            <a:ext cx="12802201" cy="6166777"/>
            <a:chOff x="0" y="0"/>
            <a:chExt cx="1338446" cy="644725"/>
          </a:xfrm>
        </p:grpSpPr>
        <p:sp>
          <p:nvSpPr>
            <p:cNvPr id="7" name="Freeform 7">
              <a:extLst>
                <a:ext uri="{FF2B5EF4-FFF2-40B4-BE49-F238E27FC236}">
                  <a16:creationId xmlns:a16="http://schemas.microsoft.com/office/drawing/2014/main" id="{061CF067-764C-AC29-034A-D4ABD4B20000}"/>
                </a:ext>
              </a:extLst>
            </p:cNvPr>
            <p:cNvSpPr/>
            <p:nvPr/>
          </p:nvSpPr>
          <p:spPr>
            <a:xfrm>
              <a:off x="0" y="0"/>
              <a:ext cx="1338447" cy="644725"/>
            </a:xfrm>
            <a:custGeom>
              <a:avLst/>
              <a:gdLst/>
              <a:ahLst/>
              <a:cxnLst/>
              <a:rect l="l" t="t" r="r" b="b"/>
              <a:pathLst>
                <a:path w="1338447" h="644725">
                  <a:moveTo>
                    <a:pt x="1338447" y="322363"/>
                  </a:moveTo>
                  <a:lnTo>
                    <a:pt x="1135247" y="644725"/>
                  </a:lnTo>
                  <a:lnTo>
                    <a:pt x="203200" y="644725"/>
                  </a:lnTo>
                  <a:lnTo>
                    <a:pt x="0" y="322363"/>
                  </a:lnTo>
                  <a:lnTo>
                    <a:pt x="203200" y="0"/>
                  </a:lnTo>
                  <a:lnTo>
                    <a:pt x="1135247" y="0"/>
                  </a:lnTo>
                  <a:lnTo>
                    <a:pt x="1338447" y="322363"/>
                  </a:lnTo>
                  <a:close/>
                </a:path>
              </a:pathLst>
            </a:custGeom>
            <a:solidFill>
              <a:srgbClr val="0A4A61"/>
            </a:solidFill>
            <a:ln w="466725" cap="sq">
              <a:solidFill>
                <a:srgbClr val="155C75"/>
              </a:solidFill>
              <a:prstDash val="solid"/>
              <a:miter/>
            </a:ln>
          </p:spPr>
          <p:txBody>
            <a:bodyPr/>
            <a:lstStyle/>
            <a:p>
              <a:endParaRPr lang="en-IN"/>
            </a:p>
          </p:txBody>
        </p:sp>
        <p:sp>
          <p:nvSpPr>
            <p:cNvPr id="8" name="TextBox 8">
              <a:extLst>
                <a:ext uri="{FF2B5EF4-FFF2-40B4-BE49-F238E27FC236}">
                  <a16:creationId xmlns:a16="http://schemas.microsoft.com/office/drawing/2014/main" id="{077964E1-F9AE-EBAE-CE94-1D000E8ED6CA}"/>
                </a:ext>
              </a:extLst>
            </p:cNvPr>
            <p:cNvSpPr txBox="1"/>
            <p:nvPr/>
          </p:nvSpPr>
          <p:spPr>
            <a:xfrm>
              <a:off x="114300" y="-57150"/>
              <a:ext cx="1109846" cy="701875"/>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a:extLst>
              <a:ext uri="{FF2B5EF4-FFF2-40B4-BE49-F238E27FC236}">
                <a16:creationId xmlns:a16="http://schemas.microsoft.com/office/drawing/2014/main" id="{06470C7C-2E2C-7F96-2933-868B6E237D3A}"/>
              </a:ext>
            </a:extLst>
          </p:cNvPr>
          <p:cNvGrpSpPr/>
          <p:nvPr/>
        </p:nvGrpSpPr>
        <p:grpSpPr>
          <a:xfrm>
            <a:off x="15169283" y="-3617793"/>
            <a:ext cx="6705577" cy="5017483"/>
            <a:chOff x="0" y="0"/>
            <a:chExt cx="933505" cy="698500"/>
          </a:xfrm>
        </p:grpSpPr>
        <p:sp>
          <p:nvSpPr>
            <p:cNvPr id="10" name="Freeform 10">
              <a:extLst>
                <a:ext uri="{FF2B5EF4-FFF2-40B4-BE49-F238E27FC236}">
                  <a16:creationId xmlns:a16="http://schemas.microsoft.com/office/drawing/2014/main" id="{35075E1B-8BC6-8F0F-73D4-56A8738FD562}"/>
                </a:ext>
              </a:extLst>
            </p:cNvPr>
            <p:cNvSpPr/>
            <p:nvPr/>
          </p:nvSpPr>
          <p:spPr>
            <a:xfrm>
              <a:off x="0" y="0"/>
              <a:ext cx="933505" cy="698500"/>
            </a:xfrm>
            <a:custGeom>
              <a:avLst/>
              <a:gdLst/>
              <a:ahLst/>
              <a:cxnLst/>
              <a:rect l="l" t="t" r="r" b="b"/>
              <a:pathLst>
                <a:path w="933505" h="698500">
                  <a:moveTo>
                    <a:pt x="933505" y="349250"/>
                  </a:moveTo>
                  <a:lnTo>
                    <a:pt x="730305" y="698500"/>
                  </a:lnTo>
                  <a:lnTo>
                    <a:pt x="203200" y="698500"/>
                  </a:lnTo>
                  <a:lnTo>
                    <a:pt x="0" y="349250"/>
                  </a:lnTo>
                  <a:lnTo>
                    <a:pt x="203200" y="0"/>
                  </a:lnTo>
                  <a:lnTo>
                    <a:pt x="730305" y="0"/>
                  </a:lnTo>
                  <a:lnTo>
                    <a:pt x="933505" y="349250"/>
                  </a:lnTo>
                  <a:close/>
                </a:path>
              </a:pathLst>
            </a:custGeom>
            <a:solidFill>
              <a:srgbClr val="000000">
                <a:alpha val="0"/>
              </a:srgbClr>
            </a:solidFill>
            <a:ln w="114300" cap="sq">
              <a:solidFill>
                <a:srgbClr val="0A4A61"/>
              </a:solidFill>
              <a:prstDash val="solid"/>
              <a:miter/>
            </a:ln>
          </p:spPr>
          <p:txBody>
            <a:bodyPr/>
            <a:lstStyle/>
            <a:p>
              <a:endParaRPr lang="en-IN"/>
            </a:p>
          </p:txBody>
        </p:sp>
        <p:sp>
          <p:nvSpPr>
            <p:cNvPr id="11" name="TextBox 11">
              <a:extLst>
                <a:ext uri="{FF2B5EF4-FFF2-40B4-BE49-F238E27FC236}">
                  <a16:creationId xmlns:a16="http://schemas.microsoft.com/office/drawing/2014/main" id="{AFF01E50-E421-6AD5-2718-7F98F8087E95}"/>
                </a:ext>
              </a:extLst>
            </p:cNvPr>
            <p:cNvSpPr txBox="1"/>
            <p:nvPr/>
          </p:nvSpPr>
          <p:spPr>
            <a:xfrm>
              <a:off x="114300" y="-57150"/>
              <a:ext cx="704905" cy="755650"/>
            </a:xfrm>
            <a:prstGeom prst="rect">
              <a:avLst/>
            </a:prstGeom>
          </p:spPr>
          <p:txBody>
            <a:bodyPr lIns="50800" tIns="50800" rIns="50800" bIns="50800" rtlCol="0" anchor="ctr"/>
            <a:lstStyle/>
            <a:p>
              <a:pPr algn="ctr">
                <a:lnSpc>
                  <a:spcPts val="2659"/>
                </a:lnSpc>
                <a:spcBef>
                  <a:spcPct val="0"/>
                </a:spcBef>
              </a:pPr>
              <a:endParaRPr/>
            </a:p>
          </p:txBody>
        </p:sp>
      </p:grpSp>
      <p:sp>
        <p:nvSpPr>
          <p:cNvPr id="4" name="Freeform 3">
            <a:extLst>
              <a:ext uri="{FF2B5EF4-FFF2-40B4-BE49-F238E27FC236}">
                <a16:creationId xmlns:a16="http://schemas.microsoft.com/office/drawing/2014/main" id="{F1D00559-D615-594E-A65C-056415E9DE7D}"/>
              </a:ext>
            </a:extLst>
          </p:cNvPr>
          <p:cNvSpPr/>
          <p:nvPr/>
        </p:nvSpPr>
        <p:spPr>
          <a:xfrm>
            <a:off x="228600" y="1775470"/>
            <a:ext cx="5527613" cy="4006545"/>
          </a:xfrm>
          <a:custGeom>
            <a:avLst/>
            <a:gdLst/>
            <a:ahLst/>
            <a:cxnLst/>
            <a:rect l="l" t="t" r="r" b="b"/>
            <a:pathLst>
              <a:path w="4494107" h="3922955">
                <a:moveTo>
                  <a:pt x="0" y="0"/>
                </a:moveTo>
                <a:lnTo>
                  <a:pt x="4494107" y="0"/>
                </a:lnTo>
                <a:lnTo>
                  <a:pt x="4494107" y="3922955"/>
                </a:lnTo>
                <a:lnTo>
                  <a:pt x="0" y="3922955"/>
                </a:lnTo>
                <a:lnTo>
                  <a:pt x="0" y="0"/>
                </a:lnTo>
                <a:close/>
              </a:path>
            </a:pathLst>
          </a:custGeom>
          <a:blipFill>
            <a:blip>
              <a:alphaModFix amt="92000"/>
              <a:extLst>
                <a:ext uri="{96DAC541-7B7A-43D3-8B79-37D633B846F1}">
                  <asvg:svgBlip xmlns:asvg="http://schemas.microsoft.com/office/drawing/2016/SVG/main" r:embed="rId3"/>
                </a:ext>
              </a:extLst>
            </a:blip>
            <a:stretch>
              <a:fillRect/>
            </a:stretch>
          </a:blipFill>
        </p:spPr>
        <p:txBody>
          <a:bodyPr/>
          <a:lstStyle/>
          <a:p>
            <a:endParaRPr lang="en-IN" b="1" dirty="0"/>
          </a:p>
          <a:p>
            <a:endParaRPr lang="en-IN" b="1" dirty="0"/>
          </a:p>
          <a:p>
            <a:endParaRPr lang="en-IN" b="1" dirty="0"/>
          </a:p>
          <a:p>
            <a:pPr algn="just"/>
            <a:endParaRPr lang="en-IN" b="1" dirty="0"/>
          </a:p>
          <a:p>
            <a:pPr algn="just"/>
            <a:r>
              <a:rPr lang="en-IN" sz="2000" b="1" dirty="0">
                <a:solidFill>
                  <a:schemeClr val="bg1"/>
                </a:solidFill>
                <a:latin typeface="Times New Roman" panose="02020603050405020304" pitchFamily="18" charset="0"/>
                <a:cs typeface="Times New Roman" panose="02020603050405020304" pitchFamily="18" charset="0"/>
              </a:rPr>
              <a:t>EEG Headband:</a:t>
            </a:r>
            <a:r>
              <a:rPr lang="en-IN" sz="2000" dirty="0">
                <a:solidFill>
                  <a:schemeClr val="bg1"/>
                </a:solidFill>
                <a:latin typeface="Times New Roman" panose="02020603050405020304" pitchFamily="18" charset="0"/>
                <a:cs typeface="Times New Roman" panose="02020603050405020304" pitchFamily="18" charset="0"/>
              </a:rPr>
              <a:t> 8 dry electrodes for real-time data acquisition</a:t>
            </a:r>
          </a:p>
          <a:p>
            <a:pPr algn="just"/>
            <a:r>
              <a:rPr lang="en-IN" sz="2000" b="1" dirty="0">
                <a:solidFill>
                  <a:schemeClr val="bg1"/>
                </a:solidFill>
                <a:latin typeface="Times New Roman" panose="02020603050405020304" pitchFamily="18" charset="0"/>
                <a:cs typeface="Times New Roman" panose="02020603050405020304" pitchFamily="18" charset="0"/>
              </a:rPr>
              <a:t>Microcontroller:</a:t>
            </a:r>
            <a:r>
              <a:rPr lang="en-IN" sz="2000" dirty="0">
                <a:solidFill>
                  <a:schemeClr val="bg1"/>
                </a:solidFill>
                <a:latin typeface="Times New Roman" panose="02020603050405020304" pitchFamily="18" charset="0"/>
                <a:cs typeface="Times New Roman" panose="02020603050405020304" pitchFamily="18" charset="0"/>
              </a:rPr>
              <a:t> ESP32 / Arduino Nano for signal processing</a:t>
            </a:r>
          </a:p>
          <a:p>
            <a:pPr algn="just"/>
            <a:r>
              <a:rPr lang="en-IN" sz="2000" b="1" dirty="0">
                <a:solidFill>
                  <a:schemeClr val="bg1"/>
                </a:solidFill>
                <a:latin typeface="Times New Roman" panose="02020603050405020304" pitchFamily="18" charset="0"/>
                <a:cs typeface="Times New Roman" panose="02020603050405020304" pitchFamily="18" charset="0"/>
              </a:rPr>
              <a:t>Amplifier Module:</a:t>
            </a:r>
            <a:r>
              <a:rPr lang="en-IN" sz="2000" dirty="0">
                <a:solidFill>
                  <a:schemeClr val="bg1"/>
                </a:solidFill>
                <a:latin typeface="Times New Roman" panose="02020603050405020304" pitchFamily="18" charset="0"/>
                <a:cs typeface="Times New Roman" panose="02020603050405020304" pitchFamily="18" charset="0"/>
              </a:rPr>
              <a:t> ADS1299 (Texas Instruments) for biopotential signals</a:t>
            </a:r>
          </a:p>
          <a:p>
            <a:pPr algn="just"/>
            <a:r>
              <a:rPr lang="en-IN" sz="2000" b="1" dirty="0">
                <a:solidFill>
                  <a:schemeClr val="bg1"/>
                </a:solidFill>
                <a:latin typeface="Times New Roman" panose="02020603050405020304" pitchFamily="18" charset="0"/>
                <a:cs typeface="Times New Roman" panose="02020603050405020304" pitchFamily="18" charset="0"/>
              </a:rPr>
              <a:t>Wireless Transmission:</a:t>
            </a:r>
            <a:r>
              <a:rPr lang="en-IN" sz="2000" dirty="0">
                <a:solidFill>
                  <a:schemeClr val="bg1"/>
                </a:solidFill>
                <a:latin typeface="Times New Roman" panose="02020603050405020304" pitchFamily="18" charset="0"/>
                <a:cs typeface="Times New Roman" panose="02020603050405020304" pitchFamily="18" charset="0"/>
              </a:rPr>
              <a:t> Wi-Fi / Bluetooth (BLE) for cloud connectivity</a:t>
            </a:r>
          </a:p>
        </p:txBody>
      </p:sp>
      <p:sp>
        <p:nvSpPr>
          <p:cNvPr id="20" name="Freeform 2">
            <a:extLst>
              <a:ext uri="{FF2B5EF4-FFF2-40B4-BE49-F238E27FC236}">
                <a16:creationId xmlns:a16="http://schemas.microsoft.com/office/drawing/2014/main" id="{A1A88660-4CF2-B397-E1DD-BF1A966948F2}"/>
              </a:ext>
            </a:extLst>
          </p:cNvPr>
          <p:cNvSpPr/>
          <p:nvPr/>
        </p:nvSpPr>
        <p:spPr>
          <a:xfrm>
            <a:off x="23812"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endParaRPr lang="en-IN" dirty="0"/>
          </a:p>
        </p:txBody>
      </p:sp>
      <p:sp>
        <p:nvSpPr>
          <p:cNvPr id="21" name="Freeform 3">
            <a:extLst>
              <a:ext uri="{FF2B5EF4-FFF2-40B4-BE49-F238E27FC236}">
                <a16:creationId xmlns:a16="http://schemas.microsoft.com/office/drawing/2014/main" id="{B7BF22AE-6080-5C44-D335-B642DC165D16}"/>
              </a:ext>
            </a:extLst>
          </p:cNvPr>
          <p:cNvSpPr/>
          <p:nvPr/>
        </p:nvSpPr>
        <p:spPr>
          <a:xfrm>
            <a:off x="406197" y="785720"/>
            <a:ext cx="5527613" cy="4006545"/>
          </a:xfrm>
          <a:custGeom>
            <a:avLst/>
            <a:gdLst/>
            <a:ahLst/>
            <a:cxnLst/>
            <a:rect l="l" t="t" r="r" b="b"/>
            <a:pathLst>
              <a:path w="4494107" h="3922955">
                <a:moveTo>
                  <a:pt x="0" y="0"/>
                </a:moveTo>
                <a:lnTo>
                  <a:pt x="4494107" y="0"/>
                </a:lnTo>
                <a:lnTo>
                  <a:pt x="4494107" y="3922955"/>
                </a:lnTo>
                <a:lnTo>
                  <a:pt x="0" y="3922955"/>
                </a:lnTo>
                <a:lnTo>
                  <a:pt x="0" y="0"/>
                </a:lnTo>
                <a:close/>
              </a:path>
            </a:pathLst>
          </a:custGeom>
          <a:blipFill>
            <a:blip>
              <a:alphaModFix amt="92000"/>
              <a:extLst>
                <a:ext uri="{96DAC541-7B7A-43D3-8B79-37D633B846F1}">
                  <asvg:svgBlip xmlns:asvg="http://schemas.microsoft.com/office/drawing/2016/SVG/main" r:embed="rId3"/>
                </a:ext>
              </a:extLst>
            </a:blip>
            <a:stretch>
              <a:fillRect/>
            </a:stretch>
          </a:blipFill>
        </p:spPr>
        <p:txBody>
          <a:bodyPr/>
          <a:lstStyle/>
          <a:p>
            <a:endParaRPr lang="en-IN" b="1" dirty="0"/>
          </a:p>
          <a:p>
            <a:endParaRPr lang="en-IN" b="1" dirty="0"/>
          </a:p>
          <a:p>
            <a:endParaRPr lang="en-IN" b="1" dirty="0"/>
          </a:p>
          <a:p>
            <a:pPr algn="just"/>
            <a:endParaRPr lang="en-IN" b="1" dirty="0"/>
          </a:p>
          <a:p>
            <a:pPr algn="just"/>
            <a:r>
              <a:rPr lang="en-IN" sz="2000" b="1" dirty="0">
                <a:solidFill>
                  <a:schemeClr val="bg1"/>
                </a:solidFill>
                <a:latin typeface="Times New Roman" panose="02020603050405020304" pitchFamily="18" charset="0"/>
                <a:cs typeface="Times New Roman" panose="02020603050405020304" pitchFamily="18" charset="0"/>
              </a:rPr>
              <a:t>EEG Headband:</a:t>
            </a:r>
            <a:r>
              <a:rPr lang="en-IN" sz="2000" dirty="0">
                <a:solidFill>
                  <a:schemeClr val="bg1"/>
                </a:solidFill>
                <a:latin typeface="Times New Roman" panose="02020603050405020304" pitchFamily="18" charset="0"/>
                <a:cs typeface="Times New Roman" panose="02020603050405020304" pitchFamily="18" charset="0"/>
              </a:rPr>
              <a:t> 8 dry electrodes for real-time data acquisition</a:t>
            </a:r>
          </a:p>
          <a:p>
            <a:pPr algn="just"/>
            <a:r>
              <a:rPr lang="en-IN" sz="2000" b="1" dirty="0">
                <a:solidFill>
                  <a:schemeClr val="bg1"/>
                </a:solidFill>
                <a:latin typeface="Times New Roman" panose="02020603050405020304" pitchFamily="18" charset="0"/>
                <a:cs typeface="Times New Roman" panose="02020603050405020304" pitchFamily="18" charset="0"/>
              </a:rPr>
              <a:t>Microcontroller:</a:t>
            </a:r>
            <a:r>
              <a:rPr lang="en-IN" sz="2000" dirty="0">
                <a:solidFill>
                  <a:schemeClr val="bg1"/>
                </a:solidFill>
                <a:latin typeface="Times New Roman" panose="02020603050405020304" pitchFamily="18" charset="0"/>
                <a:cs typeface="Times New Roman" panose="02020603050405020304" pitchFamily="18" charset="0"/>
              </a:rPr>
              <a:t> ESP32 / Arduino Nano for signal processing</a:t>
            </a:r>
          </a:p>
          <a:p>
            <a:pPr algn="just"/>
            <a:r>
              <a:rPr lang="en-IN" sz="2000" b="1" dirty="0">
                <a:solidFill>
                  <a:schemeClr val="bg1"/>
                </a:solidFill>
                <a:latin typeface="Times New Roman" panose="02020603050405020304" pitchFamily="18" charset="0"/>
                <a:cs typeface="Times New Roman" panose="02020603050405020304" pitchFamily="18" charset="0"/>
              </a:rPr>
              <a:t>Amplifier Module:</a:t>
            </a:r>
            <a:r>
              <a:rPr lang="en-IN" sz="2000" dirty="0">
                <a:solidFill>
                  <a:schemeClr val="bg1"/>
                </a:solidFill>
                <a:latin typeface="Times New Roman" panose="02020603050405020304" pitchFamily="18" charset="0"/>
                <a:cs typeface="Times New Roman" panose="02020603050405020304" pitchFamily="18" charset="0"/>
              </a:rPr>
              <a:t> ADS1299 (Texas Instruments) for biopotential signals</a:t>
            </a:r>
          </a:p>
          <a:p>
            <a:pPr algn="just"/>
            <a:r>
              <a:rPr lang="en-IN" sz="2000" b="1" dirty="0">
                <a:solidFill>
                  <a:schemeClr val="bg1"/>
                </a:solidFill>
                <a:latin typeface="Times New Roman" panose="02020603050405020304" pitchFamily="18" charset="0"/>
                <a:cs typeface="Times New Roman" panose="02020603050405020304" pitchFamily="18" charset="0"/>
              </a:rPr>
              <a:t>Wireless Transmission:</a:t>
            </a:r>
            <a:r>
              <a:rPr lang="en-IN" sz="2000" dirty="0">
                <a:solidFill>
                  <a:schemeClr val="bg1"/>
                </a:solidFill>
                <a:latin typeface="Times New Roman" panose="02020603050405020304" pitchFamily="18" charset="0"/>
                <a:cs typeface="Times New Roman" panose="02020603050405020304" pitchFamily="18" charset="0"/>
              </a:rPr>
              <a:t> Wi-Fi / Bluetooth (BLE) for cloud connectivity</a:t>
            </a:r>
          </a:p>
        </p:txBody>
      </p:sp>
      <p:sp>
        <p:nvSpPr>
          <p:cNvPr id="22" name="Freeform 4">
            <a:extLst>
              <a:ext uri="{FF2B5EF4-FFF2-40B4-BE49-F238E27FC236}">
                <a16:creationId xmlns:a16="http://schemas.microsoft.com/office/drawing/2014/main" id="{6991FBDC-F462-C4AD-B37A-8174716A2D67}"/>
              </a:ext>
            </a:extLst>
          </p:cNvPr>
          <p:cNvSpPr/>
          <p:nvPr/>
        </p:nvSpPr>
        <p:spPr>
          <a:xfrm>
            <a:off x="388755" y="5201191"/>
            <a:ext cx="5595537" cy="3861437"/>
          </a:xfrm>
          <a:custGeom>
            <a:avLst/>
            <a:gdLst/>
            <a:ahLst/>
            <a:cxnLst/>
            <a:rect l="l" t="t" r="r" b="b"/>
            <a:pathLst>
              <a:path w="4494107" h="3922955">
                <a:moveTo>
                  <a:pt x="0" y="0"/>
                </a:moveTo>
                <a:lnTo>
                  <a:pt x="4494107" y="0"/>
                </a:lnTo>
                <a:lnTo>
                  <a:pt x="4494107" y="3922955"/>
                </a:lnTo>
                <a:lnTo>
                  <a:pt x="0" y="3922955"/>
                </a:lnTo>
                <a:lnTo>
                  <a:pt x="0" y="0"/>
                </a:lnTo>
                <a:close/>
              </a:path>
            </a:pathLst>
          </a:custGeom>
          <a:blipFill>
            <a:blip>
              <a:alphaModFix amt="92000"/>
              <a:extLst>
                <a:ext uri="{96DAC541-7B7A-43D3-8B79-37D633B846F1}">
                  <asvg:svgBlip xmlns:asvg="http://schemas.microsoft.com/office/drawing/2016/SVG/main" r:embed="rId3"/>
                </a:ext>
              </a:extLst>
            </a:blip>
            <a:stretch>
              <a:fillRect/>
            </a:stretch>
          </a:blipFill>
        </p:spPr>
        <p:txBody>
          <a:bodyPr/>
          <a:lstStyle/>
          <a:p>
            <a:endParaRPr lang="en-IN" dirty="0"/>
          </a:p>
          <a:p>
            <a:endParaRPr lang="en-IN" dirty="0"/>
          </a:p>
          <a:p>
            <a:endParaRPr lang="en-IN" dirty="0"/>
          </a:p>
          <a:p>
            <a:endParaRPr lang="en-IN" dirty="0"/>
          </a:p>
          <a:p>
            <a:r>
              <a:rPr lang="en-IN" sz="2000" dirty="0"/>
              <a:t> </a:t>
            </a:r>
            <a:r>
              <a:rPr lang="en-IN" sz="2000" b="1" dirty="0">
                <a:solidFill>
                  <a:schemeClr val="bg1"/>
                </a:solidFill>
                <a:latin typeface="Times New Roman" panose="02020603050405020304" pitchFamily="18" charset="0"/>
                <a:cs typeface="Times New Roman" panose="02020603050405020304" pitchFamily="18" charset="0"/>
              </a:rPr>
              <a:t>Platform:</a:t>
            </a:r>
            <a:r>
              <a:rPr lang="en-IN" sz="2000" dirty="0">
                <a:solidFill>
                  <a:schemeClr val="bg1"/>
                </a:solidFill>
                <a:latin typeface="Times New Roman" panose="02020603050405020304" pitchFamily="18" charset="0"/>
                <a:cs typeface="Times New Roman" panose="02020603050405020304" pitchFamily="18" charset="0"/>
              </a:rPr>
              <a:t> Microsoft Power BI / Streamlit (prototype testing)</a:t>
            </a:r>
          </a:p>
          <a:p>
            <a:r>
              <a:rPr lang="en-US" sz="2000" b="1" dirty="0">
                <a:solidFill>
                  <a:schemeClr val="bg1"/>
                </a:solidFill>
                <a:latin typeface="Times New Roman" panose="02020603050405020304" pitchFamily="18" charset="0"/>
                <a:cs typeface="Times New Roman" panose="02020603050405020304" pitchFamily="18" charset="0"/>
              </a:rPr>
              <a:t>Libraries:</a:t>
            </a:r>
            <a:r>
              <a:rPr lang="en-US" sz="2000" dirty="0">
                <a:solidFill>
                  <a:schemeClr val="bg1"/>
                </a:solidFill>
                <a:latin typeface="Times New Roman" panose="02020603050405020304" pitchFamily="18" charset="0"/>
                <a:cs typeface="Times New Roman" panose="02020603050405020304" pitchFamily="18" charset="0"/>
              </a:rPr>
              <a:t> Matplotlib, Plotly for EEG signal graphs and heatmaps</a:t>
            </a:r>
          </a:p>
          <a:p>
            <a:r>
              <a:rPr lang="en-US" sz="2000" b="1" dirty="0">
                <a:solidFill>
                  <a:schemeClr val="bg1"/>
                </a:solidFill>
                <a:latin typeface="Times New Roman" panose="02020603050405020304" pitchFamily="18" charset="0"/>
                <a:cs typeface="Times New Roman" panose="02020603050405020304" pitchFamily="18" charset="0"/>
              </a:rPr>
              <a:t>Visualization:</a:t>
            </a:r>
            <a:r>
              <a:rPr lang="en-US" sz="2000" dirty="0">
                <a:solidFill>
                  <a:schemeClr val="bg1"/>
                </a:solidFill>
                <a:latin typeface="Times New Roman" panose="02020603050405020304" pitchFamily="18" charset="0"/>
                <a:cs typeface="Times New Roman" panose="02020603050405020304" pitchFamily="18" charset="0"/>
              </a:rPr>
              <a:t> Frequency bands (α, β, γ, δ), STFT heatmaps, real-time brain region mapping</a:t>
            </a:r>
          </a:p>
          <a:p>
            <a:r>
              <a:rPr lang="en-US" sz="2000" b="1" dirty="0">
                <a:solidFill>
                  <a:schemeClr val="bg1"/>
                </a:solidFill>
                <a:latin typeface="Times New Roman" panose="02020603050405020304" pitchFamily="18" charset="0"/>
                <a:cs typeface="Times New Roman" panose="02020603050405020304" pitchFamily="18" charset="0"/>
              </a:rPr>
              <a:t>Output:</a:t>
            </a:r>
            <a:r>
              <a:rPr lang="en-US" sz="2000" dirty="0">
                <a:solidFill>
                  <a:schemeClr val="bg1"/>
                </a:solidFill>
                <a:latin typeface="Times New Roman" panose="02020603050405020304" pitchFamily="18" charset="0"/>
                <a:cs typeface="Times New Roman" panose="02020603050405020304" pitchFamily="18" charset="0"/>
              </a:rPr>
              <a:t> Doctor–Patient dashboard for tracking signals, medications, and alerts</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23" name="Freeform 5">
            <a:extLst>
              <a:ext uri="{FF2B5EF4-FFF2-40B4-BE49-F238E27FC236}">
                <a16:creationId xmlns:a16="http://schemas.microsoft.com/office/drawing/2014/main" id="{B853DE5A-4F10-1E74-A5FB-148998A3C8FC}"/>
              </a:ext>
            </a:extLst>
          </p:cNvPr>
          <p:cNvSpPr/>
          <p:nvPr/>
        </p:nvSpPr>
        <p:spPr>
          <a:xfrm>
            <a:off x="12351953" y="785721"/>
            <a:ext cx="5402648" cy="4006545"/>
          </a:xfrm>
          <a:custGeom>
            <a:avLst/>
            <a:gdLst/>
            <a:ahLst/>
            <a:cxnLst/>
            <a:rect l="l" t="t" r="r" b="b"/>
            <a:pathLst>
              <a:path w="4494107" h="3922955">
                <a:moveTo>
                  <a:pt x="0" y="0"/>
                </a:moveTo>
                <a:lnTo>
                  <a:pt x="4494107" y="0"/>
                </a:lnTo>
                <a:lnTo>
                  <a:pt x="4494107" y="3922955"/>
                </a:lnTo>
                <a:lnTo>
                  <a:pt x="0" y="3922955"/>
                </a:lnTo>
                <a:lnTo>
                  <a:pt x="0" y="0"/>
                </a:lnTo>
                <a:close/>
              </a:path>
            </a:pathLst>
          </a:custGeom>
          <a:blipFill>
            <a:blip>
              <a:alphaModFix amt="92000"/>
              <a:extLst>
                <a:ext uri="{96DAC541-7B7A-43D3-8B79-37D633B846F1}">
                  <asvg:svgBlip xmlns:asvg="http://schemas.microsoft.com/office/drawing/2016/SVG/main" r:embed="rId3"/>
                </a:ext>
              </a:extLst>
            </a:blip>
            <a:stretch>
              <a:fillRect/>
            </a:stretch>
          </a:blipFill>
        </p:spPr>
        <p:txBody>
          <a:bodyPr/>
          <a:lstStyle/>
          <a:p>
            <a:endParaRPr lang="en-IN" dirty="0"/>
          </a:p>
          <a:p>
            <a:endParaRPr lang="en-IN" dirty="0"/>
          </a:p>
          <a:p>
            <a:endParaRPr lang="en-IN" dirty="0"/>
          </a:p>
          <a:p>
            <a:endParaRPr lang="en-IN" dirty="0"/>
          </a:p>
          <a:p>
            <a:endParaRPr lang="en-IN" b="1" dirty="0"/>
          </a:p>
          <a:p>
            <a:r>
              <a:rPr lang="en-IN" sz="2000" b="1" dirty="0">
                <a:solidFill>
                  <a:schemeClr val="bg1"/>
                </a:solidFill>
                <a:latin typeface="Times New Roman" panose="02020603050405020304" pitchFamily="18" charset="0"/>
                <a:cs typeface="Times New Roman" panose="02020603050405020304" pitchFamily="18" charset="0"/>
              </a:rPr>
              <a:t>Languages:</a:t>
            </a:r>
            <a:r>
              <a:rPr lang="en-IN" sz="2000" dirty="0">
                <a:solidFill>
                  <a:schemeClr val="bg1"/>
                </a:solidFill>
                <a:latin typeface="Times New Roman" panose="02020603050405020304" pitchFamily="18" charset="0"/>
                <a:cs typeface="Times New Roman" panose="02020603050405020304" pitchFamily="18" charset="0"/>
              </a:rPr>
              <a:t> Python (NumPy, Pandas, SciPy, Scikit-learn, TensorFlow/Keras)</a:t>
            </a:r>
          </a:p>
          <a:p>
            <a:r>
              <a:rPr lang="en-IN" sz="2000" b="1" dirty="0">
                <a:solidFill>
                  <a:schemeClr val="bg1"/>
                </a:solidFill>
                <a:latin typeface="Times New Roman" panose="02020603050405020304" pitchFamily="18" charset="0"/>
                <a:cs typeface="Times New Roman" panose="02020603050405020304" pitchFamily="18" charset="0"/>
              </a:rPr>
              <a:t>Algorithms:</a:t>
            </a:r>
            <a:r>
              <a:rPr lang="en-IN" sz="2000" dirty="0">
                <a:solidFill>
                  <a:schemeClr val="bg1"/>
                </a:solidFill>
                <a:latin typeface="Times New Roman" panose="02020603050405020304" pitchFamily="18" charset="0"/>
                <a:cs typeface="Times New Roman" panose="02020603050405020304" pitchFamily="18" charset="0"/>
              </a:rPr>
              <a:t> FFT, STFT, Wavelet Transform, Lyapunov Exponents, fine-tuning using statistical methods.</a:t>
            </a:r>
          </a:p>
          <a:p>
            <a:r>
              <a:rPr lang="en-US" sz="2000" b="1" dirty="0">
                <a:solidFill>
                  <a:schemeClr val="bg1"/>
                </a:solidFill>
                <a:latin typeface="Times New Roman" panose="02020603050405020304" pitchFamily="18" charset="0"/>
                <a:cs typeface="Times New Roman" panose="02020603050405020304" pitchFamily="18" charset="0"/>
              </a:rPr>
              <a:t>Models:</a:t>
            </a:r>
            <a:r>
              <a:rPr lang="en-US" sz="2000" dirty="0">
                <a:solidFill>
                  <a:schemeClr val="bg1"/>
                </a:solidFill>
                <a:latin typeface="Times New Roman" panose="02020603050405020304" pitchFamily="18" charset="0"/>
                <a:cs typeface="Times New Roman" panose="02020603050405020304" pitchFamily="18" charset="0"/>
              </a:rPr>
              <a:t> Ensemble ML Model Learning for seizure detection &amp; prediction</a:t>
            </a:r>
          </a:p>
          <a:p>
            <a:r>
              <a:rPr lang="en-IN" sz="2000" b="1" dirty="0">
                <a:solidFill>
                  <a:schemeClr val="bg1"/>
                </a:solidFill>
                <a:latin typeface="Times New Roman" panose="02020603050405020304" pitchFamily="18" charset="0"/>
                <a:cs typeface="Times New Roman" panose="02020603050405020304" pitchFamily="18" charset="0"/>
              </a:rPr>
              <a:t>Performance:</a:t>
            </a:r>
            <a:r>
              <a:rPr lang="en-IN" sz="2000" dirty="0">
                <a:solidFill>
                  <a:schemeClr val="bg1"/>
                </a:solidFill>
                <a:latin typeface="Times New Roman" panose="02020603050405020304" pitchFamily="18" charset="0"/>
                <a:cs typeface="Times New Roman" panose="02020603050405020304" pitchFamily="18" charset="0"/>
              </a:rPr>
              <a:t> 97%+ accuracy on real patient data. </a:t>
            </a:r>
          </a:p>
        </p:txBody>
      </p:sp>
      <p:sp>
        <p:nvSpPr>
          <p:cNvPr id="24" name="Freeform 6">
            <a:extLst>
              <a:ext uri="{FF2B5EF4-FFF2-40B4-BE49-F238E27FC236}">
                <a16:creationId xmlns:a16="http://schemas.microsoft.com/office/drawing/2014/main" id="{926F123C-CBA0-2D0B-68A4-24C9B2570051}"/>
              </a:ext>
            </a:extLst>
          </p:cNvPr>
          <p:cNvSpPr/>
          <p:nvPr/>
        </p:nvSpPr>
        <p:spPr>
          <a:xfrm>
            <a:off x="12303708" y="5201191"/>
            <a:ext cx="5402649" cy="3861437"/>
          </a:xfrm>
          <a:custGeom>
            <a:avLst/>
            <a:gdLst/>
            <a:ahLst/>
            <a:cxnLst/>
            <a:rect l="l" t="t" r="r" b="b"/>
            <a:pathLst>
              <a:path w="4494107" h="3922955">
                <a:moveTo>
                  <a:pt x="0" y="0"/>
                </a:moveTo>
                <a:lnTo>
                  <a:pt x="4494107" y="0"/>
                </a:lnTo>
                <a:lnTo>
                  <a:pt x="4494107" y="3922955"/>
                </a:lnTo>
                <a:lnTo>
                  <a:pt x="0" y="3922955"/>
                </a:lnTo>
                <a:lnTo>
                  <a:pt x="0" y="0"/>
                </a:lnTo>
                <a:close/>
              </a:path>
            </a:pathLst>
          </a:custGeom>
          <a:blipFill>
            <a:blip>
              <a:alphaModFix amt="92000"/>
              <a:extLst>
                <a:ext uri="{96DAC541-7B7A-43D3-8B79-37D633B846F1}">
                  <asvg:svgBlip xmlns:asvg="http://schemas.microsoft.com/office/drawing/2016/SVG/main" r:embed="rId3"/>
                </a:ext>
              </a:extLst>
            </a:blip>
            <a:stretch>
              <a:fillRect/>
            </a:stretch>
          </a:blipFill>
        </p:spPr>
        <p:txBody>
          <a:bodyPr/>
          <a:lstStyle/>
          <a:p>
            <a:endParaRPr lang="en-IN" dirty="0"/>
          </a:p>
          <a:p>
            <a:endParaRPr lang="en-IN" dirty="0"/>
          </a:p>
          <a:p>
            <a:endParaRPr lang="en-IN" dirty="0"/>
          </a:p>
          <a:p>
            <a:endParaRPr lang="en-IN" dirty="0"/>
          </a:p>
          <a:p>
            <a:pPr algn="just"/>
            <a:endParaRPr lang="en-IN" dirty="0"/>
          </a:p>
          <a:p>
            <a:pPr algn="just"/>
            <a:r>
              <a:rPr lang="en-US" sz="2000" b="1" dirty="0">
                <a:solidFill>
                  <a:schemeClr val="bg1"/>
                </a:solidFill>
                <a:latin typeface="Times New Roman" panose="02020603050405020304" pitchFamily="18" charset="0"/>
                <a:cs typeface="Times New Roman" panose="02020603050405020304" pitchFamily="18" charset="0"/>
              </a:rPr>
              <a:t>Frontend:</a:t>
            </a:r>
            <a:r>
              <a:rPr lang="en-US" sz="2000" dirty="0">
                <a:solidFill>
                  <a:schemeClr val="bg1"/>
                </a:solidFill>
                <a:latin typeface="Times New Roman" panose="02020603050405020304" pitchFamily="18" charset="0"/>
                <a:cs typeface="Times New Roman" panose="02020603050405020304" pitchFamily="18" charset="0"/>
              </a:rPr>
              <a:t> React.js / HTML5 / CSS3 (Responsive UI for portal)</a:t>
            </a:r>
          </a:p>
          <a:p>
            <a:pPr algn="just"/>
            <a:r>
              <a:rPr lang="en-IN" sz="2000" b="1" dirty="0">
                <a:solidFill>
                  <a:schemeClr val="bg1"/>
                </a:solidFill>
                <a:latin typeface="Times New Roman" panose="02020603050405020304" pitchFamily="18" charset="0"/>
                <a:cs typeface="Times New Roman" panose="02020603050405020304" pitchFamily="18" charset="0"/>
              </a:rPr>
              <a:t>Backend:</a:t>
            </a:r>
            <a:r>
              <a:rPr lang="en-IN" sz="2000" dirty="0">
                <a:solidFill>
                  <a:schemeClr val="bg1"/>
                </a:solidFill>
                <a:latin typeface="Times New Roman" panose="02020603050405020304" pitchFamily="18" charset="0"/>
                <a:cs typeface="Times New Roman" panose="02020603050405020304" pitchFamily="18" charset="0"/>
              </a:rPr>
              <a:t> Node.js / Flask API for data handling</a:t>
            </a:r>
          </a:p>
          <a:p>
            <a:pPr algn="just"/>
            <a:r>
              <a:rPr lang="en-US" sz="2000" b="1" dirty="0">
                <a:solidFill>
                  <a:schemeClr val="bg1"/>
                </a:solidFill>
                <a:latin typeface="Times New Roman" panose="02020603050405020304" pitchFamily="18" charset="0"/>
                <a:cs typeface="Times New Roman" panose="02020603050405020304" pitchFamily="18" charset="0"/>
              </a:rPr>
              <a:t>Database:</a:t>
            </a:r>
            <a:r>
              <a:rPr lang="en-US" sz="2000" dirty="0">
                <a:solidFill>
                  <a:schemeClr val="bg1"/>
                </a:solidFill>
                <a:latin typeface="Times New Roman" panose="02020603050405020304" pitchFamily="18" charset="0"/>
                <a:cs typeface="Times New Roman" panose="02020603050405020304" pitchFamily="18" charset="0"/>
              </a:rPr>
              <a:t> Firebase / MongoDB for patient and doctor records</a:t>
            </a:r>
          </a:p>
          <a:p>
            <a:pPr algn="just"/>
            <a:r>
              <a:rPr lang="en-US" sz="2000" b="1" dirty="0">
                <a:solidFill>
                  <a:schemeClr val="bg1"/>
                </a:solidFill>
                <a:latin typeface="Times New Roman" panose="02020603050405020304" pitchFamily="18" charset="0"/>
                <a:cs typeface="Times New Roman" panose="02020603050405020304" pitchFamily="18" charset="0"/>
              </a:rPr>
              <a:t>Cloud Hosting:</a:t>
            </a:r>
            <a:r>
              <a:rPr lang="en-US" sz="2000" dirty="0">
                <a:solidFill>
                  <a:schemeClr val="bg1"/>
                </a:solidFill>
                <a:latin typeface="Times New Roman" panose="02020603050405020304" pitchFamily="18" charset="0"/>
                <a:cs typeface="Times New Roman" panose="02020603050405020304" pitchFamily="18" charset="0"/>
              </a:rPr>
              <a:t> Azure / AWS for real-time EEG data streaming &amp; alert management</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25" name="Freeform 7">
            <a:extLst>
              <a:ext uri="{FF2B5EF4-FFF2-40B4-BE49-F238E27FC236}">
                <a16:creationId xmlns:a16="http://schemas.microsoft.com/office/drawing/2014/main" id="{D44F4590-01CA-4712-8604-7D0B6717E323}"/>
              </a:ext>
            </a:extLst>
          </p:cNvPr>
          <p:cNvSpPr/>
          <p:nvPr/>
        </p:nvSpPr>
        <p:spPr>
          <a:xfrm rot="-7900053">
            <a:off x="6110369" y="2475306"/>
            <a:ext cx="1066177" cy="478811"/>
          </a:xfrm>
          <a:custGeom>
            <a:avLst/>
            <a:gdLst/>
            <a:ahLst/>
            <a:cxnLst/>
            <a:rect l="l" t="t" r="r" b="b"/>
            <a:pathLst>
              <a:path w="1066177" h="478811">
                <a:moveTo>
                  <a:pt x="0" y="0"/>
                </a:moveTo>
                <a:lnTo>
                  <a:pt x="1066177" y="0"/>
                </a:lnTo>
                <a:lnTo>
                  <a:pt x="1066177" y="478811"/>
                </a:lnTo>
                <a:lnTo>
                  <a:pt x="0" y="478811"/>
                </a:lnTo>
                <a:lnTo>
                  <a:pt x="0" y="0"/>
                </a:lnTo>
                <a:close/>
              </a:path>
            </a:pathLst>
          </a:custGeom>
          <a:blipFill>
            <a:blip>
              <a:extLst>
                <a:ext uri="{96DAC541-7B7A-43D3-8B79-37D633B846F1}">
                  <asvg:svgBlip xmlns:asvg="http://schemas.microsoft.com/office/drawing/2016/SVG/main" r:embed="rId4"/>
                </a:ext>
              </a:extLst>
            </a:blip>
            <a:stretch>
              <a:fillRect t="-697" b="-697"/>
            </a:stretch>
          </a:blipFill>
        </p:spPr>
        <p:txBody>
          <a:bodyPr/>
          <a:lstStyle/>
          <a:p>
            <a:endParaRPr lang="en-IN"/>
          </a:p>
        </p:txBody>
      </p:sp>
      <p:sp>
        <p:nvSpPr>
          <p:cNvPr id="26" name="Freeform 8">
            <a:extLst>
              <a:ext uri="{FF2B5EF4-FFF2-40B4-BE49-F238E27FC236}">
                <a16:creationId xmlns:a16="http://schemas.microsoft.com/office/drawing/2014/main" id="{CF5F758C-8A80-0886-982E-01C56C11F060}"/>
              </a:ext>
            </a:extLst>
          </p:cNvPr>
          <p:cNvSpPr/>
          <p:nvPr/>
        </p:nvSpPr>
        <p:spPr>
          <a:xfrm rot="-2700000">
            <a:off x="11124451" y="2486454"/>
            <a:ext cx="1066177" cy="478811"/>
          </a:xfrm>
          <a:custGeom>
            <a:avLst/>
            <a:gdLst/>
            <a:ahLst/>
            <a:cxnLst/>
            <a:rect l="l" t="t" r="r" b="b"/>
            <a:pathLst>
              <a:path w="1066177" h="478811">
                <a:moveTo>
                  <a:pt x="0" y="0"/>
                </a:moveTo>
                <a:lnTo>
                  <a:pt x="1066177" y="0"/>
                </a:lnTo>
                <a:lnTo>
                  <a:pt x="1066177" y="478811"/>
                </a:lnTo>
                <a:lnTo>
                  <a:pt x="0" y="478811"/>
                </a:lnTo>
                <a:lnTo>
                  <a:pt x="0" y="0"/>
                </a:lnTo>
                <a:close/>
              </a:path>
            </a:pathLst>
          </a:custGeom>
          <a:blipFill>
            <a:blip>
              <a:extLst>
                <a:ext uri="{96DAC541-7B7A-43D3-8B79-37D633B846F1}">
                  <asvg:svgBlip xmlns:asvg="http://schemas.microsoft.com/office/drawing/2016/SVG/main" r:embed="rId4"/>
                </a:ext>
              </a:extLst>
            </a:blip>
            <a:stretch>
              <a:fillRect t="-697" b="-697"/>
            </a:stretch>
          </a:blipFill>
        </p:spPr>
        <p:txBody>
          <a:bodyPr/>
          <a:lstStyle/>
          <a:p>
            <a:endParaRPr lang="en-IN"/>
          </a:p>
        </p:txBody>
      </p:sp>
      <p:sp>
        <p:nvSpPr>
          <p:cNvPr id="27" name="Freeform 9">
            <a:extLst>
              <a:ext uri="{FF2B5EF4-FFF2-40B4-BE49-F238E27FC236}">
                <a16:creationId xmlns:a16="http://schemas.microsoft.com/office/drawing/2014/main" id="{DB88CEA1-C3F8-EA68-CDB4-D544672AC170}"/>
              </a:ext>
            </a:extLst>
          </p:cNvPr>
          <p:cNvSpPr/>
          <p:nvPr/>
        </p:nvSpPr>
        <p:spPr>
          <a:xfrm rot="3195820">
            <a:off x="10781712" y="6274889"/>
            <a:ext cx="1038477" cy="667944"/>
          </a:xfrm>
          <a:custGeom>
            <a:avLst/>
            <a:gdLst/>
            <a:ahLst/>
            <a:cxnLst/>
            <a:rect l="l" t="t" r="r" b="b"/>
            <a:pathLst>
              <a:path w="1066177" h="478811">
                <a:moveTo>
                  <a:pt x="0" y="0"/>
                </a:moveTo>
                <a:lnTo>
                  <a:pt x="1066177" y="0"/>
                </a:lnTo>
                <a:lnTo>
                  <a:pt x="1066177" y="478811"/>
                </a:lnTo>
                <a:lnTo>
                  <a:pt x="0" y="478811"/>
                </a:lnTo>
                <a:lnTo>
                  <a:pt x="0" y="0"/>
                </a:lnTo>
                <a:close/>
              </a:path>
            </a:pathLst>
          </a:custGeom>
          <a:blipFill>
            <a:blip>
              <a:extLst>
                <a:ext uri="{96DAC541-7B7A-43D3-8B79-37D633B846F1}">
                  <asvg:svgBlip xmlns:asvg="http://schemas.microsoft.com/office/drawing/2016/SVG/main" r:embed="rId4"/>
                </a:ext>
              </a:extLst>
            </a:blip>
            <a:stretch>
              <a:fillRect t="-697" b="-697"/>
            </a:stretch>
          </a:blipFill>
        </p:spPr>
        <p:txBody>
          <a:bodyPr/>
          <a:lstStyle/>
          <a:p>
            <a:endParaRPr lang="en-IN"/>
          </a:p>
        </p:txBody>
      </p:sp>
      <p:sp>
        <p:nvSpPr>
          <p:cNvPr id="28" name="Freeform 10">
            <a:extLst>
              <a:ext uri="{FF2B5EF4-FFF2-40B4-BE49-F238E27FC236}">
                <a16:creationId xmlns:a16="http://schemas.microsoft.com/office/drawing/2014/main" id="{CA1B6008-D2D0-8FB3-468D-DAD4CA696585}"/>
              </a:ext>
            </a:extLst>
          </p:cNvPr>
          <p:cNvSpPr/>
          <p:nvPr/>
        </p:nvSpPr>
        <p:spPr>
          <a:xfrm rot="7866361">
            <a:off x="6373278" y="6551753"/>
            <a:ext cx="1066177" cy="478811"/>
          </a:xfrm>
          <a:custGeom>
            <a:avLst/>
            <a:gdLst/>
            <a:ahLst/>
            <a:cxnLst/>
            <a:rect l="l" t="t" r="r" b="b"/>
            <a:pathLst>
              <a:path w="1066177" h="478811">
                <a:moveTo>
                  <a:pt x="0" y="0"/>
                </a:moveTo>
                <a:lnTo>
                  <a:pt x="1066177" y="0"/>
                </a:lnTo>
                <a:lnTo>
                  <a:pt x="1066177" y="478811"/>
                </a:lnTo>
                <a:lnTo>
                  <a:pt x="0" y="478811"/>
                </a:lnTo>
                <a:lnTo>
                  <a:pt x="0" y="0"/>
                </a:lnTo>
                <a:close/>
              </a:path>
            </a:pathLst>
          </a:custGeom>
          <a:blipFill>
            <a:blip>
              <a:extLst>
                <a:ext uri="{96DAC541-7B7A-43D3-8B79-37D633B846F1}">
                  <asvg:svgBlip xmlns:asvg="http://schemas.microsoft.com/office/drawing/2016/SVG/main" r:embed="rId4"/>
                </a:ext>
              </a:extLst>
            </a:blip>
            <a:stretch>
              <a:fillRect t="-697" b="-697"/>
            </a:stretch>
          </a:blipFill>
        </p:spPr>
        <p:txBody>
          <a:bodyPr/>
          <a:lstStyle/>
          <a:p>
            <a:endParaRPr lang="en-IN"/>
          </a:p>
        </p:txBody>
      </p:sp>
      <p:sp>
        <p:nvSpPr>
          <p:cNvPr id="29" name="TextBox 11">
            <a:extLst>
              <a:ext uri="{FF2B5EF4-FFF2-40B4-BE49-F238E27FC236}">
                <a16:creationId xmlns:a16="http://schemas.microsoft.com/office/drawing/2014/main" id="{DDC3D9D6-71D7-A692-26E2-5EB10055C87F}"/>
              </a:ext>
            </a:extLst>
          </p:cNvPr>
          <p:cNvSpPr txBox="1"/>
          <p:nvPr/>
        </p:nvSpPr>
        <p:spPr>
          <a:xfrm>
            <a:off x="6408832" y="4662677"/>
            <a:ext cx="5470336" cy="918256"/>
          </a:xfrm>
          <a:prstGeom prst="rect">
            <a:avLst/>
          </a:prstGeom>
        </p:spPr>
        <p:txBody>
          <a:bodyPr lIns="0" tIns="0" rIns="0" bIns="0" rtlCol="0" anchor="t">
            <a:spAutoFit/>
          </a:bodyPr>
          <a:lstStyle/>
          <a:p>
            <a:pPr algn="ctr">
              <a:lnSpc>
                <a:spcPts val="6719"/>
              </a:lnSpc>
            </a:pPr>
            <a:r>
              <a:rPr lang="en-US" sz="6999" spc="-573">
                <a:solidFill>
                  <a:srgbClr val="0B4357"/>
                </a:solidFill>
                <a:latin typeface="Public Sans"/>
                <a:ea typeface="Public Sans"/>
                <a:cs typeface="Public Sans"/>
                <a:sym typeface="Public Sans"/>
              </a:rPr>
              <a:t>TECH STACK</a:t>
            </a:r>
          </a:p>
        </p:txBody>
      </p:sp>
      <p:sp>
        <p:nvSpPr>
          <p:cNvPr id="30" name="TextBox 12">
            <a:extLst>
              <a:ext uri="{FF2B5EF4-FFF2-40B4-BE49-F238E27FC236}">
                <a16:creationId xmlns:a16="http://schemas.microsoft.com/office/drawing/2014/main" id="{3C6FDE43-ED4C-88D7-3523-A27848F81464}"/>
              </a:ext>
            </a:extLst>
          </p:cNvPr>
          <p:cNvSpPr txBox="1"/>
          <p:nvPr/>
        </p:nvSpPr>
        <p:spPr>
          <a:xfrm>
            <a:off x="0" y="981782"/>
            <a:ext cx="1606516" cy="737766"/>
          </a:xfrm>
          <a:prstGeom prst="rect">
            <a:avLst/>
          </a:prstGeom>
        </p:spPr>
        <p:txBody>
          <a:bodyPr wrap="square" lIns="0" tIns="0" rIns="0" bIns="0" rtlCol="0" anchor="t">
            <a:spAutoFit/>
          </a:bodyPr>
          <a:lstStyle/>
          <a:p>
            <a:pPr algn="ctr">
              <a:lnSpc>
                <a:spcPts val="6240"/>
              </a:lnSpc>
            </a:pPr>
            <a:r>
              <a:rPr lang="en-US" sz="4800" spc="-533" dirty="0">
                <a:solidFill>
                  <a:srgbClr val="F1F0EC"/>
                </a:solidFill>
                <a:latin typeface="Public Sans"/>
                <a:ea typeface="Public Sans"/>
                <a:cs typeface="Public Sans"/>
                <a:sym typeface="Public Sans"/>
              </a:rPr>
              <a:t>01.</a:t>
            </a:r>
          </a:p>
        </p:txBody>
      </p:sp>
      <p:sp>
        <p:nvSpPr>
          <p:cNvPr id="31" name="TextBox 13">
            <a:extLst>
              <a:ext uri="{FF2B5EF4-FFF2-40B4-BE49-F238E27FC236}">
                <a16:creationId xmlns:a16="http://schemas.microsoft.com/office/drawing/2014/main" id="{D61FBFF1-1C28-D818-564B-D85A416E8D1D}"/>
              </a:ext>
            </a:extLst>
          </p:cNvPr>
          <p:cNvSpPr txBox="1"/>
          <p:nvPr/>
        </p:nvSpPr>
        <p:spPr>
          <a:xfrm>
            <a:off x="12623135" y="1072011"/>
            <a:ext cx="992710" cy="737766"/>
          </a:xfrm>
          <a:prstGeom prst="rect">
            <a:avLst/>
          </a:prstGeom>
        </p:spPr>
        <p:txBody>
          <a:bodyPr wrap="square" lIns="0" tIns="0" rIns="0" bIns="0" rtlCol="0" anchor="t">
            <a:spAutoFit/>
          </a:bodyPr>
          <a:lstStyle/>
          <a:p>
            <a:pPr algn="ctr">
              <a:lnSpc>
                <a:spcPts val="6240"/>
              </a:lnSpc>
            </a:pPr>
            <a:r>
              <a:rPr lang="en-US" sz="4800" spc="-533" dirty="0">
                <a:solidFill>
                  <a:srgbClr val="F1F0EC"/>
                </a:solidFill>
                <a:latin typeface="Public Sans"/>
                <a:ea typeface="Public Sans"/>
                <a:cs typeface="Public Sans"/>
                <a:sym typeface="Public Sans"/>
              </a:rPr>
              <a:t>02.</a:t>
            </a:r>
          </a:p>
        </p:txBody>
      </p:sp>
      <p:sp>
        <p:nvSpPr>
          <p:cNvPr id="32" name="TextBox 14">
            <a:extLst>
              <a:ext uri="{FF2B5EF4-FFF2-40B4-BE49-F238E27FC236}">
                <a16:creationId xmlns:a16="http://schemas.microsoft.com/office/drawing/2014/main" id="{118F23E7-F163-8D0B-A67D-E83411BDA607}"/>
              </a:ext>
            </a:extLst>
          </p:cNvPr>
          <p:cNvSpPr txBox="1"/>
          <p:nvPr/>
        </p:nvSpPr>
        <p:spPr>
          <a:xfrm>
            <a:off x="319630" y="5443668"/>
            <a:ext cx="1070629" cy="795089"/>
          </a:xfrm>
          <a:prstGeom prst="rect">
            <a:avLst/>
          </a:prstGeom>
        </p:spPr>
        <p:txBody>
          <a:bodyPr wrap="square" lIns="0" tIns="0" rIns="0" bIns="0" rtlCol="0" anchor="t">
            <a:spAutoFit/>
          </a:bodyPr>
          <a:lstStyle/>
          <a:p>
            <a:pPr algn="ctr">
              <a:lnSpc>
                <a:spcPts val="6240"/>
              </a:lnSpc>
            </a:pPr>
            <a:r>
              <a:rPr lang="en-US" sz="4800" spc="-533" dirty="0">
                <a:solidFill>
                  <a:srgbClr val="F1F0EC"/>
                </a:solidFill>
                <a:latin typeface="Public Sans"/>
                <a:ea typeface="Public Sans"/>
                <a:cs typeface="Public Sans"/>
                <a:sym typeface="Public Sans"/>
              </a:rPr>
              <a:t>03</a:t>
            </a:r>
            <a:r>
              <a:rPr lang="en-US" sz="6500" spc="-533" dirty="0">
                <a:solidFill>
                  <a:srgbClr val="F1F0EC"/>
                </a:solidFill>
                <a:latin typeface="Public Sans"/>
                <a:ea typeface="Public Sans"/>
                <a:cs typeface="Public Sans"/>
                <a:sym typeface="Public Sans"/>
              </a:rPr>
              <a:t>.</a:t>
            </a:r>
          </a:p>
        </p:txBody>
      </p:sp>
      <p:sp>
        <p:nvSpPr>
          <p:cNvPr id="33" name="TextBox 15">
            <a:extLst>
              <a:ext uri="{FF2B5EF4-FFF2-40B4-BE49-F238E27FC236}">
                <a16:creationId xmlns:a16="http://schemas.microsoft.com/office/drawing/2014/main" id="{B2DBEA60-4C12-DE50-F90C-9E04B2C7E2CC}"/>
              </a:ext>
            </a:extLst>
          </p:cNvPr>
          <p:cNvSpPr txBox="1"/>
          <p:nvPr/>
        </p:nvSpPr>
        <p:spPr>
          <a:xfrm>
            <a:off x="12578164" y="5472330"/>
            <a:ext cx="996641" cy="737766"/>
          </a:xfrm>
          <a:prstGeom prst="rect">
            <a:avLst/>
          </a:prstGeom>
        </p:spPr>
        <p:txBody>
          <a:bodyPr wrap="square" lIns="0" tIns="0" rIns="0" bIns="0" rtlCol="0" anchor="t">
            <a:spAutoFit/>
          </a:bodyPr>
          <a:lstStyle/>
          <a:p>
            <a:pPr algn="ctr">
              <a:lnSpc>
                <a:spcPts val="6240"/>
              </a:lnSpc>
            </a:pPr>
            <a:r>
              <a:rPr lang="en-US" sz="4800" spc="-533" dirty="0">
                <a:solidFill>
                  <a:srgbClr val="F1F0EC"/>
                </a:solidFill>
                <a:latin typeface="Public Sans"/>
                <a:ea typeface="Public Sans"/>
                <a:cs typeface="Public Sans"/>
                <a:sym typeface="Public Sans"/>
              </a:rPr>
              <a:t>04.</a:t>
            </a:r>
          </a:p>
        </p:txBody>
      </p:sp>
      <p:sp>
        <p:nvSpPr>
          <p:cNvPr id="34" name="TextBox 33">
            <a:extLst>
              <a:ext uri="{FF2B5EF4-FFF2-40B4-BE49-F238E27FC236}">
                <a16:creationId xmlns:a16="http://schemas.microsoft.com/office/drawing/2014/main" id="{E83A8E36-A1F7-629D-9292-AC07AD953EE3}"/>
              </a:ext>
            </a:extLst>
          </p:cNvPr>
          <p:cNvSpPr txBox="1"/>
          <p:nvPr/>
        </p:nvSpPr>
        <p:spPr>
          <a:xfrm>
            <a:off x="1091690" y="1067249"/>
            <a:ext cx="4910044" cy="830997"/>
          </a:xfrm>
          <a:prstGeom prst="rect">
            <a:avLst/>
          </a:prstGeom>
          <a:noFill/>
        </p:spPr>
        <p:txBody>
          <a:bodyPr wrap="square" rtlCol="0">
            <a:spAutoFit/>
          </a:bodyPr>
          <a:lstStyle/>
          <a:p>
            <a:r>
              <a:rPr lang="en-IN" sz="2800" b="1" i="1" dirty="0">
                <a:solidFill>
                  <a:schemeClr val="bg1"/>
                </a:solidFill>
                <a:latin typeface="Times New Roman" panose="02020603050405020304" pitchFamily="18" charset="0"/>
                <a:cs typeface="Times New Roman" panose="02020603050405020304" pitchFamily="18" charset="0"/>
              </a:rPr>
              <a:t>Hardware &amp; Signal Acquisition</a:t>
            </a:r>
          </a:p>
          <a:p>
            <a:endParaRPr lang="en-IN" sz="2000" dirty="0"/>
          </a:p>
        </p:txBody>
      </p:sp>
      <p:sp>
        <p:nvSpPr>
          <p:cNvPr id="35" name="TextBox 34">
            <a:extLst>
              <a:ext uri="{FF2B5EF4-FFF2-40B4-BE49-F238E27FC236}">
                <a16:creationId xmlns:a16="http://schemas.microsoft.com/office/drawing/2014/main" id="{BBAFDFD4-30DE-7F20-A2ED-AD80FBED037E}"/>
              </a:ext>
            </a:extLst>
          </p:cNvPr>
          <p:cNvSpPr txBox="1"/>
          <p:nvPr/>
        </p:nvSpPr>
        <p:spPr>
          <a:xfrm>
            <a:off x="1307470" y="5534791"/>
            <a:ext cx="4949258" cy="523220"/>
          </a:xfrm>
          <a:prstGeom prst="rect">
            <a:avLst/>
          </a:prstGeom>
          <a:noFill/>
        </p:spPr>
        <p:txBody>
          <a:bodyPr wrap="square" rtlCol="0">
            <a:spAutoFit/>
          </a:bodyPr>
          <a:lstStyle/>
          <a:p>
            <a:r>
              <a:rPr lang="en-IN" sz="2800" b="1" i="1" dirty="0">
                <a:solidFill>
                  <a:schemeClr val="bg1"/>
                </a:solidFill>
                <a:latin typeface="Times New Roman" panose="02020603050405020304" pitchFamily="18" charset="0"/>
                <a:cs typeface="Times New Roman" panose="02020603050405020304" pitchFamily="18" charset="0"/>
              </a:rPr>
              <a:t>Visualization &amp; Dashboard</a:t>
            </a:r>
            <a:endParaRPr lang="en-IN" sz="2000" b="1" i="1" dirty="0">
              <a:solidFill>
                <a:schemeClr val="bg1"/>
              </a:solidFill>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7EEAC354-CE0E-4ACF-0D03-2FB274D74BF7}"/>
              </a:ext>
            </a:extLst>
          </p:cNvPr>
          <p:cNvSpPr txBox="1"/>
          <p:nvPr/>
        </p:nvSpPr>
        <p:spPr>
          <a:xfrm>
            <a:off x="13574805" y="1063917"/>
            <a:ext cx="4027395" cy="954107"/>
          </a:xfrm>
          <a:prstGeom prst="rect">
            <a:avLst/>
          </a:prstGeom>
          <a:noFill/>
        </p:spPr>
        <p:txBody>
          <a:bodyPr wrap="square" rtlCol="0">
            <a:spAutoFit/>
          </a:bodyPr>
          <a:lstStyle/>
          <a:p>
            <a:r>
              <a:rPr lang="en-IN" sz="2800" b="1" i="1" dirty="0">
                <a:solidFill>
                  <a:schemeClr val="bg1"/>
                </a:solidFill>
                <a:latin typeface="Times New Roman" panose="02020603050405020304" pitchFamily="18" charset="0"/>
                <a:cs typeface="Times New Roman" panose="02020603050405020304" pitchFamily="18" charset="0"/>
              </a:rPr>
              <a:t>Machine Learning &amp; Signal Processing</a:t>
            </a:r>
            <a:endParaRPr lang="en-IN" sz="2000" b="1" i="1" dirty="0">
              <a:solidFill>
                <a:schemeClr val="bg1"/>
              </a:solidFill>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4EBF6B8F-695E-3039-7E90-570E50A98F9C}"/>
              </a:ext>
            </a:extLst>
          </p:cNvPr>
          <p:cNvSpPr txBox="1"/>
          <p:nvPr/>
        </p:nvSpPr>
        <p:spPr>
          <a:xfrm>
            <a:off x="13601557" y="5465866"/>
            <a:ext cx="4027395" cy="954107"/>
          </a:xfrm>
          <a:prstGeom prst="rect">
            <a:avLst/>
          </a:prstGeom>
          <a:noFill/>
        </p:spPr>
        <p:txBody>
          <a:bodyPr wrap="square" rtlCol="0">
            <a:spAutoFit/>
          </a:bodyPr>
          <a:lstStyle/>
          <a:p>
            <a:r>
              <a:rPr lang="en-IN" sz="2800" b="1" i="1" dirty="0">
                <a:solidFill>
                  <a:schemeClr val="bg1"/>
                </a:solidFill>
                <a:latin typeface="Times New Roman" panose="02020603050405020304" pitchFamily="18" charset="0"/>
                <a:cs typeface="Times New Roman" panose="02020603050405020304" pitchFamily="18" charset="0"/>
              </a:rPr>
              <a:t>Web Infrastructure, App &amp; Cloud Integration</a:t>
            </a:r>
            <a:endParaRPr lang="en-IN" sz="2000" b="1" i="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443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4">
            <a:extLst>
              <a:ext uri="{FF2B5EF4-FFF2-40B4-BE49-F238E27FC236}">
                <a16:creationId xmlns:a16="http://schemas.microsoft.com/office/drawing/2014/main" id="{FC7878EA-96AA-7410-E28A-72BBAE2D5A20}"/>
              </a:ext>
            </a:extLst>
          </p:cNvPr>
          <p:cNvSpPr/>
          <p:nvPr/>
        </p:nvSpPr>
        <p:spPr>
          <a:xfrm>
            <a:off x="152400" y="1714500"/>
            <a:ext cx="17983200" cy="8382000"/>
          </a:xfrm>
          <a:custGeom>
            <a:avLst/>
            <a:gdLst/>
            <a:ahLst/>
            <a:cxnLst/>
            <a:rect l="l" t="t" r="r" b="b"/>
            <a:pathLst>
              <a:path w="14395608" h="7583153">
                <a:moveTo>
                  <a:pt x="0" y="0"/>
                </a:moveTo>
                <a:lnTo>
                  <a:pt x="14395608" y="0"/>
                </a:lnTo>
                <a:lnTo>
                  <a:pt x="14395608" y="7583153"/>
                </a:lnTo>
                <a:lnTo>
                  <a:pt x="0" y="7583153"/>
                </a:lnTo>
                <a:lnTo>
                  <a:pt x="0" y="0"/>
                </a:lnTo>
                <a:close/>
              </a:path>
            </a:pathLst>
          </a:custGeom>
          <a:blipFill>
            <a:blip>
              <a:alphaModFix amt="95000"/>
              <a:extLst>
                <a:ext uri="{96DAC541-7B7A-43D3-8B79-37D633B846F1}">
                  <asvg:svgBlip xmlns:asvg="http://schemas.microsoft.com/office/drawing/2016/SVG/main" r:embed="rId2"/>
                </a:ext>
              </a:extLst>
            </a:blip>
            <a:stretch>
              <a:fillRect/>
            </a:stretch>
          </a:blipFill>
        </p:spPr>
        <p:txBody>
          <a:bodyPr/>
          <a:lstStyle/>
          <a:p>
            <a:endParaRPr lang="en-IN"/>
          </a:p>
          <a:p>
            <a:endParaRPr lang="en-IN"/>
          </a:p>
          <a:p>
            <a:endParaRPr lang="en-IN"/>
          </a:p>
          <a:p>
            <a:endParaRPr lang="en-IN" dirty="0"/>
          </a:p>
        </p:txBody>
      </p:sp>
      <p:pic>
        <p:nvPicPr>
          <p:cNvPr id="3" name="Picture 2">
            <a:extLst>
              <a:ext uri="{FF2B5EF4-FFF2-40B4-BE49-F238E27FC236}">
                <a16:creationId xmlns:a16="http://schemas.microsoft.com/office/drawing/2014/main" id="{042F80A8-32FA-7966-1B62-F60F930F83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324101"/>
            <a:ext cx="12920132" cy="74676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 name="Picture 4">
            <a:extLst>
              <a:ext uri="{FF2B5EF4-FFF2-40B4-BE49-F238E27FC236}">
                <a16:creationId xmlns:a16="http://schemas.microsoft.com/office/drawing/2014/main" id="{651D151E-F21A-C711-C5D2-256BA71C1E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75266" y="3314700"/>
            <a:ext cx="3810000" cy="6111278"/>
          </a:xfrm>
          <a:prstGeom prst="rect">
            <a:avLst/>
          </a:prstGeom>
          <a:ln w="228600" cap="sq" cmpd="thickThin">
            <a:solidFill>
              <a:srgbClr val="000000"/>
            </a:solidFill>
            <a:prstDash val="solid"/>
            <a:miter lim="800000"/>
          </a:ln>
          <a:effectLst>
            <a:innerShdw blurRad="76200">
              <a:srgbClr val="000000"/>
            </a:innerShdw>
          </a:effectLst>
        </p:spPr>
      </p:pic>
      <p:sp>
        <p:nvSpPr>
          <p:cNvPr id="7" name="TextBox 3">
            <a:extLst>
              <a:ext uri="{FF2B5EF4-FFF2-40B4-BE49-F238E27FC236}">
                <a16:creationId xmlns:a16="http://schemas.microsoft.com/office/drawing/2014/main" id="{7772FAB7-8354-5288-F547-C42B444D30A9}"/>
              </a:ext>
            </a:extLst>
          </p:cNvPr>
          <p:cNvSpPr txBox="1"/>
          <p:nvPr/>
        </p:nvSpPr>
        <p:spPr>
          <a:xfrm>
            <a:off x="609600" y="495300"/>
            <a:ext cx="16764000" cy="983154"/>
          </a:xfrm>
          <a:prstGeom prst="rect">
            <a:avLst/>
          </a:prstGeom>
        </p:spPr>
        <p:txBody>
          <a:bodyPr wrap="square" lIns="0" tIns="0" rIns="0" bIns="0" rtlCol="0" anchor="t">
            <a:spAutoFit/>
          </a:bodyPr>
          <a:lstStyle/>
          <a:p>
            <a:pPr algn="ctr">
              <a:lnSpc>
                <a:spcPts val="8158"/>
              </a:lnSpc>
            </a:pPr>
            <a:r>
              <a:rPr lang="en-US" sz="6600" spc="-696" dirty="0">
                <a:solidFill>
                  <a:srgbClr val="0B4357"/>
                </a:solidFill>
                <a:latin typeface="Public Sans"/>
                <a:ea typeface="Public Sans"/>
                <a:cs typeface="Public Sans"/>
                <a:sym typeface="Public Sans"/>
              </a:rPr>
              <a:t>Runner Up  at National Level Ideathon  &amp; Pitchfest</a:t>
            </a:r>
          </a:p>
        </p:txBody>
      </p:sp>
    </p:spTree>
    <p:extLst>
      <p:ext uri="{BB962C8B-B14F-4D97-AF65-F5344CB8AC3E}">
        <p14:creationId xmlns:p14="http://schemas.microsoft.com/office/powerpoint/2010/main" val="3233758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100" y="2667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6271" t="-34656" b="-1614"/>
            </a:stretch>
          </a:blipFill>
        </p:spPr>
        <p:txBody>
          <a:bodyPr/>
          <a:lstStyle/>
          <a:p>
            <a:endParaRPr lang="en-IN"/>
          </a:p>
        </p:txBody>
      </p:sp>
      <p:sp>
        <p:nvSpPr>
          <p:cNvPr id="3" name="Freeform 3"/>
          <p:cNvSpPr/>
          <p:nvPr/>
        </p:nvSpPr>
        <p:spPr>
          <a:xfrm>
            <a:off x="0" y="6891516"/>
            <a:ext cx="18288000" cy="3395484"/>
          </a:xfrm>
          <a:custGeom>
            <a:avLst/>
            <a:gdLst/>
            <a:ahLst/>
            <a:cxnLst/>
            <a:rect l="l" t="t" r="r" b="b"/>
            <a:pathLst>
              <a:path w="18288000" h="3395484">
                <a:moveTo>
                  <a:pt x="0" y="0"/>
                </a:moveTo>
                <a:lnTo>
                  <a:pt x="18288000" y="0"/>
                </a:lnTo>
                <a:lnTo>
                  <a:pt x="18288000" y="3395484"/>
                </a:lnTo>
                <a:lnTo>
                  <a:pt x="0" y="3395484"/>
                </a:lnTo>
                <a:lnTo>
                  <a:pt x="0" y="0"/>
                </a:lnTo>
                <a:close/>
              </a:path>
            </a:pathLst>
          </a:custGeom>
          <a:blipFill>
            <a:blip r:embed="rId3">
              <a:alphaModFix amt="56000"/>
            </a:blip>
            <a:stretch>
              <a:fillRect t="-167794" b="-89834"/>
            </a:stretch>
          </a:blipFill>
        </p:spPr>
        <p:txBody>
          <a:bodyPr/>
          <a:lstStyle/>
          <a:p>
            <a:endParaRPr lang="en-IN"/>
          </a:p>
        </p:txBody>
      </p:sp>
      <p:sp>
        <p:nvSpPr>
          <p:cNvPr id="4" name="Freeform 4"/>
          <p:cNvSpPr/>
          <p:nvPr/>
        </p:nvSpPr>
        <p:spPr>
          <a:xfrm>
            <a:off x="-52388" y="6743700"/>
            <a:ext cx="18364200" cy="4401899"/>
          </a:xfrm>
          <a:custGeom>
            <a:avLst/>
            <a:gdLst/>
            <a:ahLst/>
            <a:cxnLst/>
            <a:rect l="l" t="t" r="r" b="b"/>
            <a:pathLst>
              <a:path w="21755848" h="4254083">
                <a:moveTo>
                  <a:pt x="0" y="0"/>
                </a:moveTo>
                <a:lnTo>
                  <a:pt x="21755848" y="0"/>
                </a:lnTo>
                <a:lnTo>
                  <a:pt x="21755848" y="4254083"/>
                </a:lnTo>
                <a:lnTo>
                  <a:pt x="0" y="4254083"/>
                </a:lnTo>
                <a:lnTo>
                  <a:pt x="0" y="0"/>
                </a:lnTo>
                <a:close/>
              </a:path>
            </a:pathLst>
          </a:custGeom>
          <a:blipFill>
            <a:blip>
              <a:alphaModFix amt="90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TextBox 7"/>
          <p:cNvSpPr txBox="1"/>
          <p:nvPr/>
        </p:nvSpPr>
        <p:spPr>
          <a:xfrm>
            <a:off x="990600" y="3390900"/>
            <a:ext cx="15735850" cy="1118896"/>
          </a:xfrm>
          <a:prstGeom prst="rect">
            <a:avLst/>
          </a:prstGeom>
        </p:spPr>
        <p:txBody>
          <a:bodyPr wrap="square" lIns="0" tIns="0" rIns="0" bIns="0" rtlCol="0" anchor="t">
            <a:spAutoFit/>
          </a:bodyPr>
          <a:lstStyle/>
          <a:p>
            <a:pPr algn="ctr">
              <a:lnSpc>
                <a:spcPts val="8613"/>
              </a:lnSpc>
            </a:pPr>
            <a:r>
              <a:rPr lang="en-US" sz="9900" dirty="0">
                <a:solidFill>
                  <a:srgbClr val="0B4357"/>
                </a:solidFill>
                <a:latin typeface="Public Sans"/>
                <a:ea typeface="Public Sans"/>
                <a:cs typeface="Public Sans"/>
                <a:sym typeface="Public Sans"/>
              </a:rPr>
              <a:t>THANK YOU 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1892</TotalTime>
  <Words>2135</Words>
  <Application>Microsoft Office PowerPoint</Application>
  <PresentationFormat>Custom</PresentationFormat>
  <Paragraphs>203</Paragraphs>
  <Slides>15</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Times New Roman</vt:lpstr>
      <vt:lpstr>Calibri</vt:lpstr>
      <vt:lpstr>Public Sans</vt:lpstr>
      <vt:lpstr>Bitter</vt:lpstr>
      <vt:lpstr>Calibri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RMC final template 2025.pptx</dc:title>
  <dc:creator>Pranit Gore</dc:creator>
  <cp:lastModifiedBy>Pranit Gore</cp:lastModifiedBy>
  <cp:revision>20</cp:revision>
  <dcterms:created xsi:type="dcterms:W3CDTF">2006-08-16T00:00:00Z</dcterms:created>
  <dcterms:modified xsi:type="dcterms:W3CDTF">2026-03-31T05:44:45Z</dcterms:modified>
  <dc:identifier>DAG2sThId9A</dc:identifier>
</cp:coreProperties>
</file>