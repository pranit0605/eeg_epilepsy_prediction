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69" r:id="rId9"/>
    <p:sldId id="261" r:id="rId10"/>
    <p:sldId id="262" r:id="rId11"/>
    <p:sldId id="263" r:id="rId12"/>
    <p:sldId id="264" r:id="rId13"/>
    <p:sldId id="265" r:id="rId14"/>
    <p:sldId id="266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232C5-E416-4A63-AD2E-5015F4CCE6E2}" type="datetimeFigureOut">
              <a:rPr lang="en-IN" smtClean="0"/>
              <a:t>24-10-25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6473767A-A84C-418F-AD3D-C10C20D52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466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232C5-E416-4A63-AD2E-5015F4CCE6E2}" type="datetimeFigureOut">
              <a:rPr lang="en-IN" smtClean="0"/>
              <a:t>24-10-25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3767A-A84C-418F-AD3D-C10C20D52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488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057232C5-E416-4A63-AD2E-5015F4CCE6E2}" type="datetimeFigureOut">
              <a:rPr lang="en-IN" smtClean="0"/>
              <a:t>24-10-25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473767A-A84C-418F-AD3D-C10C20D52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317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232C5-E416-4A63-AD2E-5015F4CCE6E2}" type="datetimeFigureOut">
              <a:rPr lang="en-IN" smtClean="0"/>
              <a:t>24-10-25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3767A-A84C-418F-AD3D-C10C20D52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319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232C5-E416-4A63-AD2E-5015F4CCE6E2}" type="datetimeFigureOut">
              <a:rPr lang="en-IN" smtClean="0"/>
              <a:t>24-10-25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3767A-A84C-418F-AD3D-C10C20D52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28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232C5-E416-4A63-AD2E-5015F4CCE6E2}" type="datetimeFigureOut">
              <a:rPr lang="en-IN" smtClean="0"/>
              <a:t>24-10-25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3767A-A84C-418F-AD3D-C10C20D52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496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232C5-E416-4A63-AD2E-5015F4CCE6E2}" type="datetimeFigureOut">
              <a:rPr lang="en-IN" smtClean="0"/>
              <a:t>24-10-25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3767A-A84C-418F-AD3D-C10C20D52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33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232C5-E416-4A63-AD2E-5015F4CCE6E2}" type="datetimeFigureOut">
              <a:rPr lang="en-IN" smtClean="0"/>
              <a:t>24-10-25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3767A-A84C-418F-AD3D-C10C20D52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18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232C5-E416-4A63-AD2E-5015F4CCE6E2}" type="datetimeFigureOut">
              <a:rPr lang="en-IN" smtClean="0"/>
              <a:t>24-10-25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3767A-A84C-418F-AD3D-C10C20D52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301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232C5-E416-4A63-AD2E-5015F4CCE6E2}" type="datetimeFigureOut">
              <a:rPr lang="en-IN" smtClean="0"/>
              <a:t>24-10-25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3767A-A84C-418F-AD3D-C10C20D52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813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232C5-E416-4A63-AD2E-5015F4CCE6E2}" type="datetimeFigureOut">
              <a:rPr lang="en-IN" smtClean="0"/>
              <a:t>24-10-25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3767A-A84C-418F-AD3D-C10C20D52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852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057232C5-E416-4A63-AD2E-5015F4CCE6E2}" type="datetimeFigureOut">
              <a:rPr lang="en-IN" smtClean="0"/>
              <a:t>24-10-25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6473767A-A84C-418F-AD3D-C10C20D52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382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417FC-30F3-0805-FAD9-05FB4D05D5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Project implementation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53FFD-5C36-07F7-9B41-729A0C92E2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Team ID : PNC-50</a:t>
            </a:r>
          </a:p>
          <a:p>
            <a:r>
              <a:rPr lang="en-IN" dirty="0"/>
              <a:t>Team Lead: Aditya Mane</a:t>
            </a:r>
          </a:p>
          <a:p>
            <a:r>
              <a:rPr lang="en-IN" dirty="0"/>
              <a:t>Team Member: Pranit Gore</a:t>
            </a:r>
          </a:p>
        </p:txBody>
      </p:sp>
    </p:spTree>
    <p:extLst>
      <p:ext uri="{BB962C8B-B14F-4D97-AF65-F5344CB8AC3E}">
        <p14:creationId xmlns:p14="http://schemas.microsoft.com/office/powerpoint/2010/main" val="2928791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DBFE9-D9B0-6182-59E8-A9E7E9258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Recap of previous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EC6EA-E547-CFC6-356B-C7535228F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Completed data labelling (Z, O, N, F, S) using CHB-MIT EEG Dataset</a:t>
            </a:r>
          </a:p>
          <a:p>
            <a:r>
              <a:rPr lang="en-IN" dirty="0"/>
              <a:t>Implemented pre-processing pipeline (filtering, segmentation, normalization)</a:t>
            </a:r>
          </a:p>
          <a:p>
            <a:r>
              <a:rPr lang="en-IN" dirty="0"/>
              <a:t>Feature engineering for traditional ML models ( mean, power bands, entropy)</a:t>
            </a:r>
          </a:p>
          <a:p>
            <a:r>
              <a:rPr lang="en-IN" dirty="0"/>
              <a:t>Started initial model experiments using Random Forest, SVM, </a:t>
            </a:r>
            <a:r>
              <a:rPr lang="en-IN" dirty="0" err="1"/>
              <a:t>XGBoost</a:t>
            </a:r>
            <a:r>
              <a:rPr lang="en-IN" dirty="0"/>
              <a:t> and CNN</a:t>
            </a:r>
          </a:p>
        </p:txBody>
      </p:sp>
    </p:spTree>
    <p:extLst>
      <p:ext uri="{BB962C8B-B14F-4D97-AF65-F5344CB8AC3E}">
        <p14:creationId xmlns:p14="http://schemas.microsoft.com/office/powerpoint/2010/main" val="1292033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8C4F2-73FE-B83E-DCB7-3A9863F7A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building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C6F95-681F-542B-50DD-F9C0FDCFD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7" y="1925053"/>
            <a:ext cx="10384216" cy="4283242"/>
          </a:xfrm>
        </p:spPr>
        <p:txBody>
          <a:bodyPr>
            <a:normAutofit lnSpcReduction="10000"/>
          </a:bodyPr>
          <a:lstStyle/>
          <a:p>
            <a:r>
              <a:rPr lang="en-IN" dirty="0"/>
              <a:t>This week was completely dedicated to model building for both Machine Learning and Deep Learning.</a:t>
            </a:r>
          </a:p>
          <a:p>
            <a:r>
              <a:rPr lang="en-IN" dirty="0"/>
              <a:t>We implemented 13 statistical + frequency features in each model :</a:t>
            </a:r>
          </a:p>
          <a:p>
            <a:pPr lvl="1"/>
            <a:r>
              <a:rPr lang="en-IN" dirty="0"/>
              <a:t>Mean</a:t>
            </a:r>
          </a:p>
          <a:p>
            <a:pPr lvl="1"/>
            <a:r>
              <a:rPr lang="en-IN" dirty="0"/>
              <a:t>Variance</a:t>
            </a:r>
          </a:p>
          <a:p>
            <a:pPr lvl="1"/>
            <a:r>
              <a:rPr lang="en-IN" dirty="0"/>
              <a:t>Line Length</a:t>
            </a:r>
          </a:p>
          <a:p>
            <a:pPr lvl="1"/>
            <a:r>
              <a:rPr lang="en-IN" dirty="0"/>
              <a:t>Delta Power, Theta Power, Alpha Power and Beta Power</a:t>
            </a:r>
          </a:p>
          <a:p>
            <a:pPr lvl="1"/>
            <a:r>
              <a:rPr lang="en-IN" dirty="0"/>
              <a:t>Sample Entropy</a:t>
            </a:r>
          </a:p>
          <a:p>
            <a:pPr lvl="1"/>
            <a:r>
              <a:rPr lang="en-IN" dirty="0"/>
              <a:t>Activity</a:t>
            </a:r>
          </a:p>
          <a:p>
            <a:pPr lvl="1"/>
            <a:r>
              <a:rPr lang="en-IN" dirty="0"/>
              <a:t>Mobility</a:t>
            </a:r>
          </a:p>
          <a:p>
            <a:pPr lvl="1"/>
            <a:r>
              <a:rPr lang="en-IN" dirty="0"/>
              <a:t>Complexity</a:t>
            </a:r>
          </a:p>
          <a:p>
            <a:pPr lvl="1"/>
            <a:r>
              <a:rPr lang="en-IN" dirty="0"/>
              <a:t>Skewness</a:t>
            </a:r>
          </a:p>
          <a:p>
            <a:pPr lvl="1"/>
            <a:r>
              <a:rPr lang="en-IN" dirty="0"/>
              <a:t>Kurtosis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2828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B8CF5-B227-6C75-B06E-13FC919ED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learning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4A37A-2237-8EB3-7B65-BD781BF11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We trained and validated following ML models individually on full feature sets:</a:t>
            </a:r>
          </a:p>
          <a:p>
            <a:pPr lvl="1"/>
            <a:r>
              <a:rPr lang="en-IN" dirty="0"/>
              <a:t>Random Forest</a:t>
            </a:r>
          </a:p>
          <a:p>
            <a:pPr lvl="1"/>
            <a:r>
              <a:rPr lang="en-IN" dirty="0"/>
              <a:t>Extra Trees</a:t>
            </a:r>
          </a:p>
          <a:p>
            <a:pPr lvl="1"/>
            <a:r>
              <a:rPr lang="en-IN" dirty="0"/>
              <a:t>SVM</a:t>
            </a:r>
          </a:p>
          <a:p>
            <a:pPr lvl="1"/>
            <a:r>
              <a:rPr lang="en-IN" dirty="0"/>
              <a:t>Logistic Regression</a:t>
            </a:r>
          </a:p>
          <a:p>
            <a:pPr lvl="1"/>
            <a:r>
              <a:rPr lang="en-IN" dirty="0"/>
              <a:t>Decision Trees</a:t>
            </a:r>
          </a:p>
          <a:p>
            <a:pPr lvl="1"/>
            <a:r>
              <a:rPr lang="en-IN" dirty="0"/>
              <a:t>Naïve Bayes</a:t>
            </a:r>
          </a:p>
          <a:p>
            <a:pPr lvl="1"/>
            <a:r>
              <a:rPr lang="en-IN" dirty="0"/>
              <a:t>K-Nearest Neighbours</a:t>
            </a:r>
          </a:p>
          <a:p>
            <a:pPr lvl="1"/>
            <a:r>
              <a:rPr lang="en-IN" dirty="0"/>
              <a:t>Gradient Boosting</a:t>
            </a:r>
          </a:p>
          <a:p>
            <a:pPr lvl="1"/>
            <a:r>
              <a:rPr lang="en-IN" dirty="0"/>
              <a:t>XG Boost</a:t>
            </a:r>
          </a:p>
          <a:p>
            <a:pPr lvl="1"/>
            <a:r>
              <a:rPr lang="en-IN" dirty="0"/>
              <a:t>MLP Classifier</a:t>
            </a:r>
          </a:p>
          <a:p>
            <a:pPr lvl="1"/>
            <a:r>
              <a:rPr lang="en-IN" dirty="0"/>
              <a:t>Voting Ensemble</a:t>
            </a:r>
          </a:p>
          <a:p>
            <a:pPr lvl="1"/>
            <a:r>
              <a:rPr lang="en-IN" dirty="0"/>
              <a:t>Quadratic Discriminant Analysis</a:t>
            </a:r>
          </a:p>
          <a:p>
            <a:pPr marL="274320" lvl="1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3505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B6740-028E-56C0-FB0C-CB09A608A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for ml model training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1E1941-8802-55D9-465D-A76F135F3D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5495" y="2142800"/>
            <a:ext cx="7521010" cy="4230568"/>
          </a:xfrm>
        </p:spPr>
      </p:pic>
    </p:spTree>
    <p:extLst>
      <p:ext uri="{BB962C8B-B14F-4D97-AF65-F5344CB8AC3E}">
        <p14:creationId xmlns:p14="http://schemas.microsoft.com/office/powerpoint/2010/main" val="3201091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54A18-9F23-65C8-F4F7-AFE324377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Zo vs s STFT result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DA052C-26B7-C46E-A251-246AABD3ED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8974" y="2494584"/>
            <a:ext cx="11145009" cy="2247240"/>
          </a:xfrm>
        </p:spPr>
      </p:pic>
    </p:spTree>
    <p:extLst>
      <p:ext uri="{BB962C8B-B14F-4D97-AF65-F5344CB8AC3E}">
        <p14:creationId xmlns:p14="http://schemas.microsoft.com/office/powerpoint/2010/main" val="3967436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B804F-3DCB-8207-5F4C-FCDA62F73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Zo vs s </a:t>
            </a:r>
            <a:r>
              <a:rPr lang="en-IN" dirty="0" err="1"/>
              <a:t>fft</a:t>
            </a:r>
            <a:r>
              <a:rPr lang="en-IN" dirty="0"/>
              <a:t> result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26B190-32F8-FAF3-4764-A5B36ADF82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2487182"/>
            <a:ext cx="10806684" cy="2648697"/>
          </a:xfrm>
        </p:spPr>
      </p:pic>
    </p:spTree>
    <p:extLst>
      <p:ext uri="{BB962C8B-B14F-4D97-AF65-F5344CB8AC3E}">
        <p14:creationId xmlns:p14="http://schemas.microsoft.com/office/powerpoint/2010/main" val="1800678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3969E-B0AD-19DA-7AE8-8CF4BFF85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13 features s vs </a:t>
            </a:r>
            <a:r>
              <a:rPr lang="en-IN" dirty="0" err="1"/>
              <a:t>zofn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87B74F-2B6F-416D-5A86-512D3CCB3A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6135" y="2446483"/>
            <a:ext cx="10302113" cy="2514743"/>
          </a:xfrm>
        </p:spPr>
      </p:pic>
    </p:spTree>
    <p:extLst>
      <p:ext uri="{BB962C8B-B14F-4D97-AF65-F5344CB8AC3E}">
        <p14:creationId xmlns:p14="http://schemas.microsoft.com/office/powerpoint/2010/main" val="3421820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FBE3D-8F88-3992-0FAE-1333EC136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Deep learning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B0F62-5CEE-4AAA-3F6F-4CE5DCB1F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developed and trained advanced hybrid model using 1D-CNN + LSTM + Random Forest (Ensemble)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B32F2F-8E6A-82AD-58F2-92BB1C738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435" y="2895328"/>
            <a:ext cx="7419445" cy="385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053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BD64C-B82D-CDAB-585B-119109A02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Seizure type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157BB-A0D2-421B-0A03-091235E59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performed classification on 9 comparison types to validate generalization:</a:t>
            </a:r>
          </a:p>
          <a:p>
            <a:pPr lvl="1"/>
            <a:r>
              <a:rPr lang="en-IN" dirty="0"/>
              <a:t>1. </a:t>
            </a:r>
            <a:r>
              <a:rPr lang="pt-BR" dirty="0"/>
              <a:t>Z vs N vs O vs F vs S</a:t>
            </a:r>
          </a:p>
          <a:p>
            <a:pPr lvl="1"/>
            <a:r>
              <a:rPr lang="pt-BR" dirty="0"/>
              <a:t>2. Z vs ALL</a:t>
            </a:r>
          </a:p>
          <a:p>
            <a:pPr lvl="1"/>
            <a:r>
              <a:rPr lang="pt-BR" dirty="0"/>
              <a:t>3. N vs ALL</a:t>
            </a:r>
          </a:p>
          <a:p>
            <a:pPr lvl="1"/>
            <a:r>
              <a:rPr lang="pt-BR" dirty="0"/>
              <a:t>4. O vs ALL</a:t>
            </a:r>
          </a:p>
          <a:p>
            <a:pPr lvl="1"/>
            <a:r>
              <a:rPr lang="pt-BR" dirty="0"/>
              <a:t>5. F vs ALL</a:t>
            </a:r>
          </a:p>
          <a:p>
            <a:pPr lvl="1"/>
            <a:r>
              <a:rPr lang="pt-BR" dirty="0"/>
              <a:t>6. S vs ALL</a:t>
            </a:r>
          </a:p>
          <a:p>
            <a:pPr lvl="1"/>
            <a:r>
              <a:rPr lang="pt-BR" dirty="0"/>
              <a:t>7. Z vs S</a:t>
            </a:r>
          </a:p>
          <a:p>
            <a:pPr lvl="1"/>
            <a:r>
              <a:rPr lang="pt-BR" dirty="0"/>
              <a:t>8. ZO vs S</a:t>
            </a:r>
          </a:p>
          <a:p>
            <a:pPr lvl="1"/>
            <a:r>
              <a:rPr lang="pt-BR" dirty="0"/>
              <a:t>9. ZO vs NF vs S</a:t>
            </a:r>
          </a:p>
          <a:p>
            <a:pPr lvl="1"/>
            <a:r>
              <a:rPr lang="pt-BR" dirty="0"/>
              <a:t>We noticed highest accuracy in binary models ( Z vs S , ZO vs S)</a:t>
            </a:r>
          </a:p>
          <a:p>
            <a:pPr lvl="1"/>
            <a:r>
              <a:rPr lang="pt-BR" dirty="0"/>
              <a:t>Multiclass models gave consistent performance (85- 90%)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8217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4AD28-3631-F034-7FD6-62C87493D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Streamlit</a:t>
            </a:r>
            <a:r>
              <a:rPr lang="en-IN" dirty="0"/>
              <a:t> interface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BAA51-2DA9-83AD-5204-E199B8C78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unified a full-stack </a:t>
            </a:r>
            <a:r>
              <a:rPr lang="en-IN" b="1" dirty="0" err="1"/>
              <a:t>Streamlit</a:t>
            </a:r>
            <a:r>
              <a:rPr lang="en-IN" dirty="0"/>
              <a:t> Application inculcating the following modules:</a:t>
            </a:r>
          </a:p>
          <a:p>
            <a:r>
              <a:rPr lang="en-IN" dirty="0"/>
              <a:t>1. </a:t>
            </a:r>
            <a:r>
              <a:rPr lang="en-IN" b="1" dirty="0"/>
              <a:t>STFT Visualizer</a:t>
            </a:r>
            <a:r>
              <a:rPr lang="en-IN" dirty="0"/>
              <a:t>: Compare time-frequency features across multiple channels in a single patient</a:t>
            </a:r>
          </a:p>
          <a:p>
            <a:r>
              <a:rPr lang="en-IN" dirty="0"/>
              <a:t>2</a:t>
            </a:r>
            <a:r>
              <a:rPr lang="en-IN" b="1" dirty="0"/>
              <a:t>. FFT Visualizer</a:t>
            </a:r>
            <a:r>
              <a:rPr lang="en-IN" dirty="0"/>
              <a:t>: Explore amplitude vs frequency globally</a:t>
            </a:r>
          </a:p>
          <a:p>
            <a:r>
              <a:rPr lang="en-IN" dirty="0"/>
              <a:t>3. </a:t>
            </a:r>
            <a:r>
              <a:rPr lang="en-IN" b="1" dirty="0"/>
              <a:t>Seizure Predictor</a:t>
            </a:r>
            <a:r>
              <a:rPr lang="en-IN" dirty="0"/>
              <a:t>: User Uploads EEG file, System predicts whether seizure on non-seizure (Based on random forest trained model) and confidence score for 5-class result is displayed along with 5 types of plot chart comparison for each.</a:t>
            </a:r>
          </a:p>
          <a:p>
            <a:r>
              <a:rPr lang="en-IN" dirty="0"/>
              <a:t>4</a:t>
            </a:r>
            <a:r>
              <a:rPr lang="en-IN" b="1" dirty="0"/>
              <a:t>. Visualization hub</a:t>
            </a:r>
            <a:r>
              <a:rPr lang="en-IN" dirty="0"/>
              <a:t>: Choose plots: Band Power, STFT Spectrogram, Power Spectral Density, etc</a:t>
            </a:r>
          </a:p>
        </p:txBody>
      </p:sp>
    </p:spTree>
    <p:extLst>
      <p:ext uri="{BB962C8B-B14F-4D97-AF65-F5344CB8AC3E}">
        <p14:creationId xmlns:p14="http://schemas.microsoft.com/office/powerpoint/2010/main" val="1253627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200FC-A02B-72CA-9B32-EFA7C65F6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Screenshots of visualizations (1/3)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8304E6-55B0-C2C7-644A-16641E917B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975" y="2447095"/>
            <a:ext cx="10058400" cy="3398909"/>
          </a:xfrm>
        </p:spPr>
      </p:pic>
    </p:spTree>
    <p:extLst>
      <p:ext uri="{BB962C8B-B14F-4D97-AF65-F5344CB8AC3E}">
        <p14:creationId xmlns:p14="http://schemas.microsoft.com/office/powerpoint/2010/main" val="889099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9E498-437E-4425-F869-953459622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Screenshot of visualization (2/3)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BB5F1A-A490-B079-8D9D-FD5227D8B2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51652" y="2246376"/>
            <a:ext cx="4976596" cy="427939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5E3E59-2F65-16E1-AE74-3C695F89E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598" y="2246376"/>
            <a:ext cx="5120846" cy="427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321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98550-48A2-BD6C-DC26-E49D848F5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Prediction based on input data (3/3)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EB9F87-BB06-CE69-20C8-3F746B4C52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18955" y="1621417"/>
            <a:ext cx="7185963" cy="4101501"/>
          </a:xfrm>
        </p:spPr>
      </p:pic>
    </p:spTree>
    <p:extLst>
      <p:ext uri="{BB962C8B-B14F-4D97-AF65-F5344CB8AC3E}">
        <p14:creationId xmlns:p14="http://schemas.microsoft.com/office/powerpoint/2010/main" val="1948645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E4F7B-1369-5165-1C87-C0AA68053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9560D-EA35-9F5F-5ECA-C4B3FFCB7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Integrate Correlation Heatmap analysis</a:t>
            </a:r>
          </a:p>
          <a:p>
            <a:r>
              <a:rPr lang="en-IN" dirty="0"/>
              <a:t>Enable multi-patient multi-file upload support</a:t>
            </a:r>
          </a:p>
          <a:p>
            <a:r>
              <a:rPr lang="en-IN" dirty="0"/>
              <a:t>Consult a neurologist for prototype readiness</a:t>
            </a:r>
          </a:p>
          <a:p>
            <a:r>
              <a:rPr lang="en-IN" dirty="0"/>
              <a:t>Deploy </a:t>
            </a:r>
            <a:r>
              <a:rPr lang="en-IN" dirty="0" err="1"/>
              <a:t>Streamlit</a:t>
            </a:r>
            <a:r>
              <a:rPr lang="en-IN" dirty="0"/>
              <a:t> App as Power BI dashboard</a:t>
            </a:r>
          </a:p>
          <a:p>
            <a:r>
              <a:rPr lang="en-IN" dirty="0"/>
              <a:t>Draft and Submit a Research Paper</a:t>
            </a:r>
          </a:p>
        </p:txBody>
      </p:sp>
    </p:spTree>
    <p:extLst>
      <p:ext uri="{BB962C8B-B14F-4D97-AF65-F5344CB8AC3E}">
        <p14:creationId xmlns:p14="http://schemas.microsoft.com/office/powerpoint/2010/main" val="2782200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1518</TotalTime>
  <Words>450</Words>
  <Application>Microsoft Office PowerPoint</Application>
  <PresentationFormat>Widescreen</PresentationFormat>
  <Paragraphs>71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Rockwell</vt:lpstr>
      <vt:lpstr>Rockwell Condensed</vt:lpstr>
      <vt:lpstr>Wingdings</vt:lpstr>
      <vt:lpstr>Wood Type</vt:lpstr>
      <vt:lpstr>Project implementation</vt:lpstr>
      <vt:lpstr>Recap of previous week</vt:lpstr>
      <vt:lpstr>Model building</vt:lpstr>
      <vt:lpstr>Machine learning progress</vt:lpstr>
      <vt:lpstr>Results for ml model training</vt:lpstr>
      <vt:lpstr>Zo vs s STFT result </vt:lpstr>
      <vt:lpstr>Zo vs s fft result</vt:lpstr>
      <vt:lpstr>13 features s vs zofn</vt:lpstr>
      <vt:lpstr>Deep learning architecture</vt:lpstr>
      <vt:lpstr>Seizure type classification</vt:lpstr>
      <vt:lpstr>Streamlit interface integration</vt:lpstr>
      <vt:lpstr>Screenshots of visualizations (1/3)</vt:lpstr>
      <vt:lpstr>Screenshot of visualization (2/3)</vt:lpstr>
      <vt:lpstr>Prediction based on input data (3/3)</vt:lpstr>
      <vt:lpstr>Future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Pranit Gore</dc:creator>
  <cp:lastModifiedBy>Pranit Gore</cp:lastModifiedBy>
  <cp:revision>5</cp:revision>
  <dcterms:created xsi:type="dcterms:W3CDTF">2025-07-07T12:49:41Z</dcterms:created>
  <dcterms:modified xsi:type="dcterms:W3CDTF">2025-10-24T08:25:52Z</dcterms:modified>
</cp:coreProperties>
</file>