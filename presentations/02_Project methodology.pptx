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6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4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5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86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7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69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14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1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1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1B95917-070D-4EB8-81F8-9CDDCAADC487}" type="datetimeFigureOut">
              <a:rPr lang="en-IN" smtClean="0"/>
              <a:t>14-07-25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842BD06-9C81-4277-B9F2-CAC21167C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3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C408-BFCB-18EA-8810-69AF24835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04463-DE48-40ED-8A73-AC7E34D46F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TEAM PNC-50</a:t>
            </a:r>
          </a:p>
          <a:p>
            <a:r>
              <a:rPr lang="en-IN" dirty="0"/>
              <a:t>Members: Aditya Mane, Pranit Gore</a:t>
            </a:r>
          </a:p>
        </p:txBody>
      </p:sp>
    </p:spTree>
    <p:extLst>
      <p:ext uri="{BB962C8B-B14F-4D97-AF65-F5344CB8AC3E}">
        <p14:creationId xmlns:p14="http://schemas.microsoft.com/office/powerpoint/2010/main" val="3998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5CD4-C5E3-78CD-43D3-9450784E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&amp; Labelling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37210-71EB-7A28-6F9A-F644C05D7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Primary Dataset : CHB-MIT Scalp EEG Database</a:t>
            </a:r>
          </a:p>
          <a:p>
            <a:r>
              <a:rPr lang="en-IN" dirty="0"/>
              <a:t>Dataset includes labels having seizure vs non-seizure timestamps as well as electrode channel information</a:t>
            </a:r>
          </a:p>
          <a:p>
            <a:r>
              <a:rPr lang="en-IN" dirty="0"/>
              <a:t>We will extract seizure and non-seizure segment and further categorize these seizures into 7 classes: </a:t>
            </a:r>
          </a:p>
          <a:p>
            <a:pPr lvl="1"/>
            <a:r>
              <a:rPr lang="en-IN" dirty="0"/>
              <a:t>Z (Healthy),</a:t>
            </a:r>
          </a:p>
          <a:p>
            <a:pPr lvl="1"/>
            <a:r>
              <a:rPr lang="en-IN" dirty="0"/>
              <a:t>O (Outside epileptogenic zone), </a:t>
            </a:r>
          </a:p>
          <a:p>
            <a:pPr lvl="1"/>
            <a:r>
              <a:rPr lang="en-IN" dirty="0"/>
              <a:t>N (Non-seizure from epileptogenic zone).</a:t>
            </a:r>
          </a:p>
          <a:p>
            <a:pPr lvl="1"/>
            <a:r>
              <a:rPr lang="en-IN" dirty="0"/>
              <a:t>F (Pre-seizure),</a:t>
            </a:r>
          </a:p>
          <a:p>
            <a:pPr lvl="1"/>
            <a:r>
              <a:rPr lang="en-IN" dirty="0"/>
              <a:t> S (Seizure),</a:t>
            </a:r>
          </a:p>
          <a:p>
            <a:pPr lvl="1"/>
            <a:r>
              <a:rPr lang="en-IN" dirty="0"/>
              <a:t> SPZ (Simple Partial</a:t>
            </a:r>
            <a:r>
              <a:rPr lang="en-IN" b="1" dirty="0"/>
              <a:t>)</a:t>
            </a:r>
            <a:r>
              <a:rPr lang="en-IN" dirty="0"/>
              <a:t> and</a:t>
            </a:r>
          </a:p>
          <a:p>
            <a:pPr lvl="1"/>
            <a:r>
              <a:rPr lang="en-IN" dirty="0"/>
              <a:t> TNZ (Tonic).</a:t>
            </a:r>
          </a:p>
        </p:txBody>
      </p:sp>
    </p:spTree>
    <p:extLst>
      <p:ext uri="{BB962C8B-B14F-4D97-AF65-F5344CB8AC3E}">
        <p14:creationId xmlns:p14="http://schemas.microsoft.com/office/powerpoint/2010/main" val="299597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F863-CA98-7C6F-417B-E50AF7A8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88DBE-A645-E315-32F3-FFC16419C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have converted (.</a:t>
            </a:r>
            <a:r>
              <a:rPr lang="en-IN" dirty="0" err="1"/>
              <a:t>edf</a:t>
            </a:r>
            <a:r>
              <a:rPr lang="en-IN" dirty="0"/>
              <a:t>) EEG files of patients who do not show any signs of epileptic seizures as well as patients who are witnessing seizures. These records are combined together to create a base record which is then used for creating training and testing csv files for getting accurate results.</a:t>
            </a:r>
          </a:p>
          <a:p>
            <a:r>
              <a:rPr lang="en-IN" dirty="0"/>
              <a:t>We have segmented EEG into fixed-length windows</a:t>
            </a:r>
          </a:p>
          <a:p>
            <a:r>
              <a:rPr lang="en-IN" dirty="0"/>
              <a:t>Performed normalization/ standardization of data for ML models.</a:t>
            </a:r>
          </a:p>
          <a:p>
            <a:r>
              <a:rPr lang="en-IN" dirty="0"/>
              <a:t>Data Cleaning has been performed required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1398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0EDD-7328-CD3D-E2E6-5FBC9E54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F448-F6C9-845B-8B79-67703CB04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65" y="2121408"/>
            <a:ext cx="10746283" cy="4050792"/>
          </a:xfrm>
        </p:spPr>
        <p:txBody>
          <a:bodyPr/>
          <a:lstStyle/>
          <a:p>
            <a:r>
              <a:rPr lang="en-IN" b="1" dirty="0"/>
              <a:t>Statistical Features:</a:t>
            </a:r>
            <a:br>
              <a:rPr lang="en-IN" b="1" dirty="0"/>
            </a:br>
            <a:r>
              <a:rPr lang="en-IN" dirty="0"/>
              <a:t>We are going to extract following statistical features from EEG </a:t>
            </a:r>
            <a:r>
              <a:rPr lang="en-IN" dirty="0" err="1"/>
              <a:t>Windoe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Absolute Mean</a:t>
            </a:r>
          </a:p>
          <a:p>
            <a:pPr lvl="1"/>
            <a:r>
              <a:rPr lang="en-IN" dirty="0"/>
              <a:t>Stand. Deviation</a:t>
            </a:r>
          </a:p>
          <a:p>
            <a:pPr lvl="1"/>
            <a:r>
              <a:rPr lang="en-IN" dirty="0"/>
              <a:t>Power</a:t>
            </a:r>
          </a:p>
          <a:p>
            <a:pPr lvl="1"/>
            <a:r>
              <a:rPr lang="en-IN" dirty="0"/>
              <a:t>Skewness</a:t>
            </a:r>
          </a:p>
          <a:p>
            <a:pPr lvl="1"/>
            <a:r>
              <a:rPr lang="en-IN" dirty="0"/>
              <a:t>Kurtosis</a:t>
            </a:r>
          </a:p>
          <a:p>
            <a:pPr marL="274320" lvl="1" indent="0">
              <a:buNone/>
            </a:pPr>
            <a:endParaRPr lang="en-IN" dirty="0"/>
          </a:p>
          <a:p>
            <a:pPr marL="274320" lvl="1" indent="0">
              <a:buNone/>
            </a:pPr>
            <a:r>
              <a:rPr lang="en-IN" b="1" dirty="0"/>
              <a:t>Time Frequency Distributions (TFDs):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STFT, Wigner–Ville, Zhao–Atlas–Marks, Margenau–Hill, etc.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Extract </a:t>
            </a:r>
            <a:r>
              <a:rPr lang="en-US" altLang="en-US" sz="1800" b="1" dirty="0">
                <a:latin typeface="Arial" panose="020B0604020202020204" pitchFamily="34" charset="0"/>
              </a:rPr>
              <a:t>fractional energy</a:t>
            </a:r>
            <a:r>
              <a:rPr lang="en-US" altLang="en-US" sz="1800" dirty="0">
                <a:latin typeface="Arial" panose="020B0604020202020204" pitchFamily="34" charset="0"/>
              </a:rPr>
              <a:t> from 15 time–frequency windows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Apply </a:t>
            </a:r>
            <a:r>
              <a:rPr lang="en-US" altLang="en-US" sz="1800" b="1" dirty="0">
                <a:latin typeface="Arial" panose="020B0604020202020204" pitchFamily="34" charset="0"/>
              </a:rPr>
              <a:t>PCA</a:t>
            </a:r>
            <a:r>
              <a:rPr lang="en-US" altLang="en-US" sz="1800" dirty="0">
                <a:latin typeface="Arial" panose="020B0604020202020204" pitchFamily="34" charset="0"/>
              </a:rPr>
              <a:t> ( Principal Component Analysis) for dimensionality reduction</a:t>
            </a:r>
          </a:p>
          <a:p>
            <a:pPr marL="274320" lvl="1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4767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03D5-96C6-DDAE-90C3-E9CD315D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FB6-77D5-D4FD-0D0E-69AFF42D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A. Classical Machine Learning Models:</a:t>
            </a:r>
          </a:p>
          <a:p>
            <a:pPr marL="617220" lvl="1" indent="-342900">
              <a:buAutoNum type="arabicPeriod"/>
            </a:pPr>
            <a:r>
              <a:rPr lang="en-IN" dirty="0"/>
              <a:t>Logistic Regression</a:t>
            </a:r>
          </a:p>
          <a:p>
            <a:pPr marL="617220" lvl="1" indent="-342900">
              <a:buAutoNum type="arabicPeriod"/>
            </a:pPr>
            <a:r>
              <a:rPr lang="en-IN" dirty="0"/>
              <a:t>SVM</a:t>
            </a:r>
          </a:p>
          <a:p>
            <a:pPr marL="617220" lvl="1" indent="-342900">
              <a:buAutoNum type="arabicPeriod"/>
            </a:pPr>
            <a:r>
              <a:rPr lang="en-IN" dirty="0"/>
              <a:t>Random Forest</a:t>
            </a:r>
          </a:p>
          <a:p>
            <a:pPr marL="617220" lvl="1" indent="-342900">
              <a:buAutoNum type="arabicPeriod"/>
            </a:pPr>
            <a:r>
              <a:rPr lang="en-IN" dirty="0"/>
              <a:t>KNN</a:t>
            </a:r>
          </a:p>
          <a:p>
            <a:pPr marL="617220" lvl="1" indent="-342900">
              <a:buAutoNum type="arabicPeriod"/>
            </a:pPr>
            <a:r>
              <a:rPr lang="en-IN" dirty="0" err="1"/>
              <a:t>XGBoost</a:t>
            </a:r>
            <a:endParaRPr lang="en-IN" dirty="0"/>
          </a:p>
          <a:p>
            <a:pPr marL="617220" lvl="1" indent="-342900">
              <a:buAutoNum type="arabicPeriod"/>
            </a:pPr>
            <a:r>
              <a:rPr lang="en-IN" dirty="0"/>
              <a:t>Gradient Boosting</a:t>
            </a:r>
          </a:p>
          <a:p>
            <a:pPr marL="274320" lvl="1" indent="0">
              <a:buNone/>
            </a:pPr>
            <a:endParaRPr lang="en-IN" dirty="0"/>
          </a:p>
          <a:p>
            <a:pPr marL="274320" lvl="1" indent="0">
              <a:buNone/>
            </a:pPr>
            <a:r>
              <a:rPr lang="en-IN" dirty="0"/>
              <a:t>B. Deep Learning Models:</a:t>
            </a:r>
          </a:p>
          <a:p>
            <a:pPr marL="617220" lvl="1" indent="-342900">
              <a:buAutoNum type="arabicPeriod"/>
            </a:pPr>
            <a:r>
              <a:rPr lang="en-IN" dirty="0"/>
              <a:t>CNN (1D)</a:t>
            </a:r>
          </a:p>
          <a:p>
            <a:pPr marL="617220" lvl="1" indent="-342900">
              <a:buAutoNum type="arabicPeriod"/>
            </a:pPr>
            <a:r>
              <a:rPr lang="en-IN" dirty="0"/>
              <a:t>CNN + Bi-LSTM + Attention </a:t>
            </a:r>
          </a:p>
          <a:p>
            <a:pPr marL="617220" lvl="1" indent="-342900">
              <a:buAutoNum type="arabicPeriod"/>
            </a:pPr>
            <a:r>
              <a:rPr lang="en-IN" dirty="0"/>
              <a:t>Pyramidal 1D CNN ( P–1D-CNN)</a:t>
            </a:r>
          </a:p>
        </p:txBody>
      </p:sp>
    </p:spTree>
    <p:extLst>
      <p:ext uri="{BB962C8B-B14F-4D97-AF65-F5344CB8AC3E}">
        <p14:creationId xmlns:p14="http://schemas.microsoft.com/office/powerpoint/2010/main" val="254097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5549-C925-3410-3E3B-728D1306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21BFB-3C1F-DAFB-813A-98E195C3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Split into training and testing sets (80 : 20)</a:t>
            </a:r>
          </a:p>
          <a:p>
            <a:r>
              <a:rPr lang="en-IN" dirty="0"/>
              <a:t>Used cross-validation of 3-fold and 5-fold for model </a:t>
            </a:r>
            <a:r>
              <a:rPr lang="en-IN" dirty="0" err="1"/>
              <a:t>robustbess</a:t>
            </a:r>
            <a:endParaRPr lang="en-IN" dirty="0"/>
          </a:p>
          <a:p>
            <a:r>
              <a:rPr lang="en-IN" dirty="0"/>
              <a:t>Performed evaluation using:</a:t>
            </a:r>
          </a:p>
          <a:p>
            <a:pPr lvl="1"/>
            <a:r>
              <a:rPr lang="en-IN" dirty="0"/>
              <a:t>Accuracy</a:t>
            </a:r>
          </a:p>
          <a:p>
            <a:pPr lvl="1"/>
            <a:r>
              <a:rPr lang="en-IN" dirty="0"/>
              <a:t>F1- Score</a:t>
            </a:r>
          </a:p>
          <a:p>
            <a:pPr lvl="1"/>
            <a:r>
              <a:rPr lang="en-IN" dirty="0"/>
              <a:t>Confusion Matrix</a:t>
            </a:r>
          </a:p>
          <a:p>
            <a:pPr lvl="1"/>
            <a:r>
              <a:rPr lang="en-IN" dirty="0"/>
              <a:t>Mathews Correlation Coefficient (MCC) for handling imbalanced seizure/ non-seizure data</a:t>
            </a:r>
          </a:p>
          <a:p>
            <a:pPr lvl="1"/>
            <a:r>
              <a:rPr lang="en-IN" dirty="0"/>
              <a:t>AUC-ROC</a:t>
            </a:r>
          </a:p>
          <a:p>
            <a:pPr lvl="1"/>
            <a:r>
              <a:rPr lang="en-IN" dirty="0"/>
              <a:t>Precision</a:t>
            </a:r>
          </a:p>
          <a:p>
            <a:pPr lvl="1"/>
            <a:r>
              <a:rPr lang="en-IN" dirty="0"/>
              <a:t>Recall</a:t>
            </a:r>
          </a:p>
          <a:p>
            <a:pPr lvl="1"/>
            <a:r>
              <a:rPr lang="en-IN" dirty="0"/>
              <a:t>Kappa</a:t>
            </a:r>
          </a:p>
        </p:txBody>
      </p:sp>
    </p:spTree>
    <p:extLst>
      <p:ext uri="{BB962C8B-B14F-4D97-AF65-F5344CB8AC3E}">
        <p14:creationId xmlns:p14="http://schemas.microsoft.com/office/powerpoint/2010/main" val="216902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80C6-1324-3068-FB67-AD5187C6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&amp;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716BE-D3C1-FB2F-1298-B9FAEB9BC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Power BI Dashboards for:</a:t>
            </a:r>
          </a:p>
          <a:p>
            <a:pPr lvl="1"/>
            <a:r>
              <a:rPr lang="en-IN" dirty="0"/>
              <a:t>Seizure types vs EEG channel visualization</a:t>
            </a:r>
          </a:p>
          <a:p>
            <a:pPr lvl="1"/>
            <a:r>
              <a:rPr lang="en-IN" dirty="0"/>
              <a:t>Syndrome frequency heatmaps</a:t>
            </a:r>
          </a:p>
          <a:p>
            <a:pPr lvl="1"/>
            <a:r>
              <a:rPr lang="en-IN" dirty="0"/>
              <a:t>KLD-derived risk maps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Matplotlib/Seaborn-based graphs for:</a:t>
            </a:r>
          </a:p>
          <a:p>
            <a:pPr lvl="2"/>
            <a:r>
              <a:rPr lang="en-IN" sz="1800" dirty="0"/>
              <a:t>Raw EEG vs TFD Plots</a:t>
            </a:r>
          </a:p>
          <a:p>
            <a:pPr lvl="2"/>
            <a:r>
              <a:rPr lang="en-IN" sz="1800" dirty="0"/>
              <a:t>Syndrome vs Age vs Brain Region</a:t>
            </a:r>
          </a:p>
          <a:p>
            <a:pPr lvl="2"/>
            <a:r>
              <a:rPr lang="en-IN" sz="1800" dirty="0"/>
              <a:t>Accuracy comparison of all models</a:t>
            </a:r>
          </a:p>
        </p:txBody>
      </p:sp>
    </p:spTree>
    <p:extLst>
      <p:ext uri="{BB962C8B-B14F-4D97-AF65-F5344CB8AC3E}">
        <p14:creationId xmlns:p14="http://schemas.microsoft.com/office/powerpoint/2010/main" val="193956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222B-7F41-96AF-27E8-C4F89312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&amp;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E20B-02C7-23BD-6035-9112B7F3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Once the prototype is complete:</a:t>
            </a:r>
          </a:p>
          <a:p>
            <a:pPr lvl="1"/>
            <a:r>
              <a:rPr lang="en-IN" dirty="0"/>
              <a:t>Consult a neurologist for:</a:t>
            </a:r>
          </a:p>
          <a:p>
            <a:pPr lvl="2"/>
            <a:r>
              <a:rPr lang="en-IN" sz="1800" dirty="0"/>
              <a:t>Clinical alignment</a:t>
            </a:r>
          </a:p>
          <a:p>
            <a:pPr lvl="2"/>
            <a:r>
              <a:rPr lang="en-IN" sz="1800" dirty="0"/>
              <a:t>Model usability &amp; interpretability</a:t>
            </a:r>
          </a:p>
          <a:p>
            <a:pPr lvl="2"/>
            <a:r>
              <a:rPr lang="en-IN" sz="1800" dirty="0"/>
              <a:t>Identifying blind spots or overfitting</a:t>
            </a:r>
          </a:p>
          <a:p>
            <a:pPr lvl="2"/>
            <a:endParaRPr lang="en-IN" sz="1800" dirty="0"/>
          </a:p>
          <a:p>
            <a:pPr lvl="2"/>
            <a:r>
              <a:rPr lang="en-IN" sz="1800" dirty="0"/>
              <a:t>Refine based on feedback before deployment or paper submission</a:t>
            </a:r>
          </a:p>
        </p:txBody>
      </p:sp>
    </p:spTree>
    <p:extLst>
      <p:ext uri="{BB962C8B-B14F-4D97-AF65-F5344CB8AC3E}">
        <p14:creationId xmlns:p14="http://schemas.microsoft.com/office/powerpoint/2010/main" val="3748945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202A-6483-C9A0-05F5-466AA43A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59A6-40D2-D324-EB2C-2CC9CBC0F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We are primarily focusing on CHB-MIT Dataset</a:t>
            </a:r>
          </a:p>
          <a:p>
            <a:r>
              <a:rPr lang="en-IN" sz="1800" dirty="0"/>
              <a:t>If time allows, we are planning to incorporate TUH Seizure Corpus Dataset for:</a:t>
            </a:r>
          </a:p>
          <a:p>
            <a:pPr lvl="1"/>
            <a:r>
              <a:rPr lang="en-IN" dirty="0"/>
              <a:t>Generalizing to Adult EEGs</a:t>
            </a:r>
          </a:p>
          <a:p>
            <a:pPr lvl="1"/>
            <a:r>
              <a:rPr lang="en-IN" dirty="0"/>
              <a:t>In order to explore syndromes like Temporal Lobe Epilepsy or Absence Seizures</a:t>
            </a:r>
          </a:p>
          <a:p>
            <a:pPr lvl="1"/>
            <a:r>
              <a:rPr lang="en-IN" dirty="0"/>
              <a:t>This plan is completely optional and based on time-allowance.</a:t>
            </a:r>
          </a:p>
        </p:txBody>
      </p:sp>
    </p:spTree>
    <p:extLst>
      <p:ext uri="{BB962C8B-B14F-4D97-AF65-F5344CB8AC3E}">
        <p14:creationId xmlns:p14="http://schemas.microsoft.com/office/powerpoint/2010/main" val="1465571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275</TotalTime>
  <Words>461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Rockwell</vt:lpstr>
      <vt:lpstr>Rockwell Condensed</vt:lpstr>
      <vt:lpstr>Wingdings</vt:lpstr>
      <vt:lpstr>Wood Type</vt:lpstr>
      <vt:lpstr>Project methodology</vt:lpstr>
      <vt:lpstr>Data Collection &amp; Labelling</vt:lpstr>
      <vt:lpstr>Data preprocessing</vt:lpstr>
      <vt:lpstr>Feature engineering</vt:lpstr>
      <vt:lpstr>Model development</vt:lpstr>
      <vt:lpstr>Model training &amp; Evaluation</vt:lpstr>
      <vt:lpstr>Visualization &amp; interpretability</vt:lpstr>
      <vt:lpstr>Validation &amp; feedback</vt:lpstr>
      <vt:lpstr>Datasets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 Gore</dc:creator>
  <cp:lastModifiedBy>Pranit Gore</cp:lastModifiedBy>
  <cp:revision>4</cp:revision>
  <dcterms:created xsi:type="dcterms:W3CDTF">2025-06-29T03:30:06Z</dcterms:created>
  <dcterms:modified xsi:type="dcterms:W3CDTF">2025-07-14T06:07:46Z</dcterms:modified>
</cp:coreProperties>
</file>