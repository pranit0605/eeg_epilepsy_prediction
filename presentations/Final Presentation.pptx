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71" r:id="rId9"/>
    <p:sldId id="269" r:id="rId10"/>
    <p:sldId id="27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9D1D-F0FD-4105-9412-9E2088974E22}" type="datetimeFigureOut">
              <a:rPr lang="en-IN" smtClean="0"/>
              <a:t>13-07-25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196D37C-A01E-425D-9B5C-9912A3B0D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07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9D1D-F0FD-4105-9412-9E2088974E22}" type="datetimeFigureOut">
              <a:rPr lang="en-IN" smtClean="0"/>
              <a:t>13-07-25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D37C-A01E-425D-9B5C-9912A3B0D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06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6AD9D1D-F0FD-4105-9412-9E2088974E22}" type="datetimeFigureOut">
              <a:rPr lang="en-IN" smtClean="0"/>
              <a:t>13-07-25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196D37C-A01E-425D-9B5C-9912A3B0D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797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9D1D-F0FD-4105-9412-9E2088974E22}" type="datetimeFigureOut">
              <a:rPr lang="en-IN" smtClean="0"/>
              <a:t>13-07-25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D37C-A01E-425D-9B5C-9912A3B0D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69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9D1D-F0FD-4105-9412-9E2088974E22}" type="datetimeFigureOut">
              <a:rPr lang="en-IN" smtClean="0"/>
              <a:t>13-07-25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D37C-A01E-425D-9B5C-9912A3B0D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37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9D1D-F0FD-4105-9412-9E2088974E22}" type="datetimeFigureOut">
              <a:rPr lang="en-IN" smtClean="0"/>
              <a:t>13-07-25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D37C-A01E-425D-9B5C-9912A3B0D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45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9D1D-F0FD-4105-9412-9E2088974E22}" type="datetimeFigureOut">
              <a:rPr lang="en-IN" smtClean="0"/>
              <a:t>13-07-25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D37C-A01E-425D-9B5C-9912A3B0D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43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9D1D-F0FD-4105-9412-9E2088974E22}" type="datetimeFigureOut">
              <a:rPr lang="en-IN" smtClean="0"/>
              <a:t>13-07-25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D37C-A01E-425D-9B5C-9912A3B0D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647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9D1D-F0FD-4105-9412-9E2088974E22}" type="datetimeFigureOut">
              <a:rPr lang="en-IN" smtClean="0"/>
              <a:t>13-07-25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D37C-A01E-425D-9B5C-9912A3B0D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253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9D1D-F0FD-4105-9412-9E2088974E22}" type="datetimeFigureOut">
              <a:rPr lang="en-IN" smtClean="0"/>
              <a:t>13-07-25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D37C-A01E-425D-9B5C-9912A3B0D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826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D9D1D-F0FD-4105-9412-9E2088974E22}" type="datetimeFigureOut">
              <a:rPr lang="en-IN" smtClean="0"/>
              <a:t>13-07-25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D37C-A01E-425D-9B5C-9912A3B0D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285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6AD9D1D-F0FD-4105-9412-9E2088974E22}" type="datetimeFigureOut">
              <a:rPr lang="en-IN" smtClean="0"/>
              <a:t>13-07-25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196D37C-A01E-425D-9B5C-9912A3B0D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878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tft-visualization.streamlit.app/" TargetMode="External"/><Relationship Id="rId7" Type="http://schemas.openxmlformats.org/officeDocument/2006/relationships/hyperlink" Target="mailto:pranitgore05@gmail.com" TargetMode="External"/><Relationship Id="rId2" Type="http://schemas.openxmlformats.org/officeDocument/2006/relationships/hyperlink" Target="https://fft-visualization.streamlit.app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adityamane1402@gmail.com" TargetMode="External"/><Relationship Id="rId5" Type="http://schemas.openxmlformats.org/officeDocument/2006/relationships/hyperlink" Target="https://github.com/PRANIT0605/EEG_Epilepsy_Prediction" TargetMode="External"/><Relationship Id="rId4" Type="http://schemas.openxmlformats.org/officeDocument/2006/relationships/hyperlink" Target="https://seizure-predictor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072BD-B72B-02D0-9CB4-BFCAC4F7EA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Final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0CF59-D651-6FA0-BA97-B80D64DAC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21"/>
            <a:ext cx="7348288" cy="1210401"/>
          </a:xfrm>
        </p:spPr>
        <p:txBody>
          <a:bodyPr>
            <a:normAutofit fontScale="92500" lnSpcReduction="10000"/>
          </a:bodyPr>
          <a:lstStyle/>
          <a:p>
            <a:r>
              <a:rPr lang="en-IN" sz="2600" b="1" dirty="0"/>
              <a:t>By Pranit Gore &amp; Aditya Mane </a:t>
            </a:r>
          </a:p>
          <a:p>
            <a:r>
              <a:rPr lang="en-IN" dirty="0"/>
              <a:t>Team Name: Team Zero Gravity</a:t>
            </a:r>
          </a:p>
          <a:p>
            <a:r>
              <a:rPr lang="en-IN" dirty="0"/>
              <a:t>Team ID: PNC-50</a:t>
            </a:r>
          </a:p>
        </p:txBody>
      </p:sp>
    </p:spTree>
    <p:extLst>
      <p:ext uri="{BB962C8B-B14F-4D97-AF65-F5344CB8AC3E}">
        <p14:creationId xmlns:p14="http://schemas.microsoft.com/office/powerpoint/2010/main" val="4264047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B130-51DE-C3BA-C3C6-45954B0B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Recap of previous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4453A-AE31-305A-17FC-716CC9F99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175668" cy="4102929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The EEG signal was successfully segmented and annotated across five seizure zones: Z (healthy), O (non-seizure outside epileptogenic zone), N (non-seizure from epileptogenic zone), F (pre-seizure), and S (seizure).</a:t>
            </a:r>
          </a:p>
          <a:p>
            <a:r>
              <a:rPr lang="en-IN" dirty="0"/>
              <a:t>Preprocessing was finalized with filtering, normalization, and windowing of signals.</a:t>
            </a:r>
          </a:p>
          <a:p>
            <a:r>
              <a:rPr lang="en-IN" dirty="0"/>
              <a:t>13 statistical and spectral features were extracted from each EEG segment to capture core neural dynamics.</a:t>
            </a:r>
          </a:p>
          <a:p>
            <a:r>
              <a:rPr lang="en-IN" dirty="0"/>
              <a:t>ML models like Random Forest, SVM, Logistic Regression, and XGBoost were trained on binary and multiclass tasks.</a:t>
            </a:r>
          </a:p>
          <a:p>
            <a:r>
              <a:rPr lang="en-IN" dirty="0"/>
              <a:t>A deep learning-based CNN-LSTM hybrid model was designed for richer temporal learning.</a:t>
            </a:r>
          </a:p>
          <a:p>
            <a:r>
              <a:rPr lang="en-IN" dirty="0"/>
              <a:t>Three functional modules were developed in Streamlit for: STFT Visualization, FFT Analysis, and Seizure Prediction.</a:t>
            </a:r>
          </a:p>
        </p:txBody>
      </p:sp>
    </p:spTree>
    <p:extLst>
      <p:ext uri="{BB962C8B-B14F-4D97-AF65-F5344CB8AC3E}">
        <p14:creationId xmlns:p14="http://schemas.microsoft.com/office/powerpoint/2010/main" val="400302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04C01-B8DD-8768-6E69-5C13EED5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Week 4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29018-8038-3B33-8DAC-52DAB10B1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239836" cy="4251960"/>
          </a:xfrm>
        </p:spPr>
        <p:txBody>
          <a:bodyPr/>
          <a:lstStyle/>
          <a:p>
            <a:r>
              <a:rPr lang="en-US" dirty="0"/>
              <a:t>Finalize all five modeling methods including newly introduced wavelet-based extraction.</a:t>
            </a:r>
          </a:p>
          <a:p>
            <a:r>
              <a:rPr lang="en-US" dirty="0"/>
              <a:t>Execute 9 comparative modeling experiments across binary and multiclass setups.</a:t>
            </a:r>
          </a:p>
          <a:p>
            <a:r>
              <a:rPr lang="en-US" dirty="0"/>
              <a:t>Evaluate each model using 8 robust performance metrics like Accuracy, F1 Score, MCC, and AUC–ROC.</a:t>
            </a:r>
          </a:p>
          <a:p>
            <a:r>
              <a:rPr lang="en-US" dirty="0"/>
              <a:t>Integrate all results into an interactive Power BI dashboard tailored for neurologists.</a:t>
            </a:r>
          </a:p>
          <a:p>
            <a:r>
              <a:rPr lang="en-US" dirty="0"/>
              <a:t>Finalize the internship report, research paper draft, and set the direction for deployment.</a:t>
            </a:r>
          </a:p>
        </p:txBody>
      </p:sp>
    </p:spTree>
    <p:extLst>
      <p:ext uri="{BB962C8B-B14F-4D97-AF65-F5344CB8AC3E}">
        <p14:creationId xmlns:p14="http://schemas.microsoft.com/office/powerpoint/2010/main" val="136781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C9E10-B863-18B1-A647-D9B8486D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Modeling methods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EE50B-71D0-6D4F-6DD3-C05A7F399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342" y="2093976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slide explains the five methods implemented for seizure detection:</a:t>
            </a:r>
          </a:p>
          <a:p>
            <a:r>
              <a:rPr lang="en-US" dirty="0"/>
              <a:t>Classical ML models including RF, SVM, Logistic Regression, KNN, </a:t>
            </a:r>
            <a:r>
              <a:rPr lang="en-US" dirty="0" err="1"/>
              <a:t>XGBoost</a:t>
            </a:r>
            <a:r>
              <a:rPr lang="en-US" dirty="0"/>
              <a:t>.</a:t>
            </a:r>
          </a:p>
          <a:p>
            <a:r>
              <a:rPr lang="en-US" dirty="0"/>
              <a:t>Deep learning using CNN and Bi-LSTM for feature extraction and sequence learning.</a:t>
            </a:r>
          </a:p>
          <a:p>
            <a:r>
              <a:rPr lang="en-US" dirty="0"/>
              <a:t>A hybrid CNN–LSTM–Random Forest model that merges learned features with ensemble prediction.</a:t>
            </a:r>
          </a:p>
          <a:p>
            <a:r>
              <a:rPr lang="en-US" dirty="0"/>
              <a:t>A new wavelet-based method that extracts time-frequency signal characteristics using Lyapunov Exponent features and STFT metrics. All models were trained using 12 features and evaluated across 9 different binary configurations. Wavelet Lyapunov experiments were specifically conducted for Z vs O vs N vs F vs S, F vs Others, and S vs Others setups, contributing significantly to early detection of pre-ictal and ictal patterns.</a:t>
            </a:r>
          </a:p>
        </p:txBody>
      </p:sp>
    </p:spTree>
    <p:extLst>
      <p:ext uri="{BB962C8B-B14F-4D97-AF65-F5344CB8AC3E}">
        <p14:creationId xmlns:p14="http://schemas.microsoft.com/office/powerpoint/2010/main" val="155672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A67E-7C6C-4F41-9ACE-1192E258C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Comparative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D3C45-94A1-1401-626A-2CF6844A4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conducted the following 9 experiments using Bonn Dataset:</a:t>
            </a:r>
          </a:p>
          <a:p>
            <a:pPr lvl="1"/>
            <a:r>
              <a:rPr lang="en-IN" dirty="0"/>
              <a:t>Z vs S</a:t>
            </a:r>
          </a:p>
          <a:p>
            <a:pPr lvl="1"/>
            <a:r>
              <a:rPr lang="en-IN" dirty="0"/>
              <a:t>ZO vs S</a:t>
            </a:r>
          </a:p>
          <a:p>
            <a:pPr lvl="1"/>
            <a:r>
              <a:rPr lang="en-IN" dirty="0"/>
              <a:t>N vs All, O vs All, F vs All, S vs All, Z vs All</a:t>
            </a:r>
          </a:p>
          <a:p>
            <a:pPr lvl="1"/>
            <a:r>
              <a:rPr lang="en-IN" dirty="0"/>
              <a:t>ZO vs NF vs S</a:t>
            </a:r>
          </a:p>
          <a:p>
            <a:r>
              <a:rPr lang="en-IN" dirty="0"/>
              <a:t>Multiclass Classification (Z, O, N, F, S) Each model was evaluated using 8 metrics: Accuracy, Precision, Recall, F1 Score, AUC–ROC, MCC, Cohen's Kappa, and Specificity. Additional wavelet-based experiments focused on key configurations such as F vs Others and S vs Others, which showed improved sensitivity in seizure-relevant zones. The multiclass Wavelet Lyapunov model helped visualize inter-zone transitions. The best model was later integrated into Power BI.</a:t>
            </a:r>
          </a:p>
          <a:p>
            <a:pPr marL="27432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720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3FD6-7779-EB98-3F68-3AB38D2DE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Wavelet Lyapunov output f vs others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07855F-FE5E-995D-FB8E-F40B91740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5779" y="2828176"/>
            <a:ext cx="9586791" cy="2636748"/>
          </a:xfrm>
        </p:spPr>
      </p:pic>
    </p:spTree>
    <p:extLst>
      <p:ext uri="{BB962C8B-B14F-4D97-AF65-F5344CB8AC3E}">
        <p14:creationId xmlns:p14="http://schemas.microsoft.com/office/powerpoint/2010/main" val="1828953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EFC9-F08D-E4D8-C2F1-2718343A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Wavelet Lyapunov output s vs others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572C9A-5195-8EAD-69D6-58D57A8E9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572" y="2732917"/>
            <a:ext cx="9297206" cy="2827265"/>
          </a:xfrm>
        </p:spPr>
      </p:pic>
    </p:spTree>
    <p:extLst>
      <p:ext uri="{BB962C8B-B14F-4D97-AF65-F5344CB8AC3E}">
        <p14:creationId xmlns:p14="http://schemas.microsoft.com/office/powerpoint/2010/main" val="138818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B4E8-92CE-1F69-944F-F029E020A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Wavelet Lyapunov output </a:t>
            </a:r>
            <a:br>
              <a:rPr lang="en-IN" dirty="0"/>
            </a:br>
            <a:r>
              <a:rPr lang="en-IN" dirty="0"/>
              <a:t>z vs o vs n vs f vs 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167333-968D-134E-E465-C67A1156F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1079" y="2713678"/>
            <a:ext cx="10549841" cy="3027796"/>
          </a:xfrm>
        </p:spPr>
      </p:pic>
    </p:spTree>
    <p:extLst>
      <p:ext uri="{BB962C8B-B14F-4D97-AF65-F5344CB8AC3E}">
        <p14:creationId xmlns:p14="http://schemas.microsoft.com/office/powerpoint/2010/main" val="89049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25770-9B76-DF3E-97D1-F08F15416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model outputs (1/2)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B9A55F-2C50-82FD-971A-542F7E8DB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225" y="2165350"/>
            <a:ext cx="9867900" cy="3962400"/>
          </a:xfrm>
        </p:spPr>
      </p:pic>
    </p:spTree>
    <p:extLst>
      <p:ext uri="{BB962C8B-B14F-4D97-AF65-F5344CB8AC3E}">
        <p14:creationId xmlns:p14="http://schemas.microsoft.com/office/powerpoint/2010/main" val="1751119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5AF1-31BE-7ACD-6E90-3A2BCD8B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model outputs (2/2)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9488D9-803C-E479-1996-CC35AD22C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161" y="2120899"/>
            <a:ext cx="8519160" cy="4338909"/>
          </a:xfrm>
        </p:spPr>
      </p:pic>
    </p:spTree>
    <p:extLst>
      <p:ext uri="{BB962C8B-B14F-4D97-AF65-F5344CB8AC3E}">
        <p14:creationId xmlns:p14="http://schemas.microsoft.com/office/powerpoint/2010/main" val="351405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4BCD-D4C0-FFC3-0DB9-138C43E4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Streamlit application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16C94-0494-D667-6EE2-1A6D49734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Three independent modules were deployed:</a:t>
            </a:r>
          </a:p>
          <a:p>
            <a:r>
              <a:rPr lang="en-IN" u="sng" dirty="0"/>
              <a:t>STFT Visualizer </a:t>
            </a:r>
            <a:r>
              <a:rPr lang="en-IN" dirty="0"/>
              <a:t>allows uploading of CSV EEG files and comparing STFT plots across channels and patients.</a:t>
            </a:r>
          </a:p>
          <a:p>
            <a:r>
              <a:rPr lang="en-IN" u="sng" dirty="0"/>
              <a:t>FFT Visualizer </a:t>
            </a:r>
            <a:r>
              <a:rPr lang="en-IN" dirty="0"/>
              <a:t>plots the amplitude–frequency spectrum of two selected channels, highlights peak frequency and dominant band.</a:t>
            </a:r>
          </a:p>
          <a:p>
            <a:r>
              <a:rPr lang="en-IN" u="sng" dirty="0"/>
              <a:t>Seizure Predictor </a:t>
            </a:r>
            <a:r>
              <a:rPr lang="en-IN" dirty="0"/>
              <a:t>lets users upload processed EEG segments, select zone-wise models (Z vs S, ZO vs S), and visualize results including STFT, FFT, band power plots, and prediction confidence. Each app is modular, fast, and user-friendly.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185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DBF3-8DCE-2E3A-0DF4-2769CE47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dashboard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D024A-4751-4FC0-0D03-653E718EC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separate Power BI dashboard was created for clinical usage.</a:t>
            </a:r>
          </a:p>
          <a:p>
            <a:r>
              <a:rPr lang="en-IN" dirty="0"/>
              <a:t>It contains three tabs: STFT Tab, FFT &amp; Frequency Tab, Seizure Class Summary Tab.</a:t>
            </a:r>
          </a:p>
          <a:p>
            <a:r>
              <a:rPr lang="en-IN" dirty="0"/>
              <a:t>Users can select channels, view prediction scores, explore dominant bands, or examine band power distribution.</a:t>
            </a:r>
          </a:p>
          <a:p>
            <a:r>
              <a:rPr lang="en-IN" dirty="0"/>
              <a:t>All 9 experiment results and model performance </a:t>
            </a:r>
            <a:r>
              <a:rPr lang="en-US" dirty="0"/>
              <a:t>metrics are visualized using cards, charts, and tables.</a:t>
            </a:r>
          </a:p>
          <a:p>
            <a:r>
              <a:rPr lang="en-US" dirty="0"/>
              <a:t>Designed to support neurologists in interpreting EEG-based predictions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0795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C8FF-FCC8-4932-AAEE-E9862651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Innovations and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AF4D8-C420-C237-2A67-92C3DF259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expanded modeling to five techniques and validated them across nine configurations.</a:t>
            </a:r>
          </a:p>
          <a:p>
            <a:r>
              <a:rPr lang="en-US" dirty="0"/>
              <a:t>Introduced a clean interface for seizure detection via Streamlit and a clinical analytics dashboard using Power BI.</a:t>
            </a:r>
          </a:p>
          <a:p>
            <a:r>
              <a:rPr lang="en-US" dirty="0"/>
              <a:t>Added early seizure detection analysis using zone-wise risk profiling.</a:t>
            </a:r>
          </a:p>
          <a:p>
            <a:r>
              <a:rPr lang="en-US" dirty="0"/>
              <a:t>Integrated 13 handcrafted features with spectral analysis (FFT, STFT, Wavelets).</a:t>
            </a:r>
          </a:p>
          <a:p>
            <a:r>
              <a:rPr lang="en-US" dirty="0"/>
              <a:t>Achieved 95%+ performance in binary classifications like Z vs S and ZO vs S with strong generalization.</a:t>
            </a:r>
          </a:p>
          <a:p>
            <a:r>
              <a:rPr lang="en-US" dirty="0"/>
              <a:t>Leveraged wavelet transform-based Lyapunov features to improve sensitivity in pre-seizure (F) and seizure (S) states.</a:t>
            </a:r>
          </a:p>
          <a:p>
            <a:r>
              <a:rPr lang="en-US" dirty="0"/>
              <a:t>Included comparative heatmap-style tables across models to assist medical researchers in benchmarking model robustness.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445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1E583-7440-EA24-7772-5784E6B3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CF9DF-2961-7CCF-FE99-5B4F504E2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Finalize research paper and submit to IEEE Scopus-indexed journal post-wavelet results.</a:t>
            </a:r>
          </a:p>
          <a:p>
            <a:r>
              <a:rPr lang="en-IN" dirty="0"/>
              <a:t>Integrate patient-wise correlation heatmaps and syndrome-specific filtering.</a:t>
            </a:r>
          </a:p>
          <a:p>
            <a:r>
              <a:rPr lang="en-IN" dirty="0"/>
              <a:t>Add temporal tracking of predictions for pre-seizure zone flagging.</a:t>
            </a:r>
          </a:p>
          <a:p>
            <a:r>
              <a:rPr lang="en-IN" dirty="0"/>
              <a:t>Consult neurologists to evaluate clinical usability and minimize false positives.</a:t>
            </a:r>
          </a:p>
          <a:p>
            <a:r>
              <a:rPr lang="en-IN" dirty="0"/>
              <a:t>Prepare for live demo at PuneCon 2025 and initiate pilot deployment for hospitals.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144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8F837-D5AE-852F-0E33-19E43C96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A62BF-FFCA-20EF-2527-395D688CD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We sincerely thank:</a:t>
            </a:r>
          </a:p>
          <a:p>
            <a:r>
              <a:rPr lang="en-IN" dirty="0"/>
              <a:t>Dr T. </a:t>
            </a:r>
            <a:r>
              <a:rPr lang="en-IN" dirty="0" err="1"/>
              <a:t>Mangayarkarasi</a:t>
            </a:r>
            <a:r>
              <a:rPr lang="en-IN" dirty="0"/>
              <a:t> for mentorship and guidance.</a:t>
            </a:r>
          </a:p>
          <a:p>
            <a:r>
              <a:rPr lang="en-IN" dirty="0"/>
              <a:t>IEEE EBMS Pune Chapter for organizing this research-</a:t>
            </a:r>
            <a:r>
              <a:rPr lang="en-IN" dirty="0" err="1"/>
              <a:t>oritented</a:t>
            </a:r>
            <a:r>
              <a:rPr lang="en-IN" dirty="0"/>
              <a:t> program.</a:t>
            </a:r>
          </a:p>
          <a:p>
            <a:r>
              <a:rPr lang="en-IN" dirty="0"/>
              <a:t>Our HOD (Dr. Punam </a:t>
            </a:r>
            <a:r>
              <a:rPr lang="en-IN" dirty="0" err="1"/>
              <a:t>Raskar</a:t>
            </a:r>
            <a:r>
              <a:rPr lang="en-IN" dirty="0"/>
              <a:t>) and neurology collaborators for reviewing the system for clinical feedback</a:t>
            </a:r>
          </a:p>
          <a:p>
            <a:r>
              <a:rPr lang="en-IN" dirty="0"/>
              <a:t>Each other, for building this system from scratch and achieving deployment readiness.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278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D3D2-1DF6-5047-0395-FC5C512C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F7FD5-F2A5-EF63-CDC8-CA45E1978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Links for Accessing our system:</a:t>
            </a:r>
          </a:p>
          <a:p>
            <a:r>
              <a:rPr lang="en-IN" dirty="0"/>
              <a:t>Streamlit App:</a:t>
            </a:r>
          </a:p>
          <a:p>
            <a:r>
              <a:rPr lang="en-IN" dirty="0"/>
              <a:t>1. FFT Visualization: </a:t>
            </a:r>
            <a:r>
              <a:rPr lang="en-IN" dirty="0">
                <a:hlinkClick r:id="rId2"/>
              </a:rPr>
              <a:t>https://fft-visualization.streamlit.app/</a:t>
            </a:r>
            <a:endParaRPr lang="en-IN" dirty="0"/>
          </a:p>
          <a:p>
            <a:r>
              <a:rPr lang="en-IN" dirty="0"/>
              <a:t>2. STFT Visualization: </a:t>
            </a:r>
            <a:r>
              <a:rPr lang="en-IN" dirty="0">
                <a:hlinkClick r:id="rId3"/>
              </a:rPr>
              <a:t>https://stft-visualization.streamlit.app/</a:t>
            </a:r>
            <a:endParaRPr lang="en-IN" dirty="0"/>
          </a:p>
          <a:p>
            <a:r>
              <a:rPr lang="en-IN" dirty="0"/>
              <a:t>3. Seizure Predictor: </a:t>
            </a:r>
            <a:r>
              <a:rPr lang="en-IN" dirty="0">
                <a:hlinkClick r:id="rId4"/>
              </a:rPr>
              <a:t>https://seizure-predictor.streamlit.app/</a:t>
            </a:r>
            <a:endParaRPr lang="en-IN" dirty="0"/>
          </a:p>
          <a:p>
            <a:r>
              <a:rPr lang="en-IN" dirty="0" err="1"/>
              <a:t>Github</a:t>
            </a:r>
            <a:r>
              <a:rPr lang="en-IN" dirty="0"/>
              <a:t> Repo: </a:t>
            </a:r>
            <a:r>
              <a:rPr lang="en-IN" dirty="0">
                <a:hlinkClick r:id="rId5"/>
              </a:rPr>
              <a:t>https://github.com/PRANIT0605/EEG_Epilepsy_Prediction</a:t>
            </a:r>
            <a:endParaRPr lang="en-IN" dirty="0"/>
          </a:p>
          <a:p>
            <a:r>
              <a:rPr lang="en-IN" dirty="0"/>
              <a:t>Contact:</a:t>
            </a:r>
          </a:p>
          <a:p>
            <a:pPr lvl="1"/>
            <a:r>
              <a:rPr lang="en-IN" dirty="0"/>
              <a:t>Aditya Mane: </a:t>
            </a:r>
            <a:r>
              <a:rPr lang="en-IN" u="sng" dirty="0">
                <a:hlinkClick r:id="rId6"/>
              </a:rPr>
              <a:t>adityamane1402@gmail.com</a:t>
            </a:r>
            <a:endParaRPr lang="en-IN" u="sng" dirty="0"/>
          </a:p>
          <a:p>
            <a:pPr lvl="1"/>
            <a:r>
              <a:rPr lang="en-IN" dirty="0"/>
              <a:t>Pranit Gore: </a:t>
            </a:r>
            <a:r>
              <a:rPr lang="en-IN" u="sng" dirty="0">
                <a:hlinkClick r:id="rId7"/>
              </a:rPr>
              <a:t>pranitgore05@gmail.com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5356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315</TotalTime>
  <Words>996</Words>
  <Application>Microsoft Office PowerPoint</Application>
  <PresentationFormat>Widescreen</PresentationFormat>
  <Paragraphs>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Rockwell</vt:lpstr>
      <vt:lpstr>Rockwell Condensed</vt:lpstr>
      <vt:lpstr>Wingdings</vt:lpstr>
      <vt:lpstr>Wood Type</vt:lpstr>
      <vt:lpstr>Final presentation</vt:lpstr>
      <vt:lpstr>Recap of previous week</vt:lpstr>
      <vt:lpstr>Week 4 objectives</vt:lpstr>
      <vt:lpstr>Modeling methods summary</vt:lpstr>
      <vt:lpstr>Comparative experiments</vt:lpstr>
      <vt:lpstr>Wavelet Lyapunov output f vs others</vt:lpstr>
      <vt:lpstr>Wavelet Lyapunov output s vs others</vt:lpstr>
      <vt:lpstr>Wavelet Lyapunov output  z vs o vs n vs f vs s</vt:lpstr>
      <vt:lpstr>Comparison model outputs (1/2)</vt:lpstr>
      <vt:lpstr>Comparison model outputs (2/2)</vt:lpstr>
      <vt:lpstr>Streamlit application interface</vt:lpstr>
      <vt:lpstr>Power bi dashboard integration</vt:lpstr>
      <vt:lpstr>Innovations and highlights</vt:lpstr>
      <vt:lpstr>Future roadmap</vt:lpstr>
      <vt:lpstr>acknowledgements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Pranit Gore</dc:creator>
  <cp:lastModifiedBy>Pranit Gore</cp:lastModifiedBy>
  <cp:revision>4</cp:revision>
  <dcterms:created xsi:type="dcterms:W3CDTF">2025-07-13T11:55:23Z</dcterms:created>
  <dcterms:modified xsi:type="dcterms:W3CDTF">2025-07-13T17:11:22Z</dcterms:modified>
</cp:coreProperties>
</file>